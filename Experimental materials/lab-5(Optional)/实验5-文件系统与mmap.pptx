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15"/>
  </p:handoutMasterIdLst>
  <p:sldIdLst>
    <p:sldId id="522" r:id="rId4"/>
    <p:sldId id="527" r:id="rId6"/>
    <p:sldId id="791" r:id="rId7"/>
    <p:sldId id="792" r:id="rId8"/>
    <p:sldId id="793" r:id="rId9"/>
    <p:sldId id="797" r:id="rId10"/>
    <p:sldId id="794" r:id="rId11"/>
    <p:sldId id="795" r:id="rId12"/>
    <p:sldId id="796" r:id="rId13"/>
    <p:sldId id="478" r:id="rId14"/>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FBAC4761-0095-4685-B9DA-229890EFEBB0}">
          <p14:sldIdLst>
            <p14:sldId id="522"/>
            <p14:sldId id="527"/>
            <p14:sldId id="791"/>
            <p14:sldId id="792"/>
            <p14:sldId id="793"/>
            <p14:sldId id="797"/>
            <p14:sldId id="794"/>
            <p14:sldId id="795"/>
            <p14:sldId id="796"/>
            <p14:sldId id="47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E7A"/>
    <a:srgbClr val="990000"/>
    <a:srgbClr val="9F1010"/>
    <a:srgbClr val="A96D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08" autoAdjust="0"/>
    <p:restoredTop sz="96331" autoAdjust="0"/>
  </p:normalViewPr>
  <p:slideViewPr>
    <p:cSldViewPr snapToGrid="0">
      <p:cViewPr varScale="1">
        <p:scale>
          <a:sx n="117" d="100"/>
          <a:sy n="117" d="100"/>
        </p:scale>
        <p:origin x="132" y="15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gs" Target="tags/tag2.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F644E5-6B83-484E-B06E-5269D044D46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45C01-8370-4DA3-8DA5-A0AE7AECFD7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编号占位符 6"/>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marL="742950" indent="-28575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marL="11430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marL="16002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marL="20574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fld id="{DF76A47F-F381-4BF3-83E2-34D85D44A2FE}" type="slidenum">
              <a:rPr lang="zh-CN" altLang="en-US"/>
            </a:fld>
            <a:endParaRPr lang="zh-CN" altLang="en-US"/>
          </a:p>
        </p:txBody>
      </p:sp>
      <p:sp>
        <p:nvSpPr>
          <p:cNvPr id="7171" name="幻灯片图像占位符 1"/>
          <p:cNvSpPr>
            <a:spLocks noGrp="1" noRot="1" noChangeAspect="1" noTextEdit="1"/>
          </p:cNvSpPr>
          <p:nvPr>
            <p:ph type="sldImg"/>
          </p:nvPr>
        </p:nvSpPr>
        <p:spPr>
          <a:noFill/>
        </p:spPr>
      </p:sp>
      <p:sp>
        <p:nvSpPr>
          <p:cNvPr id="717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7173" name="幻灯片编号占位符 3"/>
          <p:cNvSpPr>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1pPr>
            <a:lvl2pPr marL="742950" indent="-28575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2pPr>
            <a:lvl3pPr marL="11430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3pPr>
            <a:lvl4pPr marL="16002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4pPr>
            <a:lvl5pPr marL="20574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5pPr>
            <a:lvl6pPr marL="25146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6pPr>
            <a:lvl7pPr marL="29718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7pPr>
            <a:lvl8pPr marL="34290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8pPr>
            <a:lvl9pPr marL="38862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9pPr>
          </a:lstStyle>
          <a:p>
            <a:pPr algn="r" eaLnBrk="1" hangingPunct="1">
              <a:spcBef>
                <a:spcPct val="0"/>
              </a:spcBef>
            </a:pPr>
            <a:fld id="{814E5873-95F7-4515-96EC-B7B5D7E1AB66}" type="slidenum">
              <a:rPr lang="zh-CN" altLang="en-US">
                <a:sym typeface="宋体" panose="02010600030101010101" pitchFamily="2" charset="-122"/>
              </a:rPr>
            </a:fld>
            <a:endParaRPr lang="zh-CN" altLang="en-US">
              <a:sym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编号占位符 6"/>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marL="742950" indent="-28575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marL="11430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marL="16002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marL="20574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fld id="{DF76A47F-F381-4BF3-83E2-34D85D44A2FE}" type="slidenum">
              <a:rPr lang="zh-CN" altLang="en-US"/>
            </a:fld>
            <a:endParaRPr lang="zh-CN" altLang="en-US"/>
          </a:p>
        </p:txBody>
      </p:sp>
      <p:sp>
        <p:nvSpPr>
          <p:cNvPr id="7171" name="幻灯片图像占位符 1"/>
          <p:cNvSpPr>
            <a:spLocks noGrp="1" noRot="1" noChangeAspect="1" noTextEdit="1"/>
          </p:cNvSpPr>
          <p:nvPr>
            <p:ph type="sldImg"/>
          </p:nvPr>
        </p:nvSpPr>
        <p:spPr>
          <a:noFill/>
        </p:spPr>
      </p:sp>
      <p:sp>
        <p:nvSpPr>
          <p:cNvPr id="717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7173" name="幻灯片编号占位符 3"/>
          <p:cNvSpPr>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1pPr>
            <a:lvl2pPr marL="742950" indent="-28575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2pPr>
            <a:lvl3pPr marL="11430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3pPr>
            <a:lvl4pPr marL="16002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4pPr>
            <a:lvl5pPr marL="20574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5pPr>
            <a:lvl6pPr marL="25146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6pPr>
            <a:lvl7pPr marL="29718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7pPr>
            <a:lvl8pPr marL="34290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8pPr>
            <a:lvl9pPr marL="38862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9pPr>
          </a:lstStyle>
          <a:p>
            <a:pPr algn="r" eaLnBrk="1" hangingPunct="1">
              <a:spcBef>
                <a:spcPct val="0"/>
              </a:spcBef>
            </a:pPr>
            <a:fld id="{814E5873-95F7-4515-96EC-B7B5D7E1AB66}" type="slidenum">
              <a:rPr lang="zh-CN" altLang="en-US">
                <a:sym typeface="宋体" panose="02010600030101010101" pitchFamily="2" charset="-122"/>
              </a:rPr>
            </a:fld>
            <a:endParaRPr lang="zh-CN" altLang="en-US">
              <a:sym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492125" y="1125538"/>
            <a:ext cx="5557838" cy="5527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202363" y="1125538"/>
            <a:ext cx="5557837" cy="5527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3975" y="149225"/>
            <a:ext cx="2816225" cy="65039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492125" y="149225"/>
            <a:ext cx="8299450" cy="650398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492125" y="1125538"/>
            <a:ext cx="5557838" cy="5527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202363" y="1125538"/>
            <a:ext cx="5557837" cy="5527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3975" y="149225"/>
            <a:ext cx="2816225" cy="65039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492125" y="149225"/>
            <a:ext cx="8299450" cy="650398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968375" y="149225"/>
            <a:ext cx="83915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en-US" altLang="en-US"/>
          </a:p>
        </p:txBody>
      </p:sp>
      <p:sp>
        <p:nvSpPr>
          <p:cNvPr id="1027" name="Rectangle 10"/>
          <p:cNvSpPr>
            <a:spLocks noGrp="1" noChangeArrowheads="1"/>
          </p:cNvSpPr>
          <p:nvPr>
            <p:ph type="body" idx="1"/>
          </p:nvPr>
        </p:nvSpPr>
        <p:spPr bwMode="auto">
          <a:xfrm>
            <a:off x="492125" y="1125538"/>
            <a:ext cx="11268075"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en-US" altLang="zh-CN"/>
          </a:p>
        </p:txBody>
      </p:sp>
      <p:grpSp>
        <p:nvGrpSpPr>
          <p:cNvPr id="1028" name="Group -1006"/>
          <p:cNvGrpSpPr/>
          <p:nvPr/>
        </p:nvGrpSpPr>
        <p:grpSpPr bwMode="auto">
          <a:xfrm>
            <a:off x="0" y="141288"/>
            <a:ext cx="885825" cy="679450"/>
            <a:chOff x="0" y="142043"/>
            <a:chExt cx="354475" cy="347582"/>
          </a:xfrm>
        </p:grpSpPr>
        <p:sp>
          <p:nvSpPr>
            <p:cNvPr id="1048578" name="矩形 1"/>
            <p:cNvSpPr>
              <a:spLocks noChangeArrowheads="1"/>
            </p:cNvSpPr>
            <p:nvPr/>
          </p:nvSpPr>
          <p:spPr bwMode="auto">
            <a:xfrm>
              <a:off x="0" y="142043"/>
              <a:ext cx="196931" cy="347582"/>
            </a:xfrm>
            <a:prstGeom prst="rect">
              <a:avLst/>
            </a:prstGeom>
            <a:solidFill>
              <a:srgbClr val="003E7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79" name="矩形 1"/>
            <p:cNvSpPr>
              <a:spLocks noChangeArrowheads="1"/>
            </p:cNvSpPr>
            <p:nvPr/>
          </p:nvSpPr>
          <p:spPr bwMode="auto">
            <a:xfrm>
              <a:off x="229964" y="142043"/>
              <a:ext cx="62255"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80" name="矩形 1"/>
            <p:cNvSpPr>
              <a:spLocks noChangeArrowheads="1"/>
            </p:cNvSpPr>
            <p:nvPr/>
          </p:nvSpPr>
          <p:spPr bwMode="auto">
            <a:xfrm>
              <a:off x="325253" y="142043"/>
              <a:ext cx="29222"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grpSp>
      <p:pic>
        <p:nvPicPr>
          <p:cNvPr id="1029" name="图片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06150" y="152400"/>
            <a:ext cx="7508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p:titleStyle>
    <p:body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968375" y="149225"/>
            <a:ext cx="83915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en-US" altLang="en-US"/>
          </a:p>
        </p:txBody>
      </p:sp>
      <p:sp>
        <p:nvSpPr>
          <p:cNvPr id="1027" name="Rectangle 10"/>
          <p:cNvSpPr>
            <a:spLocks noGrp="1" noChangeArrowheads="1"/>
          </p:cNvSpPr>
          <p:nvPr>
            <p:ph type="body" idx="1"/>
          </p:nvPr>
        </p:nvSpPr>
        <p:spPr bwMode="auto">
          <a:xfrm>
            <a:off x="492125" y="1125538"/>
            <a:ext cx="11268075"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en-US" altLang="zh-CN"/>
          </a:p>
        </p:txBody>
      </p:sp>
      <p:grpSp>
        <p:nvGrpSpPr>
          <p:cNvPr id="1028" name="Group -1006"/>
          <p:cNvGrpSpPr/>
          <p:nvPr/>
        </p:nvGrpSpPr>
        <p:grpSpPr bwMode="auto">
          <a:xfrm>
            <a:off x="0" y="141288"/>
            <a:ext cx="885825" cy="679450"/>
            <a:chOff x="0" y="142043"/>
            <a:chExt cx="354475" cy="347582"/>
          </a:xfrm>
        </p:grpSpPr>
        <p:sp>
          <p:nvSpPr>
            <p:cNvPr id="1048578" name="矩形 1"/>
            <p:cNvSpPr>
              <a:spLocks noChangeArrowheads="1"/>
            </p:cNvSpPr>
            <p:nvPr/>
          </p:nvSpPr>
          <p:spPr bwMode="auto">
            <a:xfrm>
              <a:off x="0" y="142043"/>
              <a:ext cx="196931" cy="347582"/>
            </a:xfrm>
            <a:prstGeom prst="rect">
              <a:avLst/>
            </a:prstGeom>
            <a:solidFill>
              <a:srgbClr val="003E7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79" name="矩形 1"/>
            <p:cNvSpPr>
              <a:spLocks noChangeArrowheads="1"/>
            </p:cNvSpPr>
            <p:nvPr/>
          </p:nvSpPr>
          <p:spPr bwMode="auto">
            <a:xfrm>
              <a:off x="229964" y="142043"/>
              <a:ext cx="62255"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80" name="矩形 1"/>
            <p:cNvSpPr>
              <a:spLocks noChangeArrowheads="1"/>
            </p:cNvSpPr>
            <p:nvPr/>
          </p:nvSpPr>
          <p:spPr bwMode="auto">
            <a:xfrm>
              <a:off x="325253" y="142043"/>
              <a:ext cx="29222"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grpSp>
      <p:pic>
        <p:nvPicPr>
          <p:cNvPr id="1029" name="图片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06150" y="152400"/>
            <a:ext cx="7508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p:titleStyle>
    <p:body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矩形 3"/>
          <p:cNvSpPr>
            <a:spLocks noChangeArrowheads="1"/>
          </p:cNvSpPr>
          <p:nvPr/>
        </p:nvSpPr>
        <p:spPr bwMode="auto">
          <a:xfrm>
            <a:off x="-1" y="1869090"/>
            <a:ext cx="12192000" cy="2046288"/>
          </a:xfrm>
          <a:prstGeom prst="rect">
            <a:avLst/>
          </a:prstGeom>
          <a:solidFill>
            <a:srgbClr val="004070">
              <a:alpha val="89803"/>
            </a:srgbClr>
          </a:solidFill>
          <a:ln>
            <a:noFill/>
          </a:ln>
        </p:spPr>
        <p:txBody>
          <a:bodyPr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实验</a:t>
            </a: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5 </a:t>
            </a:r>
            <a:endPar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endParaRPr>
          </a:p>
          <a:p>
            <a:pPr algn="ctr" eaLnBrk="1" hangingPunct="1">
              <a:defRPr/>
            </a:pP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file system and mmap</a:t>
            </a:r>
            <a:endPar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endParaRPr>
          </a:p>
        </p:txBody>
      </p:sp>
      <p:sp>
        <p:nvSpPr>
          <p:cNvPr id="6147" name="标题 2"/>
          <p:cNvSpPr>
            <a:spLocks noGrp="1" noChangeArrowheads="1"/>
          </p:cNvSpPr>
          <p:nvPr>
            <p:ph type="ctrTitle" idx="4294967295"/>
          </p:nvPr>
        </p:nvSpPr>
        <p:spPr>
          <a:xfrm>
            <a:off x="807085" y="0"/>
            <a:ext cx="3253105" cy="933450"/>
          </a:xfrm>
        </p:spPr>
        <p:txBody>
          <a:bodyPr anchor="ctr" anchorCtr="1"/>
          <a:lstStyle/>
          <a:p>
            <a:pPr algn="l" eaLnBrk="1" latinLnBrk="0" hangingPunct="1">
              <a:lnSpc>
                <a:spcPct val="150000"/>
              </a:lnSpc>
            </a:pPr>
            <a:r>
              <a:rPr lang="zh-CN" altLang="en-US" dirty="0">
                <a:latin typeface="Arial" panose="020B0604020202020204" pitchFamily="34" charset="0"/>
                <a:cs typeface="Arial" panose="020B0604020202020204" pitchFamily="34" charset="0"/>
              </a:rPr>
              <a:t>操作系统实验</a:t>
            </a:r>
            <a:endParaRPr lang="zh-CN" altLang="en-US" dirty="0">
              <a:latin typeface="Arial" panose="020B0604020202020204" pitchFamily="34" charset="0"/>
              <a:cs typeface="Arial" panose="020B0604020202020204" pitchFamily="34" charset="0"/>
            </a:endParaRPr>
          </a:p>
        </p:txBody>
      </p:sp>
      <p:graphicFrame>
        <p:nvGraphicFramePr>
          <p:cNvPr id="4" name="Group 8"/>
          <p:cNvGraphicFramePr>
            <a:graphicFrameLocks noGrp="1"/>
          </p:cNvGraphicFramePr>
          <p:nvPr/>
        </p:nvGraphicFramePr>
        <p:xfrm>
          <a:off x="2586036" y="5338561"/>
          <a:ext cx="7019925" cy="816054"/>
        </p:xfrm>
        <a:graphic>
          <a:graphicData uri="http://schemas.openxmlformats.org/drawingml/2006/table">
            <a:tbl>
              <a:tblPr/>
              <a:tblGrid>
                <a:gridCol w="7019925"/>
              </a:tblGrid>
              <a:tr h="580292">
                <a:tc>
                  <a:txBody>
                    <a:bodyPr/>
                    <a:lstStyle>
                      <a:lvl1pPr latinLnBrk="1">
                        <a:lnSpc>
                          <a:spcPct val="110000"/>
                        </a:lnSpc>
                        <a:spcBef>
                          <a:spcPct val="20000"/>
                        </a:spcBef>
                        <a:buClr>
                          <a:srgbClr val="8AC6CD"/>
                        </a:buClr>
                        <a:buSzPct val="120000"/>
                        <a:defRPr sz="2400">
                          <a:solidFill>
                            <a:srgbClr val="000000"/>
                          </a:solidFill>
                          <a:latin typeface="微软雅黑" panose="020B0503020204020204" pitchFamily="34" charset="-122"/>
                          <a:ea typeface="微软雅黑" panose="020B0503020204020204" pitchFamily="34" charset="-122"/>
                        </a:defRPr>
                      </a:lvl1pPr>
                      <a:lvl2pPr latinLnBrk="1">
                        <a:lnSpc>
                          <a:spcPct val="110000"/>
                        </a:lnSpc>
                        <a:spcBef>
                          <a:spcPct val="20000"/>
                        </a:spcBef>
                        <a:buClr>
                          <a:srgbClr val="8AC6CD"/>
                        </a:buClr>
                        <a:buSzPct val="120000"/>
                        <a:defRPr sz="2000">
                          <a:solidFill>
                            <a:srgbClr val="000000"/>
                          </a:solidFill>
                          <a:latin typeface="Calibri" panose="020F0502020204030204" pitchFamily="34" charset="0"/>
                          <a:ea typeface="宋体" panose="02010600030101010101" pitchFamily="2" charset="-122"/>
                        </a:defRPr>
                      </a:lvl2pPr>
                      <a:lvl3pPr latinLnBrk="1">
                        <a:lnSpc>
                          <a:spcPct val="110000"/>
                        </a:lnSpc>
                        <a:spcBef>
                          <a:spcPct val="20000"/>
                        </a:spcBef>
                        <a:buClr>
                          <a:srgbClr val="8AC6CD"/>
                        </a:buClr>
                        <a:buSzPct val="120000"/>
                        <a:defRPr sz="2000">
                          <a:solidFill>
                            <a:srgbClr val="000000"/>
                          </a:solidFill>
                          <a:latin typeface="Calibri" panose="020F0502020204030204" pitchFamily="34" charset="0"/>
                          <a:ea typeface="宋体" panose="02010600030101010101" pitchFamily="2" charset="-122"/>
                        </a:defRPr>
                      </a:lvl3pPr>
                      <a:lvl4pPr latinLnBrk="1">
                        <a:lnSpc>
                          <a:spcPct val="110000"/>
                        </a:lnSpc>
                        <a:spcBef>
                          <a:spcPct val="20000"/>
                        </a:spcBef>
                        <a:buClr>
                          <a:srgbClr val="8AC6CD"/>
                        </a:buClr>
                        <a:buSzPct val="120000"/>
                        <a:defRPr>
                          <a:solidFill>
                            <a:srgbClr val="000000"/>
                          </a:solidFill>
                          <a:latin typeface="Calibri" panose="020F0502020204030204" pitchFamily="34" charset="0"/>
                          <a:ea typeface="宋体" panose="02010600030101010101" pitchFamily="2" charset="-122"/>
                        </a:defRPr>
                      </a:lvl4pPr>
                      <a:lvl5pPr latinLnBrk="1">
                        <a:lnSpc>
                          <a:spcPct val="110000"/>
                        </a:lnSpc>
                        <a:spcBef>
                          <a:spcPct val="20000"/>
                        </a:spcBef>
                        <a:buClr>
                          <a:srgbClr val="8AC6CD"/>
                        </a:buClr>
                        <a:buSzPct val="120000"/>
                        <a:defRPr>
                          <a:solidFill>
                            <a:srgbClr val="000000"/>
                          </a:solidFill>
                          <a:latin typeface="Calibri" panose="020F0502020204030204" pitchFamily="34" charset="0"/>
                          <a:ea typeface="宋体" panose="02010600030101010101" pitchFamily="2" charset="-122"/>
                        </a:defRPr>
                      </a:lvl5pPr>
                      <a:lvl6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6pPr>
                      <a:lvl7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7pPr>
                      <a:lvl8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8pPr>
                      <a:lvl9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en-US" sz="2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宋体" panose="02010600030101010101" pitchFamily="2" charset="-122"/>
                        </a:rPr>
                        <a:t>2025.12.15</a:t>
                      </a:r>
                      <a:endParaRPr kumimoji="0" lang="en-US" altLang="en-US" sz="2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宋体" panose="02010600030101010101" pitchFamily="2" charset="-122"/>
                      </a:endParaRPr>
                    </a:p>
                  </a:txBody>
                  <a:tcPr marL="91459" marR="91459" marT="45664" marB="45664" horzOverflow="overflow">
                    <a:lnL>
                      <a:noFill/>
                    </a:lnL>
                    <a:lnR>
                      <a:noFill/>
                    </a:lnR>
                    <a:lnT>
                      <a:noFill/>
                    </a:lnT>
                    <a:lnB>
                      <a:noFill/>
                    </a:lnB>
                    <a:lnTlToBr>
                      <a:noFill/>
                    </a:lnTlToBr>
                    <a:lnBlToTr>
                      <a:noFill/>
                    </a:lnBlToTr>
                    <a:noFill/>
                  </a:tcPr>
                </a:tc>
              </a:tr>
            </a:tbl>
          </a:graphicData>
        </a:graphic>
      </p:graphicFrame>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187776" y="954797"/>
            <a:ext cx="5788479" cy="688975"/>
          </a:xfrm>
        </p:spPr>
        <p:txBody>
          <a:bodyPr/>
          <a:lstStyle/>
          <a:p>
            <a:pPr>
              <a:lnSpc>
                <a:spcPct val="150000"/>
              </a:lnSpc>
              <a:spcBef>
                <a:spcPts val="500"/>
              </a:spcBef>
              <a:buNone/>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一、背景知识：</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xv6</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的文件系统分层</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标题 2"/>
          <p:cNvSpPr>
            <a:spLocks noGrp="1"/>
          </p:cNvSpPr>
          <p:nvPr>
            <p:ph type="title"/>
          </p:nvPr>
        </p:nvSpPr>
        <p:spPr>
          <a:xfrm>
            <a:off x="968375" y="149225"/>
            <a:ext cx="4240439" cy="688975"/>
          </a:xfrm>
        </p:spPr>
        <p:txBody>
          <a:bodyPr anchor="ctr"/>
          <a:lstStyle/>
          <a:p>
            <a:r>
              <a:rPr lang="zh-CN" altLang="en-US" dirty="0">
                <a:solidFill>
                  <a:srgbClr val="002060"/>
                </a:solidFill>
              </a:rPr>
              <a:t>任务一：</a:t>
            </a:r>
            <a:r>
              <a:rPr lang="en-US" altLang="zh-CN" dirty="0">
                <a:solidFill>
                  <a:srgbClr val="002060"/>
                </a:solidFill>
              </a:rPr>
              <a:t>File System</a:t>
            </a:r>
            <a:endParaRPr lang="zh-CN" altLang="en-US" dirty="0">
              <a:solidFill>
                <a:srgbClr val="002060"/>
              </a:solidFill>
            </a:endParaRPr>
          </a:p>
        </p:txBody>
      </p:sp>
      <p:pic>
        <p:nvPicPr>
          <p:cNvPr id="4" name="图片 3"/>
          <p:cNvPicPr>
            <a:picLocks noChangeAspect="1"/>
          </p:cNvPicPr>
          <p:nvPr/>
        </p:nvPicPr>
        <p:blipFill>
          <a:blip r:embed="rId1"/>
          <a:stretch>
            <a:fillRect/>
          </a:stretch>
        </p:blipFill>
        <p:spPr>
          <a:xfrm>
            <a:off x="1007163" y="1978082"/>
            <a:ext cx="5166041" cy="4602332"/>
          </a:xfrm>
          <a:prstGeom prst="rect">
            <a:avLst/>
          </a:prstGeom>
        </p:spPr>
      </p:pic>
      <p:cxnSp>
        <p:nvCxnSpPr>
          <p:cNvPr id="8" name="直接箭头连接符 7"/>
          <p:cNvCxnSpPr/>
          <p:nvPr/>
        </p:nvCxnSpPr>
        <p:spPr bwMode="auto">
          <a:xfrm>
            <a:off x="5184321" y="2628900"/>
            <a:ext cx="685800"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9" name="文本框 8"/>
          <p:cNvSpPr txBox="1"/>
          <p:nvPr/>
        </p:nvSpPr>
        <p:spPr>
          <a:xfrm>
            <a:off x="5976256" y="2444234"/>
            <a:ext cx="4071023" cy="369332"/>
          </a:xfrm>
          <a:prstGeom prst="rect">
            <a:avLst/>
          </a:prstGeom>
          <a:noFill/>
        </p:spPr>
        <p:txBody>
          <a:bodyPr wrap="square" rtlCol="0">
            <a:spAutoFit/>
          </a:bodyPr>
          <a:lstStyle/>
          <a:p>
            <a:r>
              <a:rPr lang="zh-CN" altLang="en-US" dirty="0"/>
              <a:t>文件描述符层：涉及进程的打开文件表</a:t>
            </a:r>
            <a:endParaRPr lang="zh-CN" altLang="en-US" dirty="0"/>
          </a:p>
        </p:txBody>
      </p:sp>
      <p:cxnSp>
        <p:nvCxnSpPr>
          <p:cNvPr id="10" name="直接箭头连接符 9"/>
          <p:cNvCxnSpPr/>
          <p:nvPr/>
        </p:nvCxnSpPr>
        <p:spPr bwMode="auto">
          <a:xfrm>
            <a:off x="5173435" y="3099707"/>
            <a:ext cx="685800"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11" name="文本框 10"/>
          <p:cNvSpPr txBox="1"/>
          <p:nvPr/>
        </p:nvSpPr>
        <p:spPr>
          <a:xfrm>
            <a:off x="5976256" y="2959213"/>
            <a:ext cx="4363220" cy="369332"/>
          </a:xfrm>
          <a:prstGeom prst="rect">
            <a:avLst/>
          </a:prstGeom>
          <a:noFill/>
        </p:spPr>
        <p:txBody>
          <a:bodyPr wrap="square" rtlCol="0">
            <a:spAutoFit/>
          </a:bodyPr>
          <a:lstStyle/>
          <a:p>
            <a:r>
              <a:rPr lang="zh-CN" altLang="en-US" dirty="0"/>
              <a:t>文件路径层：如</a:t>
            </a:r>
            <a:r>
              <a:rPr lang="en-US" altLang="zh-CN" dirty="0"/>
              <a:t>/user/</a:t>
            </a:r>
            <a:r>
              <a:rPr lang="en-US" altLang="zh-CN" dirty="0" err="1"/>
              <a:t>workdir</a:t>
            </a:r>
            <a:r>
              <a:rPr lang="en-US" altLang="zh-CN" dirty="0"/>
              <a:t>/hello.txt</a:t>
            </a:r>
            <a:endParaRPr lang="zh-CN" altLang="en-US" dirty="0"/>
          </a:p>
        </p:txBody>
      </p:sp>
      <p:sp>
        <p:nvSpPr>
          <p:cNvPr id="12" name="文本框 11"/>
          <p:cNvSpPr txBox="1"/>
          <p:nvPr/>
        </p:nvSpPr>
        <p:spPr>
          <a:xfrm>
            <a:off x="5976256" y="3449699"/>
            <a:ext cx="4363220" cy="369332"/>
          </a:xfrm>
          <a:prstGeom prst="rect">
            <a:avLst/>
          </a:prstGeom>
          <a:noFill/>
        </p:spPr>
        <p:txBody>
          <a:bodyPr wrap="square" rtlCol="0">
            <a:spAutoFit/>
          </a:bodyPr>
          <a:lstStyle/>
          <a:p>
            <a:r>
              <a:rPr lang="zh-CN" altLang="en-US" dirty="0"/>
              <a:t>目录层：目录是一种结构化的文件</a:t>
            </a:r>
            <a:endParaRPr lang="zh-CN" altLang="en-US" dirty="0"/>
          </a:p>
        </p:txBody>
      </p:sp>
      <p:cxnSp>
        <p:nvCxnSpPr>
          <p:cNvPr id="13" name="直接箭头连接符 12"/>
          <p:cNvCxnSpPr/>
          <p:nvPr/>
        </p:nvCxnSpPr>
        <p:spPr bwMode="auto">
          <a:xfrm>
            <a:off x="5184321" y="3634365"/>
            <a:ext cx="685800" cy="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14" name="直接箭头连接符 13"/>
          <p:cNvCxnSpPr/>
          <p:nvPr/>
        </p:nvCxnSpPr>
        <p:spPr bwMode="auto">
          <a:xfrm>
            <a:off x="5173435" y="4088843"/>
            <a:ext cx="685800"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15" name="文本框 14"/>
          <p:cNvSpPr txBox="1"/>
          <p:nvPr/>
        </p:nvSpPr>
        <p:spPr>
          <a:xfrm>
            <a:off x="5976256" y="3970972"/>
            <a:ext cx="3886201" cy="369332"/>
          </a:xfrm>
          <a:prstGeom prst="rect">
            <a:avLst/>
          </a:prstGeom>
          <a:noFill/>
        </p:spPr>
        <p:txBody>
          <a:bodyPr wrap="square" rtlCol="0">
            <a:spAutoFit/>
          </a:bodyPr>
          <a:lstStyle/>
          <a:p>
            <a:r>
              <a:rPr lang="zh-CN" altLang="en-US" dirty="0"/>
              <a:t>索引节点层：管理文件的主要元数据</a:t>
            </a:r>
            <a:endParaRPr lang="zh-CN" altLang="en-US" dirty="0"/>
          </a:p>
        </p:txBody>
      </p:sp>
      <p:cxnSp>
        <p:nvCxnSpPr>
          <p:cNvPr id="16" name="直接箭头连接符 15"/>
          <p:cNvCxnSpPr/>
          <p:nvPr/>
        </p:nvCxnSpPr>
        <p:spPr bwMode="auto">
          <a:xfrm>
            <a:off x="5178878" y="4633129"/>
            <a:ext cx="685800"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17" name="文本框 16"/>
          <p:cNvSpPr txBox="1"/>
          <p:nvPr/>
        </p:nvSpPr>
        <p:spPr>
          <a:xfrm>
            <a:off x="5976255" y="4420620"/>
            <a:ext cx="4735287" cy="369332"/>
          </a:xfrm>
          <a:prstGeom prst="rect">
            <a:avLst/>
          </a:prstGeom>
          <a:noFill/>
        </p:spPr>
        <p:txBody>
          <a:bodyPr wrap="square" rtlCol="0">
            <a:spAutoFit/>
          </a:bodyPr>
          <a:lstStyle/>
          <a:p>
            <a:r>
              <a:rPr lang="zh-CN" altLang="en-US" dirty="0"/>
              <a:t>日志层：用于保证磁盘和内存的崩溃一致性</a:t>
            </a:r>
            <a:endParaRPr lang="zh-CN" altLang="en-US" dirty="0"/>
          </a:p>
        </p:txBody>
      </p:sp>
      <p:cxnSp>
        <p:nvCxnSpPr>
          <p:cNvPr id="18" name="直接箭头连接符 17"/>
          <p:cNvCxnSpPr/>
          <p:nvPr/>
        </p:nvCxnSpPr>
        <p:spPr bwMode="auto">
          <a:xfrm>
            <a:off x="5173435" y="5095772"/>
            <a:ext cx="685800"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19" name="文本框 18"/>
          <p:cNvSpPr txBox="1"/>
          <p:nvPr/>
        </p:nvSpPr>
        <p:spPr>
          <a:xfrm>
            <a:off x="5976256" y="4911106"/>
            <a:ext cx="4482194" cy="369332"/>
          </a:xfrm>
          <a:prstGeom prst="rect">
            <a:avLst/>
          </a:prstGeom>
          <a:noFill/>
        </p:spPr>
        <p:txBody>
          <a:bodyPr wrap="square" rtlCol="0">
            <a:spAutoFit/>
          </a:bodyPr>
          <a:lstStyle/>
          <a:p>
            <a:r>
              <a:rPr lang="zh-CN" altLang="en-US" dirty="0"/>
              <a:t>块缓冲层：磁盘里的</a:t>
            </a:r>
            <a:r>
              <a:rPr lang="en-US" altLang="zh-CN" dirty="0"/>
              <a:t>block</a:t>
            </a:r>
            <a:r>
              <a:rPr lang="zh-CN" altLang="en-US" dirty="0"/>
              <a:t>在内存里的缓存</a:t>
            </a:r>
            <a:endParaRPr lang="zh-CN" altLang="en-US" dirty="0"/>
          </a:p>
        </p:txBody>
      </p:sp>
      <p:cxnSp>
        <p:nvCxnSpPr>
          <p:cNvPr id="22" name="直接箭头连接符 21"/>
          <p:cNvCxnSpPr/>
          <p:nvPr/>
        </p:nvCxnSpPr>
        <p:spPr bwMode="auto">
          <a:xfrm>
            <a:off x="5184321" y="5607400"/>
            <a:ext cx="685800"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23" name="文本框 22"/>
          <p:cNvSpPr txBox="1"/>
          <p:nvPr/>
        </p:nvSpPr>
        <p:spPr>
          <a:xfrm>
            <a:off x="5976256" y="5432379"/>
            <a:ext cx="3453493" cy="369332"/>
          </a:xfrm>
          <a:prstGeom prst="rect">
            <a:avLst/>
          </a:prstGeom>
          <a:noFill/>
        </p:spPr>
        <p:txBody>
          <a:bodyPr wrap="square" rtlCol="0">
            <a:spAutoFit/>
          </a:bodyPr>
          <a:lstStyle/>
          <a:p>
            <a:r>
              <a:rPr lang="zh-CN" altLang="en-US" dirty="0"/>
              <a:t>磁盘驱动层：提供磁盘读写接口</a:t>
            </a:r>
            <a:endParaRPr lang="zh-CN" altLang="en-US" dirty="0"/>
          </a:p>
        </p:txBody>
      </p:sp>
      <p:sp>
        <p:nvSpPr>
          <p:cNvPr id="24" name="右大括号 23"/>
          <p:cNvSpPr/>
          <p:nvPr/>
        </p:nvSpPr>
        <p:spPr bwMode="auto">
          <a:xfrm rot="10800000">
            <a:off x="1560384" y="3033558"/>
            <a:ext cx="367392" cy="1201613"/>
          </a:xfrm>
          <a:prstGeom prst="rightBrace">
            <a:avLst>
              <a:gd name="adj1" fmla="val 46111"/>
              <a:gd name="adj2" fmla="val 53381"/>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endParaRPr>
          </a:p>
        </p:txBody>
      </p:sp>
      <p:sp>
        <p:nvSpPr>
          <p:cNvPr id="25" name="文本框 24"/>
          <p:cNvSpPr txBox="1"/>
          <p:nvPr/>
        </p:nvSpPr>
        <p:spPr>
          <a:xfrm>
            <a:off x="899075" y="3396343"/>
            <a:ext cx="660538" cy="369332"/>
          </a:xfrm>
          <a:prstGeom prst="rect">
            <a:avLst/>
          </a:prstGeom>
          <a:noFill/>
        </p:spPr>
        <p:txBody>
          <a:bodyPr wrap="square" rtlCol="0">
            <a:spAutoFit/>
          </a:bodyPr>
          <a:lstStyle/>
          <a:p>
            <a:r>
              <a:rPr lang="en-US" altLang="zh-CN" dirty="0" err="1"/>
              <a:t>fs.c</a:t>
            </a:r>
            <a:endParaRPr lang="zh-CN" altLang="en-US" dirty="0"/>
          </a:p>
        </p:txBody>
      </p:sp>
      <p:sp>
        <p:nvSpPr>
          <p:cNvPr id="26" name="文本框 25"/>
          <p:cNvSpPr txBox="1"/>
          <p:nvPr/>
        </p:nvSpPr>
        <p:spPr>
          <a:xfrm>
            <a:off x="736883" y="2403393"/>
            <a:ext cx="1146726" cy="369332"/>
          </a:xfrm>
          <a:prstGeom prst="rect">
            <a:avLst/>
          </a:prstGeom>
          <a:noFill/>
        </p:spPr>
        <p:txBody>
          <a:bodyPr wrap="square" rtlCol="0">
            <a:spAutoFit/>
          </a:bodyPr>
          <a:lstStyle/>
          <a:p>
            <a:r>
              <a:rPr lang="en-US" altLang="zh-CN" dirty="0" err="1"/>
              <a:t>sysfile.c</a:t>
            </a:r>
            <a:endParaRPr lang="zh-CN" altLang="en-US" dirty="0"/>
          </a:p>
        </p:txBody>
      </p:sp>
      <p:sp>
        <p:nvSpPr>
          <p:cNvPr id="27" name="文本框 26"/>
          <p:cNvSpPr txBox="1"/>
          <p:nvPr/>
        </p:nvSpPr>
        <p:spPr>
          <a:xfrm>
            <a:off x="842847" y="4434294"/>
            <a:ext cx="716766" cy="369332"/>
          </a:xfrm>
          <a:prstGeom prst="rect">
            <a:avLst/>
          </a:prstGeom>
          <a:noFill/>
        </p:spPr>
        <p:txBody>
          <a:bodyPr wrap="square" rtlCol="0">
            <a:spAutoFit/>
          </a:bodyPr>
          <a:lstStyle/>
          <a:p>
            <a:r>
              <a:rPr lang="en-US" altLang="zh-CN" dirty="0" err="1"/>
              <a:t>log.c</a:t>
            </a:r>
            <a:endParaRPr lang="zh-CN" altLang="en-US" dirty="0"/>
          </a:p>
        </p:txBody>
      </p:sp>
      <p:sp>
        <p:nvSpPr>
          <p:cNvPr id="28" name="文本框 27"/>
          <p:cNvSpPr txBox="1"/>
          <p:nvPr/>
        </p:nvSpPr>
        <p:spPr>
          <a:xfrm>
            <a:off x="842847" y="4955960"/>
            <a:ext cx="716766" cy="369332"/>
          </a:xfrm>
          <a:prstGeom prst="rect">
            <a:avLst/>
          </a:prstGeom>
          <a:noFill/>
        </p:spPr>
        <p:txBody>
          <a:bodyPr wrap="square" rtlCol="0">
            <a:spAutoFit/>
          </a:bodyPr>
          <a:lstStyle/>
          <a:p>
            <a:r>
              <a:rPr lang="en-US" altLang="zh-CN" dirty="0" err="1"/>
              <a:t>buf.c</a:t>
            </a:r>
            <a:endParaRPr lang="zh-CN" altLang="en-US" dirty="0"/>
          </a:p>
        </p:txBody>
      </p:sp>
      <p:sp>
        <p:nvSpPr>
          <p:cNvPr id="29" name="文本框 28"/>
          <p:cNvSpPr txBox="1"/>
          <p:nvPr/>
        </p:nvSpPr>
        <p:spPr>
          <a:xfrm>
            <a:off x="479562" y="5443504"/>
            <a:ext cx="1549262" cy="369332"/>
          </a:xfrm>
          <a:prstGeom prst="rect">
            <a:avLst/>
          </a:prstGeom>
          <a:noFill/>
        </p:spPr>
        <p:txBody>
          <a:bodyPr wrap="square" rtlCol="0">
            <a:spAutoFit/>
          </a:bodyPr>
          <a:lstStyle/>
          <a:p>
            <a:r>
              <a:rPr lang="en-US" altLang="zh-CN" dirty="0" err="1"/>
              <a:t>virtio_disk.c</a:t>
            </a:r>
            <a:endParaRPr lang="zh-CN" altLang="en-US" dirty="0"/>
          </a:p>
        </p:txBody>
      </p:sp>
      <p:sp>
        <p:nvSpPr>
          <p:cNvPr id="30" name="文本框 29"/>
          <p:cNvSpPr txBox="1"/>
          <p:nvPr/>
        </p:nvSpPr>
        <p:spPr>
          <a:xfrm>
            <a:off x="5976255" y="6121989"/>
            <a:ext cx="2686050" cy="369332"/>
          </a:xfrm>
          <a:prstGeom prst="rect">
            <a:avLst/>
          </a:prstGeom>
          <a:noFill/>
        </p:spPr>
        <p:txBody>
          <a:bodyPr wrap="square" rtlCol="0">
            <a:spAutoFit/>
          </a:bodyPr>
          <a:lstStyle/>
          <a:p>
            <a:r>
              <a:rPr lang="zh-CN" altLang="en-US" b="1" dirty="0"/>
              <a:t>对应</a:t>
            </a:r>
            <a:r>
              <a:rPr lang="en-US" altLang="zh-CN" b="1" dirty="0"/>
              <a:t>xv6-book</a:t>
            </a:r>
            <a:r>
              <a:rPr lang="zh-CN" altLang="en-US" b="1" dirty="0"/>
              <a:t>第八章</a:t>
            </a:r>
            <a:endParaRPr lang="zh-CN" alt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187776" y="954797"/>
            <a:ext cx="2571753" cy="688975"/>
          </a:xfrm>
        </p:spPr>
        <p:txBody>
          <a:bodyPr/>
          <a:lstStyle/>
          <a:p>
            <a:pPr>
              <a:lnSpc>
                <a:spcPct val="150000"/>
              </a:lnSpc>
              <a:spcBef>
                <a:spcPts val="500"/>
              </a:spcBef>
              <a:buNone/>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二、实验步骤</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标题 2"/>
          <p:cNvSpPr>
            <a:spLocks noGrp="1"/>
          </p:cNvSpPr>
          <p:nvPr>
            <p:ph type="title"/>
          </p:nvPr>
        </p:nvSpPr>
        <p:spPr>
          <a:xfrm>
            <a:off x="968375" y="149225"/>
            <a:ext cx="4240439" cy="688975"/>
          </a:xfrm>
        </p:spPr>
        <p:txBody>
          <a:bodyPr anchor="ctr"/>
          <a:lstStyle/>
          <a:p>
            <a:r>
              <a:rPr lang="zh-CN" altLang="en-US" dirty="0">
                <a:solidFill>
                  <a:srgbClr val="002060"/>
                </a:solidFill>
              </a:rPr>
              <a:t>任务一：</a:t>
            </a:r>
            <a:r>
              <a:rPr lang="en-US" altLang="zh-CN" dirty="0">
                <a:solidFill>
                  <a:srgbClr val="002060"/>
                </a:solidFill>
              </a:rPr>
              <a:t>File System</a:t>
            </a:r>
            <a:endParaRPr lang="zh-CN" altLang="en-US" dirty="0">
              <a:solidFill>
                <a:srgbClr val="002060"/>
              </a:solidFill>
            </a:endParaRPr>
          </a:p>
        </p:txBody>
      </p:sp>
      <p:sp>
        <p:nvSpPr>
          <p:cNvPr id="5" name="文本框 4"/>
          <p:cNvSpPr txBox="1"/>
          <p:nvPr/>
        </p:nvSpPr>
        <p:spPr>
          <a:xfrm>
            <a:off x="187776" y="1856960"/>
            <a:ext cx="10213525" cy="1135054"/>
          </a:xfrm>
          <a:prstGeom prst="rect">
            <a:avLst/>
          </a:prstGeom>
          <a:noFill/>
        </p:spPr>
        <p:txBody>
          <a:bodyPr wrap="square">
            <a:spAutoFit/>
          </a:bodyPr>
          <a:lstStyle/>
          <a:p>
            <a:pPr marL="457200" indent="-457200">
              <a:lnSpc>
                <a:spcPct val="150000"/>
              </a:lnSpc>
              <a:buFont typeface="+mj-lt"/>
              <a:buAutoNum type="arabicPeriod"/>
            </a:pPr>
            <a:r>
              <a:rPr lang="zh-CN" altLang="en-US" sz="2400" b="1" dirty="0">
                <a:latin typeface="+mn-ea"/>
              </a:rPr>
              <a:t>支持更大的文件</a:t>
            </a:r>
            <a:r>
              <a:rPr lang="zh-CN" altLang="en-US" sz="2400" dirty="0">
                <a:latin typeface="+mn-ea"/>
              </a:rPr>
              <a:t>：从（</a:t>
            </a:r>
            <a:r>
              <a:rPr lang="en-US" altLang="zh-CN" sz="2400" dirty="0">
                <a:latin typeface="+mn-ea"/>
              </a:rPr>
              <a:t>12+256</a:t>
            </a:r>
            <a:r>
              <a:rPr lang="zh-CN" altLang="en-US" sz="2400" dirty="0">
                <a:latin typeface="+mn-ea"/>
              </a:rPr>
              <a:t>）</a:t>
            </a:r>
            <a:r>
              <a:rPr lang="en-US" altLang="zh-CN" sz="2400" dirty="0">
                <a:latin typeface="+mn-ea"/>
              </a:rPr>
              <a:t>KB </a:t>
            </a:r>
            <a:r>
              <a:rPr lang="zh-CN" altLang="en-US" sz="2400" dirty="0">
                <a:latin typeface="+mn-ea"/>
              </a:rPr>
              <a:t>提高到（</a:t>
            </a:r>
            <a:r>
              <a:rPr lang="en-US" altLang="zh-CN" sz="2400" dirty="0">
                <a:latin typeface="+mn-ea"/>
              </a:rPr>
              <a:t>11+256+256*256</a:t>
            </a:r>
            <a:r>
              <a:rPr lang="zh-CN" altLang="en-US" sz="2400" dirty="0">
                <a:latin typeface="+mn-ea"/>
              </a:rPr>
              <a:t>）</a:t>
            </a:r>
            <a:r>
              <a:rPr lang="en-US" altLang="zh-CN" sz="2400" dirty="0">
                <a:latin typeface="+mn-ea"/>
              </a:rPr>
              <a:t>KB</a:t>
            </a:r>
            <a:endParaRPr lang="en-US" altLang="zh-CN" sz="2400" dirty="0">
              <a:latin typeface="+mn-ea"/>
            </a:endParaRPr>
          </a:p>
          <a:p>
            <a:pPr marL="457200" indent="-457200">
              <a:lnSpc>
                <a:spcPct val="150000"/>
              </a:lnSpc>
              <a:buFont typeface="+mj-lt"/>
              <a:buAutoNum type="arabicPeriod"/>
            </a:pPr>
            <a:r>
              <a:rPr lang="zh-CN" altLang="en-US" sz="2400" b="1" dirty="0">
                <a:latin typeface="+mn-ea"/>
              </a:rPr>
              <a:t>支持符号链接</a:t>
            </a:r>
            <a:r>
              <a:rPr lang="zh-CN" altLang="en-US" sz="2400" dirty="0">
                <a:latin typeface="+mn-ea"/>
              </a:rPr>
              <a:t>：从只支持硬链接到同时支持软硬链接</a:t>
            </a:r>
            <a:endParaRPr lang="zh-CN" altLang="en-US" sz="2400" dirty="0">
              <a:latin typeface="+mn-ea"/>
            </a:endParaRPr>
          </a:p>
        </p:txBody>
      </p:sp>
      <p:sp>
        <p:nvSpPr>
          <p:cNvPr id="33" name="文本框 32"/>
          <p:cNvSpPr txBox="1"/>
          <p:nvPr/>
        </p:nvSpPr>
        <p:spPr>
          <a:xfrm>
            <a:off x="280305" y="3429000"/>
            <a:ext cx="4465867" cy="1884618"/>
          </a:xfrm>
          <a:prstGeom prst="rect">
            <a:avLst/>
          </a:prstGeom>
          <a:noFill/>
        </p:spPr>
        <p:txBody>
          <a:bodyPr wrap="square" rtlCol="0">
            <a:spAutoFit/>
          </a:bodyPr>
          <a:lstStyle/>
          <a:p>
            <a:pPr>
              <a:lnSpc>
                <a:spcPct val="150000"/>
              </a:lnSpc>
            </a:pPr>
            <a:r>
              <a:rPr lang="zh-CN" altLang="en-US" sz="2000" b="1" dirty="0"/>
              <a:t>第一步主要需要修改的地方：</a:t>
            </a:r>
            <a:endParaRPr lang="en-US" altLang="zh-CN" sz="2000" b="1" dirty="0"/>
          </a:p>
          <a:p>
            <a:pPr marL="342900" indent="-342900">
              <a:lnSpc>
                <a:spcPct val="150000"/>
              </a:lnSpc>
              <a:buAutoNum type="arabicParenBoth"/>
            </a:pPr>
            <a:r>
              <a:rPr lang="en-US" altLang="zh-CN" sz="2000" dirty="0" err="1"/>
              <a:t>bmap</a:t>
            </a:r>
            <a:r>
              <a:rPr lang="en-US" altLang="zh-CN" sz="2000" dirty="0"/>
              <a:t>() </a:t>
            </a:r>
            <a:r>
              <a:rPr lang="zh-CN" altLang="en-US" sz="2000" dirty="0"/>
              <a:t>和</a:t>
            </a:r>
            <a:r>
              <a:rPr lang="en-US" altLang="zh-CN" sz="2000" dirty="0"/>
              <a:t>block</a:t>
            </a:r>
            <a:r>
              <a:rPr lang="zh-CN" altLang="en-US" sz="2000" dirty="0"/>
              <a:t>的定位与申请有关</a:t>
            </a:r>
            <a:endParaRPr lang="en-US" altLang="zh-CN" sz="2000" dirty="0"/>
          </a:p>
          <a:p>
            <a:pPr marL="342900" indent="-342900">
              <a:lnSpc>
                <a:spcPct val="150000"/>
              </a:lnSpc>
              <a:buAutoNum type="arabicParenBoth"/>
            </a:pPr>
            <a:r>
              <a:rPr lang="en-US" altLang="zh-CN" sz="2000" dirty="0" err="1"/>
              <a:t>itrunc</a:t>
            </a:r>
            <a:r>
              <a:rPr lang="en-US" altLang="zh-CN" sz="2000" dirty="0"/>
              <a:t>() </a:t>
            </a:r>
            <a:r>
              <a:rPr lang="zh-CN" altLang="en-US" sz="2000" dirty="0"/>
              <a:t>和</a:t>
            </a:r>
            <a:r>
              <a:rPr lang="en-US" altLang="zh-CN" sz="2000" dirty="0"/>
              <a:t>block</a:t>
            </a:r>
            <a:r>
              <a:rPr lang="zh-CN" altLang="en-US" sz="2000" dirty="0"/>
              <a:t>的释放有关</a:t>
            </a:r>
            <a:endParaRPr lang="en-US" altLang="zh-CN" sz="2000" dirty="0"/>
          </a:p>
          <a:p>
            <a:pPr marL="342900" indent="-342900">
              <a:lnSpc>
                <a:spcPct val="150000"/>
              </a:lnSpc>
              <a:buAutoNum type="arabicParenBoth"/>
            </a:pPr>
            <a:r>
              <a:rPr lang="zh-CN" altLang="en-US" sz="2000" dirty="0"/>
              <a:t>与</a:t>
            </a:r>
            <a:r>
              <a:rPr lang="en-US" altLang="zh-CN" sz="2000" dirty="0"/>
              <a:t>addrs</a:t>
            </a:r>
            <a:r>
              <a:rPr lang="zh-CN" altLang="en-US" sz="2000" dirty="0"/>
              <a:t>字段相关的宏定义</a:t>
            </a:r>
            <a:endParaRPr lang="zh-CN" altLang="en-US" sz="2000" dirty="0"/>
          </a:p>
        </p:txBody>
      </p:sp>
      <p:sp>
        <p:nvSpPr>
          <p:cNvPr id="34" name="文本框 33"/>
          <p:cNvSpPr txBox="1"/>
          <p:nvPr/>
        </p:nvSpPr>
        <p:spPr>
          <a:xfrm>
            <a:off x="5935434" y="3429000"/>
            <a:ext cx="4776109" cy="2346283"/>
          </a:xfrm>
          <a:prstGeom prst="rect">
            <a:avLst/>
          </a:prstGeom>
          <a:noFill/>
        </p:spPr>
        <p:txBody>
          <a:bodyPr wrap="square" rtlCol="0">
            <a:spAutoFit/>
          </a:bodyPr>
          <a:lstStyle/>
          <a:p>
            <a:pPr>
              <a:lnSpc>
                <a:spcPct val="150000"/>
              </a:lnSpc>
            </a:pPr>
            <a:r>
              <a:rPr lang="zh-CN" altLang="en-US" sz="2000" b="1" dirty="0"/>
              <a:t>第二步主要需要修改的地方</a:t>
            </a:r>
            <a:r>
              <a:rPr lang="zh-CN" altLang="en-US" sz="2000" dirty="0"/>
              <a:t>：</a:t>
            </a:r>
            <a:endParaRPr lang="en-US" altLang="zh-CN" sz="2000" dirty="0"/>
          </a:p>
          <a:p>
            <a:pPr marL="342900" indent="-342900">
              <a:lnSpc>
                <a:spcPct val="150000"/>
              </a:lnSpc>
              <a:buAutoNum type="arabicParenBoth"/>
            </a:pPr>
            <a:r>
              <a:rPr lang="en-US" altLang="zh-CN" sz="2000" dirty="0" err="1"/>
              <a:t>sys_open</a:t>
            </a:r>
            <a:r>
              <a:rPr lang="en-US" altLang="zh-CN" sz="2000" dirty="0"/>
              <a:t>() </a:t>
            </a:r>
            <a:r>
              <a:rPr lang="zh-CN" altLang="en-US" sz="2000" dirty="0"/>
              <a:t>如果是打开软链接文件，则实际打开被链接文件</a:t>
            </a:r>
            <a:endParaRPr lang="en-US" altLang="zh-CN" sz="2000" dirty="0"/>
          </a:p>
          <a:p>
            <a:pPr marL="342900" indent="-342900">
              <a:lnSpc>
                <a:spcPct val="150000"/>
              </a:lnSpc>
              <a:buAutoNum type="arabicParenBoth"/>
            </a:pPr>
            <a:r>
              <a:rPr lang="en-US" altLang="zh-CN" sz="2000" dirty="0" err="1"/>
              <a:t>sys_symlink</a:t>
            </a:r>
            <a:r>
              <a:rPr lang="en-US" altLang="zh-CN" sz="2000" dirty="0"/>
              <a:t>() </a:t>
            </a:r>
            <a:r>
              <a:rPr lang="zh-CN" altLang="en-US" sz="2000" dirty="0"/>
              <a:t>用于支持软链接操作</a:t>
            </a:r>
            <a:endParaRPr lang="en-US" altLang="zh-CN" sz="2000" dirty="0"/>
          </a:p>
          <a:p>
            <a:pPr marL="342900" indent="-342900">
              <a:lnSpc>
                <a:spcPct val="150000"/>
              </a:lnSpc>
              <a:buAutoNum type="arabicParenBoth"/>
            </a:pPr>
            <a:r>
              <a:rPr lang="zh-CN" altLang="en-US" sz="2000" dirty="0"/>
              <a:t>宏定义里新增文件类型 </a:t>
            </a:r>
            <a:r>
              <a:rPr lang="en-US" altLang="zh-CN" sz="2000" dirty="0"/>
              <a:t>T_SYMLINK</a:t>
            </a:r>
            <a:endParaRPr lang="en-US" altLang="zh-CN" sz="2000" dirty="0"/>
          </a:p>
        </p:txBody>
      </p:sp>
      <p:sp>
        <p:nvSpPr>
          <p:cNvPr id="36" name="文本框 35"/>
          <p:cNvSpPr txBox="1"/>
          <p:nvPr/>
        </p:nvSpPr>
        <p:spPr>
          <a:xfrm>
            <a:off x="187776" y="6339443"/>
            <a:ext cx="7998281" cy="369332"/>
          </a:xfrm>
          <a:prstGeom prst="rect">
            <a:avLst/>
          </a:prstGeom>
          <a:noFill/>
        </p:spPr>
        <p:txBody>
          <a:bodyPr wrap="square">
            <a:spAutoFit/>
          </a:bodyPr>
          <a:lstStyle/>
          <a:p>
            <a:r>
              <a:rPr lang="zh-CN" altLang="en-US" dirty="0"/>
              <a:t>更多详细资料：https://pdos.csail.mit.edu/6.828/2020/labs/fs.html</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4240439" cy="688975"/>
          </a:xfrm>
        </p:spPr>
        <p:txBody>
          <a:bodyPr anchor="ctr"/>
          <a:lstStyle/>
          <a:p>
            <a:r>
              <a:rPr lang="zh-CN" altLang="en-US" dirty="0">
                <a:solidFill>
                  <a:srgbClr val="002060"/>
                </a:solidFill>
              </a:rPr>
              <a:t>任务一：</a:t>
            </a:r>
            <a:r>
              <a:rPr lang="en-US" altLang="zh-CN" dirty="0">
                <a:solidFill>
                  <a:srgbClr val="002060"/>
                </a:solidFill>
              </a:rPr>
              <a:t>File System</a:t>
            </a:r>
            <a:endParaRPr lang="zh-CN" altLang="en-US" dirty="0">
              <a:solidFill>
                <a:srgbClr val="002060"/>
              </a:solidFill>
            </a:endParaRPr>
          </a:p>
        </p:txBody>
      </p:sp>
      <p:sp>
        <p:nvSpPr>
          <p:cNvPr id="4" name="文本框 3"/>
          <p:cNvSpPr txBox="1"/>
          <p:nvPr/>
        </p:nvSpPr>
        <p:spPr>
          <a:xfrm>
            <a:off x="204106" y="951856"/>
            <a:ext cx="5004708" cy="461665"/>
          </a:xfrm>
          <a:prstGeom prst="rect">
            <a:avLst/>
          </a:prstGeom>
          <a:noFill/>
        </p:spPr>
        <p:txBody>
          <a:bodyPr wrap="square" rtlCol="0">
            <a:spAutoFit/>
          </a:bodyPr>
          <a:lstStyle/>
          <a:p>
            <a:r>
              <a:rPr lang="zh-CN" altLang="en-US" sz="2400" dirty="0"/>
              <a:t>思考一：文件大小受什么因素限制？</a:t>
            </a:r>
            <a:endParaRPr lang="zh-CN" altLang="en-US" sz="2400" dirty="0"/>
          </a:p>
        </p:txBody>
      </p:sp>
      <p:pic>
        <p:nvPicPr>
          <p:cNvPr id="8" name="图片 7"/>
          <p:cNvPicPr>
            <a:picLocks noChangeAspect="1"/>
          </p:cNvPicPr>
          <p:nvPr/>
        </p:nvPicPr>
        <p:blipFill>
          <a:blip r:embed="rId1"/>
          <a:stretch>
            <a:fillRect/>
          </a:stretch>
        </p:blipFill>
        <p:spPr>
          <a:xfrm>
            <a:off x="316128" y="1536119"/>
            <a:ext cx="4722298" cy="3016868"/>
          </a:xfrm>
          <a:prstGeom prst="rect">
            <a:avLst/>
          </a:prstGeom>
        </p:spPr>
      </p:pic>
      <p:sp>
        <p:nvSpPr>
          <p:cNvPr id="9" name="文本框 8"/>
          <p:cNvSpPr txBox="1"/>
          <p:nvPr/>
        </p:nvSpPr>
        <p:spPr>
          <a:xfrm>
            <a:off x="487956" y="4675585"/>
            <a:ext cx="4387562" cy="1884618"/>
          </a:xfrm>
          <a:prstGeom prst="rect">
            <a:avLst/>
          </a:prstGeom>
          <a:noFill/>
        </p:spPr>
        <p:txBody>
          <a:bodyPr wrap="square" rtlCol="0">
            <a:spAutoFit/>
          </a:bodyPr>
          <a:lstStyle/>
          <a:p>
            <a:pPr>
              <a:lnSpc>
                <a:spcPct val="150000"/>
              </a:lnSpc>
            </a:pPr>
            <a:r>
              <a:rPr lang="en-US" altLang="zh-CN" sz="2000" dirty="0"/>
              <a:t>size </a:t>
            </a:r>
            <a:r>
              <a:rPr lang="zh-CN" altLang="en-US" sz="2000" dirty="0"/>
              <a:t>字段可以记录最大</a:t>
            </a:r>
            <a:r>
              <a:rPr lang="en-US" altLang="zh-CN" sz="2000" dirty="0"/>
              <a:t> 2^32 = 4GB</a:t>
            </a:r>
            <a:endParaRPr lang="en-US" altLang="zh-CN" sz="2000" dirty="0"/>
          </a:p>
          <a:p>
            <a:pPr>
              <a:lnSpc>
                <a:spcPct val="150000"/>
              </a:lnSpc>
            </a:pPr>
            <a:r>
              <a:rPr lang="en-US" altLang="zh-CN" sz="2000" dirty="0"/>
              <a:t>addrs </a:t>
            </a:r>
            <a:r>
              <a:rPr lang="zh-CN" altLang="en-US" sz="2000" dirty="0"/>
              <a:t>字段最多管理 </a:t>
            </a:r>
            <a:endParaRPr lang="en-US" altLang="zh-CN" sz="2000" dirty="0"/>
          </a:p>
          <a:p>
            <a:pPr>
              <a:lnSpc>
                <a:spcPct val="150000"/>
              </a:lnSpc>
            </a:pPr>
            <a:r>
              <a:rPr lang="en-US" altLang="zh-CN" sz="2000" dirty="0"/>
              <a:t>(12 + 1024 / 4) * 1024 = 268KB</a:t>
            </a:r>
            <a:endParaRPr lang="en-US" altLang="zh-CN" sz="2000" dirty="0"/>
          </a:p>
          <a:p>
            <a:pPr>
              <a:lnSpc>
                <a:spcPct val="150000"/>
              </a:lnSpc>
            </a:pPr>
            <a:r>
              <a:rPr lang="zh-CN" altLang="en-US" sz="2000" dirty="0"/>
              <a:t>所以是</a:t>
            </a:r>
            <a:r>
              <a:rPr lang="en-US" altLang="zh-CN" sz="2000" dirty="0"/>
              <a:t>addrs</a:t>
            </a:r>
            <a:r>
              <a:rPr lang="zh-CN" altLang="en-US" sz="2000" dirty="0"/>
              <a:t>字段限制了文件大小</a:t>
            </a:r>
            <a:endParaRPr lang="zh-CN" altLang="en-US" sz="2000" dirty="0"/>
          </a:p>
        </p:txBody>
      </p:sp>
      <p:sp>
        <p:nvSpPr>
          <p:cNvPr id="10" name="文本框 9"/>
          <p:cNvSpPr txBox="1"/>
          <p:nvPr/>
        </p:nvSpPr>
        <p:spPr>
          <a:xfrm>
            <a:off x="6090281" y="954423"/>
            <a:ext cx="5211536" cy="461665"/>
          </a:xfrm>
          <a:prstGeom prst="rect">
            <a:avLst/>
          </a:prstGeom>
          <a:noFill/>
        </p:spPr>
        <p:txBody>
          <a:bodyPr wrap="square" rtlCol="0">
            <a:spAutoFit/>
          </a:bodyPr>
          <a:lstStyle/>
          <a:p>
            <a:r>
              <a:rPr lang="zh-CN" altLang="en-US" sz="2400" dirty="0"/>
              <a:t>思考二：如何扩大</a:t>
            </a:r>
            <a:r>
              <a:rPr lang="en-US" altLang="zh-CN" sz="2400" dirty="0"/>
              <a:t>addrs</a:t>
            </a:r>
            <a:r>
              <a:rPr lang="zh-CN" altLang="en-US" sz="2400" dirty="0"/>
              <a:t>管理的范围？</a:t>
            </a:r>
            <a:endParaRPr lang="zh-CN" altLang="en-US" sz="2400" dirty="0"/>
          </a:p>
        </p:txBody>
      </p:sp>
      <p:sp>
        <p:nvSpPr>
          <p:cNvPr id="69" name="矩形 68"/>
          <p:cNvSpPr/>
          <p:nvPr/>
        </p:nvSpPr>
        <p:spPr>
          <a:xfrm>
            <a:off x="6449039" y="1621245"/>
            <a:ext cx="1080655" cy="350979"/>
          </a:xfrm>
          <a:prstGeom prst="rect">
            <a:avLst/>
          </a:prstGeom>
          <a:solidFill>
            <a:srgbClr val="70AD47"/>
          </a:solidFill>
          <a:ln w="12700" cap="flat" cmpd="sng" algn="ctr">
            <a:solidFill>
              <a:srgbClr val="70AD47">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addrs[0]</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0" name="矩形 69"/>
          <p:cNvSpPr/>
          <p:nvPr/>
        </p:nvSpPr>
        <p:spPr>
          <a:xfrm>
            <a:off x="6461504" y="2820319"/>
            <a:ext cx="1080655" cy="350979"/>
          </a:xfrm>
          <a:prstGeom prst="rect">
            <a:avLst/>
          </a:prstGeom>
          <a:solidFill>
            <a:srgbClr val="70AD47"/>
          </a:solidFill>
          <a:ln w="12700" cap="flat" cmpd="sng" algn="ctr">
            <a:solidFill>
              <a:srgbClr val="70AD47">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addrs[10]</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1" name="文本框 70"/>
          <p:cNvSpPr txBox="1"/>
          <p:nvPr/>
        </p:nvSpPr>
        <p:spPr>
          <a:xfrm>
            <a:off x="6772032" y="2329868"/>
            <a:ext cx="553998" cy="440879"/>
          </a:xfrm>
          <a:prstGeom prst="rect">
            <a:avLst/>
          </a:prstGeom>
          <a:noFill/>
        </p:spPr>
        <p:txBody>
          <a:bodyPr vert="eaVert" wrap="square" rtlCol="0">
            <a:spAutoFit/>
          </a:bodyPr>
          <a:lstStyle/>
          <a:p>
            <a:r>
              <a:rPr lang="en-US" altLang="zh-CN" sz="2400" dirty="0">
                <a:solidFill>
                  <a:prstClr val="black"/>
                </a:solidFill>
                <a:latin typeface="等线" panose="02010600030101010101" charset="-122"/>
                <a:ea typeface="等线" panose="02010600030101010101" charset="-122"/>
              </a:rPr>
              <a:t>......</a:t>
            </a:r>
            <a:endParaRPr lang="zh-CN" altLang="en-US" sz="2400" dirty="0">
              <a:solidFill>
                <a:prstClr val="black"/>
              </a:solidFill>
              <a:latin typeface="等线" panose="02010600030101010101" charset="-122"/>
              <a:ea typeface="等线" panose="02010600030101010101" charset="-122"/>
            </a:endParaRPr>
          </a:p>
        </p:txBody>
      </p:sp>
      <p:sp>
        <p:nvSpPr>
          <p:cNvPr id="73" name="矩形 72"/>
          <p:cNvSpPr/>
          <p:nvPr/>
        </p:nvSpPr>
        <p:spPr>
          <a:xfrm>
            <a:off x="6449037" y="3466937"/>
            <a:ext cx="1105590" cy="350979"/>
          </a:xfrm>
          <a:prstGeom prst="rect">
            <a:avLst/>
          </a:prstGeom>
          <a:solidFill>
            <a:srgbClr val="70AD47"/>
          </a:solidFill>
          <a:ln w="12700" cap="flat" cmpd="sng" algn="ctr">
            <a:solidFill>
              <a:srgbClr val="70AD47">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addrs[11]</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4" name="矩形 73"/>
          <p:cNvSpPr/>
          <p:nvPr/>
        </p:nvSpPr>
        <p:spPr>
          <a:xfrm>
            <a:off x="6455611" y="4125928"/>
            <a:ext cx="1080655" cy="350979"/>
          </a:xfrm>
          <a:prstGeom prst="rect">
            <a:avLst/>
          </a:prstGeom>
          <a:solidFill>
            <a:srgbClr val="70AD47"/>
          </a:solidFill>
          <a:ln w="12700" cap="flat" cmpd="sng" algn="ctr">
            <a:solidFill>
              <a:srgbClr val="70AD47">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addrs[12]</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5" name="矩形 74"/>
          <p:cNvSpPr/>
          <p:nvPr/>
        </p:nvSpPr>
        <p:spPr>
          <a:xfrm>
            <a:off x="6449037" y="1959608"/>
            <a:ext cx="1080655" cy="350979"/>
          </a:xfrm>
          <a:prstGeom prst="rect">
            <a:avLst/>
          </a:prstGeom>
          <a:solidFill>
            <a:srgbClr val="70AD47"/>
          </a:solidFill>
          <a:ln w="12700" cap="flat" cmpd="sng" algn="ctr">
            <a:solidFill>
              <a:srgbClr val="70AD47">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addrs[1]</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7" name="矩形 76"/>
          <p:cNvSpPr/>
          <p:nvPr/>
        </p:nvSpPr>
        <p:spPr>
          <a:xfrm>
            <a:off x="7928702" y="1965915"/>
            <a:ext cx="980904" cy="338363"/>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8" name="矩形 77"/>
          <p:cNvSpPr/>
          <p:nvPr/>
        </p:nvSpPr>
        <p:spPr>
          <a:xfrm>
            <a:off x="7928702" y="2820001"/>
            <a:ext cx="980904" cy="338363"/>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9" name="文本框 78"/>
          <p:cNvSpPr txBox="1"/>
          <p:nvPr/>
        </p:nvSpPr>
        <p:spPr>
          <a:xfrm>
            <a:off x="8212905" y="2304278"/>
            <a:ext cx="553998" cy="440879"/>
          </a:xfrm>
          <a:prstGeom prst="rect">
            <a:avLst/>
          </a:prstGeom>
          <a:noFill/>
        </p:spPr>
        <p:txBody>
          <a:bodyPr vert="eaVert" wrap="square" rtlCol="0">
            <a:spAutoFit/>
          </a:bodyPr>
          <a:lstStyle/>
          <a:p>
            <a:r>
              <a:rPr lang="en-US" altLang="zh-CN" sz="2400" dirty="0">
                <a:solidFill>
                  <a:prstClr val="black"/>
                </a:solidFill>
                <a:latin typeface="等线" panose="02010600030101010101" charset="-122"/>
                <a:ea typeface="等线" panose="02010600030101010101" charset="-122"/>
              </a:rPr>
              <a:t>......</a:t>
            </a:r>
            <a:endParaRPr lang="zh-CN" altLang="en-US" sz="2400" dirty="0">
              <a:solidFill>
                <a:prstClr val="black"/>
              </a:solidFill>
              <a:latin typeface="等线" panose="02010600030101010101" charset="-122"/>
              <a:ea typeface="等线" panose="02010600030101010101" charset="-122"/>
            </a:endParaRPr>
          </a:p>
        </p:txBody>
      </p:sp>
      <p:sp>
        <p:nvSpPr>
          <p:cNvPr id="81" name="矩形 80"/>
          <p:cNvSpPr/>
          <p:nvPr/>
        </p:nvSpPr>
        <p:spPr>
          <a:xfrm>
            <a:off x="7941167" y="3460948"/>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index 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2" name="矩形 81"/>
          <p:cNvSpPr/>
          <p:nvPr/>
        </p:nvSpPr>
        <p:spPr>
          <a:xfrm>
            <a:off x="7947749" y="4125928"/>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index 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cxnSp>
        <p:nvCxnSpPr>
          <p:cNvPr id="83" name="直接箭头连接符 82"/>
          <p:cNvCxnSpPr>
            <a:stCxn id="69" idx="3"/>
          </p:cNvCxnSpPr>
          <p:nvPr/>
        </p:nvCxnSpPr>
        <p:spPr>
          <a:xfrm flipV="1">
            <a:off x="7529694" y="1796734"/>
            <a:ext cx="399009" cy="1"/>
          </a:xfrm>
          <a:prstGeom prst="straightConnector1">
            <a:avLst/>
          </a:prstGeom>
          <a:noFill/>
          <a:ln w="19050" cap="flat" cmpd="sng" algn="ctr">
            <a:solidFill>
              <a:sysClr val="windowText" lastClr="000000"/>
            </a:solidFill>
            <a:prstDash val="solid"/>
            <a:miter lim="800000"/>
            <a:tailEnd type="triangle"/>
          </a:ln>
          <a:effectLst/>
        </p:spPr>
      </p:cxnSp>
      <p:cxnSp>
        <p:nvCxnSpPr>
          <p:cNvPr id="84" name="直接箭头连接符 83"/>
          <p:cNvCxnSpPr/>
          <p:nvPr/>
        </p:nvCxnSpPr>
        <p:spPr>
          <a:xfrm flipV="1">
            <a:off x="7542158" y="2138348"/>
            <a:ext cx="399009" cy="1"/>
          </a:xfrm>
          <a:prstGeom prst="straightConnector1">
            <a:avLst/>
          </a:prstGeom>
          <a:noFill/>
          <a:ln w="19050" cap="flat" cmpd="sng" algn="ctr">
            <a:solidFill>
              <a:sysClr val="windowText" lastClr="000000"/>
            </a:solidFill>
            <a:prstDash val="solid"/>
            <a:miter lim="800000"/>
            <a:tailEnd type="triangle"/>
          </a:ln>
          <a:effectLst/>
        </p:spPr>
      </p:cxnSp>
      <p:cxnSp>
        <p:nvCxnSpPr>
          <p:cNvPr id="85" name="直接箭头连接符 84"/>
          <p:cNvCxnSpPr/>
          <p:nvPr/>
        </p:nvCxnSpPr>
        <p:spPr>
          <a:xfrm flipV="1">
            <a:off x="7542158" y="3012597"/>
            <a:ext cx="399009" cy="1"/>
          </a:xfrm>
          <a:prstGeom prst="straightConnector1">
            <a:avLst/>
          </a:prstGeom>
          <a:noFill/>
          <a:ln w="19050" cap="flat" cmpd="sng" algn="ctr">
            <a:solidFill>
              <a:sysClr val="windowText" lastClr="000000"/>
            </a:solidFill>
            <a:prstDash val="solid"/>
            <a:miter lim="800000"/>
            <a:tailEnd type="triangle"/>
          </a:ln>
          <a:effectLst/>
        </p:spPr>
      </p:cxnSp>
      <p:cxnSp>
        <p:nvCxnSpPr>
          <p:cNvPr id="87" name="直接箭头连接符 86"/>
          <p:cNvCxnSpPr/>
          <p:nvPr/>
        </p:nvCxnSpPr>
        <p:spPr>
          <a:xfrm flipV="1">
            <a:off x="7562941" y="3665193"/>
            <a:ext cx="399009" cy="1"/>
          </a:xfrm>
          <a:prstGeom prst="straightConnector1">
            <a:avLst/>
          </a:prstGeom>
          <a:noFill/>
          <a:ln w="19050" cap="flat" cmpd="sng" algn="ctr">
            <a:solidFill>
              <a:sysClr val="windowText" lastClr="000000"/>
            </a:solidFill>
            <a:prstDash val="solid"/>
            <a:miter lim="800000"/>
            <a:tailEnd type="triangle"/>
          </a:ln>
          <a:effectLst/>
        </p:spPr>
      </p:cxnSp>
      <p:cxnSp>
        <p:nvCxnSpPr>
          <p:cNvPr id="88" name="直接箭头连接符 87"/>
          <p:cNvCxnSpPr/>
          <p:nvPr/>
        </p:nvCxnSpPr>
        <p:spPr>
          <a:xfrm flipV="1">
            <a:off x="7548740" y="4311710"/>
            <a:ext cx="399009" cy="1"/>
          </a:xfrm>
          <a:prstGeom prst="straightConnector1">
            <a:avLst/>
          </a:prstGeom>
          <a:noFill/>
          <a:ln w="19050" cap="flat" cmpd="sng" algn="ctr">
            <a:solidFill>
              <a:sysClr val="windowText" lastClr="000000"/>
            </a:solidFill>
            <a:prstDash val="solid"/>
            <a:miter lim="800000"/>
            <a:tailEnd type="triangle"/>
          </a:ln>
          <a:effectLst/>
        </p:spPr>
      </p:cxnSp>
      <p:sp>
        <p:nvSpPr>
          <p:cNvPr id="92" name="矩形 91"/>
          <p:cNvSpPr/>
          <p:nvPr/>
        </p:nvSpPr>
        <p:spPr>
          <a:xfrm>
            <a:off x="10263590" y="2943283"/>
            <a:ext cx="980904" cy="338363"/>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93" name="文本框 92"/>
          <p:cNvSpPr txBox="1"/>
          <p:nvPr/>
        </p:nvSpPr>
        <p:spPr>
          <a:xfrm>
            <a:off x="10515358" y="3355637"/>
            <a:ext cx="553998" cy="440879"/>
          </a:xfrm>
          <a:prstGeom prst="rect">
            <a:avLst/>
          </a:prstGeom>
          <a:noFill/>
        </p:spPr>
        <p:txBody>
          <a:bodyPr vert="eaVert" wrap="square" rtlCol="0">
            <a:spAutoFit/>
          </a:bodyPr>
          <a:lstStyle/>
          <a:p>
            <a:r>
              <a:rPr lang="en-US" altLang="zh-CN" sz="2400" dirty="0">
                <a:solidFill>
                  <a:prstClr val="black"/>
                </a:solidFill>
                <a:latin typeface="等线" panose="02010600030101010101" charset="-122"/>
                <a:ea typeface="等线" panose="02010600030101010101" charset="-122"/>
              </a:rPr>
              <a:t>......</a:t>
            </a:r>
            <a:endParaRPr lang="zh-CN" altLang="en-US" sz="2400" dirty="0">
              <a:solidFill>
                <a:prstClr val="black"/>
              </a:solidFill>
              <a:latin typeface="等线" panose="02010600030101010101" charset="-122"/>
              <a:ea typeface="等线" panose="02010600030101010101" charset="-122"/>
            </a:endParaRPr>
          </a:p>
        </p:txBody>
      </p:sp>
      <p:sp>
        <p:nvSpPr>
          <p:cNvPr id="94" name="矩形 93"/>
          <p:cNvSpPr/>
          <p:nvPr/>
        </p:nvSpPr>
        <p:spPr>
          <a:xfrm>
            <a:off x="10270171" y="3939076"/>
            <a:ext cx="980904" cy="338363"/>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cxnSp>
        <p:nvCxnSpPr>
          <p:cNvPr id="97" name="直接连接符 96"/>
          <p:cNvCxnSpPr>
            <a:endCxn id="92" idx="1"/>
          </p:cNvCxnSpPr>
          <p:nvPr/>
        </p:nvCxnSpPr>
        <p:spPr>
          <a:xfrm flipV="1">
            <a:off x="9315196" y="3112465"/>
            <a:ext cx="948394" cy="354472"/>
          </a:xfrm>
          <a:prstGeom prst="line">
            <a:avLst/>
          </a:prstGeom>
          <a:noFill/>
          <a:ln w="19050" cap="flat" cmpd="sng" algn="ctr">
            <a:solidFill>
              <a:sysClr val="windowText" lastClr="000000"/>
            </a:solidFill>
            <a:prstDash val="solid"/>
            <a:miter lim="800000"/>
          </a:ln>
          <a:effectLst/>
        </p:spPr>
      </p:cxnSp>
      <p:cxnSp>
        <p:nvCxnSpPr>
          <p:cNvPr id="98" name="直接连接符 97"/>
          <p:cNvCxnSpPr>
            <a:endCxn id="94" idx="1"/>
          </p:cNvCxnSpPr>
          <p:nvPr/>
        </p:nvCxnSpPr>
        <p:spPr>
          <a:xfrm>
            <a:off x="9297503" y="3796516"/>
            <a:ext cx="972668" cy="311742"/>
          </a:xfrm>
          <a:prstGeom prst="line">
            <a:avLst/>
          </a:prstGeom>
          <a:noFill/>
          <a:ln w="19050" cap="flat" cmpd="sng" algn="ctr">
            <a:solidFill>
              <a:sysClr val="windowText" lastClr="000000"/>
            </a:solidFill>
            <a:prstDash val="solid"/>
            <a:miter lim="800000"/>
          </a:ln>
          <a:effectLst/>
        </p:spPr>
      </p:cxnSp>
      <p:sp>
        <p:nvSpPr>
          <p:cNvPr id="99" name="矩形 98"/>
          <p:cNvSpPr/>
          <p:nvPr/>
        </p:nvSpPr>
        <p:spPr>
          <a:xfrm>
            <a:off x="6642307" y="5081251"/>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index 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0" name="矩形 99"/>
          <p:cNvSpPr/>
          <p:nvPr/>
        </p:nvSpPr>
        <p:spPr>
          <a:xfrm>
            <a:off x="9273773" y="5081251"/>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index 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1" name="文本框 100"/>
          <p:cNvSpPr txBox="1"/>
          <p:nvPr/>
        </p:nvSpPr>
        <p:spPr>
          <a:xfrm>
            <a:off x="8346391" y="5025440"/>
            <a:ext cx="638512" cy="461665"/>
          </a:xfrm>
          <a:prstGeom prst="rect">
            <a:avLst/>
          </a:prstGeom>
          <a:noFill/>
        </p:spPr>
        <p:txBody>
          <a:bodyPr wrap="square" rtlCol="0">
            <a:spAutoFit/>
          </a:bodyPr>
          <a:lstStyle/>
          <a:p>
            <a:r>
              <a:rPr lang="en-US" altLang="zh-CN" sz="2400" dirty="0">
                <a:solidFill>
                  <a:prstClr val="black"/>
                </a:solidFill>
                <a:latin typeface="等线" panose="02010600030101010101" charset="-122"/>
                <a:ea typeface="等线" panose="02010600030101010101" charset="-122"/>
              </a:rPr>
              <a:t>……</a:t>
            </a:r>
            <a:endParaRPr lang="zh-CN" altLang="en-US" sz="2400" dirty="0">
              <a:solidFill>
                <a:prstClr val="black"/>
              </a:solidFill>
              <a:latin typeface="等线" panose="02010600030101010101" charset="-122"/>
              <a:ea typeface="等线" panose="02010600030101010101" charset="-122"/>
            </a:endParaRPr>
          </a:p>
        </p:txBody>
      </p:sp>
      <p:cxnSp>
        <p:nvCxnSpPr>
          <p:cNvPr id="102" name="直接连接符 101"/>
          <p:cNvCxnSpPr>
            <a:endCxn id="99" idx="0"/>
          </p:cNvCxnSpPr>
          <p:nvPr/>
        </p:nvCxnSpPr>
        <p:spPr>
          <a:xfrm flipH="1">
            <a:off x="7326031" y="4450147"/>
            <a:ext cx="631762" cy="631104"/>
          </a:xfrm>
          <a:prstGeom prst="line">
            <a:avLst/>
          </a:prstGeom>
          <a:noFill/>
          <a:ln w="19050" cap="flat" cmpd="sng" algn="ctr">
            <a:solidFill>
              <a:sysClr val="windowText" lastClr="000000"/>
            </a:solidFill>
            <a:prstDash val="solid"/>
            <a:miter lim="800000"/>
          </a:ln>
          <a:effectLst/>
        </p:spPr>
      </p:cxnSp>
      <p:cxnSp>
        <p:nvCxnSpPr>
          <p:cNvPr id="103" name="直接连接符 102"/>
          <p:cNvCxnSpPr>
            <a:endCxn id="100" idx="0"/>
          </p:cNvCxnSpPr>
          <p:nvPr/>
        </p:nvCxnSpPr>
        <p:spPr>
          <a:xfrm>
            <a:off x="9297503" y="4485413"/>
            <a:ext cx="659994" cy="595838"/>
          </a:xfrm>
          <a:prstGeom prst="line">
            <a:avLst/>
          </a:prstGeom>
          <a:noFill/>
          <a:ln w="19050" cap="flat" cmpd="sng" algn="ctr">
            <a:solidFill>
              <a:sysClr val="windowText" lastClr="000000"/>
            </a:solidFill>
            <a:prstDash val="solid"/>
            <a:miter lim="800000"/>
          </a:ln>
          <a:effectLst/>
        </p:spPr>
      </p:cxnSp>
      <p:sp>
        <p:nvSpPr>
          <p:cNvPr id="105" name="右大括号 104"/>
          <p:cNvSpPr/>
          <p:nvPr/>
        </p:nvSpPr>
        <p:spPr>
          <a:xfrm>
            <a:off x="11302150" y="3135587"/>
            <a:ext cx="273265" cy="865766"/>
          </a:xfrm>
          <a:prstGeom prst="rightBrac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7" name="文本框 106"/>
          <p:cNvSpPr txBox="1"/>
          <p:nvPr/>
        </p:nvSpPr>
        <p:spPr>
          <a:xfrm>
            <a:off x="11633071" y="3352544"/>
            <a:ext cx="558929" cy="369332"/>
          </a:xfrm>
          <a:prstGeom prst="rect">
            <a:avLst/>
          </a:prstGeom>
          <a:noFill/>
        </p:spPr>
        <p:txBody>
          <a:bodyPr wrap="square" rtlCol="0">
            <a:spAutoFit/>
          </a:bodyPr>
          <a:lstStyle/>
          <a:p>
            <a:r>
              <a:rPr lang="en-US" altLang="zh-CN" dirty="0">
                <a:solidFill>
                  <a:prstClr val="black"/>
                </a:solidFill>
                <a:latin typeface="等线" panose="02010600030101010101" charset="-122"/>
                <a:ea typeface="等线" panose="02010600030101010101" charset="-122"/>
              </a:rPr>
              <a:t>256</a:t>
            </a:r>
            <a:endParaRPr lang="zh-CN" altLang="en-US" dirty="0">
              <a:solidFill>
                <a:prstClr val="black"/>
              </a:solidFill>
              <a:latin typeface="等线" panose="02010600030101010101" charset="-122"/>
              <a:ea typeface="等线" panose="02010600030101010101" charset="-122"/>
            </a:endParaRPr>
          </a:p>
        </p:txBody>
      </p:sp>
      <p:sp>
        <p:nvSpPr>
          <p:cNvPr id="108" name="右大括号 107"/>
          <p:cNvSpPr/>
          <p:nvPr/>
        </p:nvSpPr>
        <p:spPr>
          <a:xfrm>
            <a:off x="9036635" y="1722779"/>
            <a:ext cx="273265" cy="1319646"/>
          </a:xfrm>
          <a:prstGeom prst="rightBrac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9" name="文本框 108"/>
          <p:cNvSpPr txBox="1"/>
          <p:nvPr/>
        </p:nvSpPr>
        <p:spPr>
          <a:xfrm>
            <a:off x="9375531" y="2172857"/>
            <a:ext cx="485132" cy="369332"/>
          </a:xfrm>
          <a:prstGeom prst="rect">
            <a:avLst/>
          </a:prstGeom>
          <a:noFill/>
        </p:spPr>
        <p:txBody>
          <a:bodyPr wrap="square" rtlCol="0">
            <a:spAutoFit/>
          </a:bodyPr>
          <a:lstStyle/>
          <a:p>
            <a:r>
              <a:rPr lang="en-US" altLang="zh-CN" dirty="0">
                <a:solidFill>
                  <a:prstClr val="black"/>
                </a:solidFill>
                <a:latin typeface="等线" panose="02010600030101010101" charset="-122"/>
                <a:ea typeface="等线" panose="02010600030101010101" charset="-122"/>
              </a:rPr>
              <a:t>11</a:t>
            </a:r>
            <a:endParaRPr lang="zh-CN" altLang="en-US" dirty="0">
              <a:solidFill>
                <a:prstClr val="black"/>
              </a:solidFill>
              <a:latin typeface="等线" panose="02010600030101010101" charset="-122"/>
              <a:ea typeface="等线" panose="02010600030101010101" charset="-122"/>
            </a:endParaRPr>
          </a:p>
        </p:txBody>
      </p:sp>
      <p:sp>
        <p:nvSpPr>
          <p:cNvPr id="110" name="矩形 109"/>
          <p:cNvSpPr/>
          <p:nvPr/>
        </p:nvSpPr>
        <p:spPr>
          <a:xfrm>
            <a:off x="6074460" y="5804689"/>
            <a:ext cx="980904" cy="338363"/>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1" name="矩形 110"/>
          <p:cNvSpPr/>
          <p:nvPr/>
        </p:nvSpPr>
        <p:spPr>
          <a:xfrm>
            <a:off x="7650568" y="5804689"/>
            <a:ext cx="980904" cy="338363"/>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2" name="文本框 111"/>
          <p:cNvSpPr txBox="1"/>
          <p:nvPr/>
        </p:nvSpPr>
        <p:spPr>
          <a:xfrm>
            <a:off x="7053275" y="5743037"/>
            <a:ext cx="638512" cy="461665"/>
          </a:xfrm>
          <a:prstGeom prst="rect">
            <a:avLst/>
          </a:prstGeom>
          <a:noFill/>
        </p:spPr>
        <p:txBody>
          <a:bodyPr wrap="square" rtlCol="0">
            <a:spAutoFit/>
          </a:bodyPr>
          <a:lstStyle/>
          <a:p>
            <a:r>
              <a:rPr lang="en-US" altLang="zh-CN" sz="2400" dirty="0">
                <a:solidFill>
                  <a:prstClr val="black"/>
                </a:solidFill>
                <a:latin typeface="等线" panose="02010600030101010101" charset="-122"/>
                <a:ea typeface="等线" panose="02010600030101010101" charset="-122"/>
              </a:rPr>
              <a:t>……</a:t>
            </a:r>
            <a:endParaRPr lang="zh-CN" altLang="en-US" sz="2400" dirty="0">
              <a:solidFill>
                <a:prstClr val="black"/>
              </a:solidFill>
              <a:latin typeface="等线" panose="02010600030101010101" charset="-122"/>
              <a:ea typeface="等线" panose="02010600030101010101" charset="-122"/>
            </a:endParaRPr>
          </a:p>
        </p:txBody>
      </p:sp>
      <p:sp>
        <p:nvSpPr>
          <p:cNvPr id="113" name="矩形 112"/>
          <p:cNvSpPr/>
          <p:nvPr/>
        </p:nvSpPr>
        <p:spPr>
          <a:xfrm>
            <a:off x="8871076" y="5804689"/>
            <a:ext cx="980904" cy="338363"/>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4" name="矩形 113"/>
          <p:cNvSpPr/>
          <p:nvPr/>
        </p:nvSpPr>
        <p:spPr>
          <a:xfrm>
            <a:off x="10447184" y="5804689"/>
            <a:ext cx="980904" cy="338363"/>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block</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5" name="文本框 114"/>
          <p:cNvSpPr txBox="1"/>
          <p:nvPr/>
        </p:nvSpPr>
        <p:spPr>
          <a:xfrm>
            <a:off x="9849891" y="5743037"/>
            <a:ext cx="638512" cy="461665"/>
          </a:xfrm>
          <a:prstGeom prst="rect">
            <a:avLst/>
          </a:prstGeom>
          <a:noFill/>
        </p:spPr>
        <p:txBody>
          <a:bodyPr wrap="square" rtlCol="0">
            <a:spAutoFit/>
          </a:bodyPr>
          <a:lstStyle/>
          <a:p>
            <a:r>
              <a:rPr lang="en-US" altLang="zh-CN" sz="2400" dirty="0">
                <a:solidFill>
                  <a:prstClr val="black"/>
                </a:solidFill>
                <a:latin typeface="等线" panose="02010600030101010101" charset="-122"/>
                <a:ea typeface="等线" panose="02010600030101010101" charset="-122"/>
              </a:rPr>
              <a:t>……</a:t>
            </a:r>
            <a:endParaRPr lang="zh-CN" altLang="en-US" sz="2400" dirty="0">
              <a:solidFill>
                <a:prstClr val="black"/>
              </a:solidFill>
              <a:latin typeface="等线" panose="02010600030101010101" charset="-122"/>
              <a:ea typeface="等线" panose="02010600030101010101" charset="-122"/>
            </a:endParaRPr>
          </a:p>
        </p:txBody>
      </p:sp>
      <p:sp>
        <p:nvSpPr>
          <p:cNvPr id="116" name="右大括号 115"/>
          <p:cNvSpPr/>
          <p:nvPr/>
        </p:nvSpPr>
        <p:spPr>
          <a:xfrm rot="5400000">
            <a:off x="7216988" y="5748921"/>
            <a:ext cx="253258" cy="1170171"/>
          </a:xfrm>
          <a:prstGeom prst="rightBrac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7" name="右大括号 116"/>
          <p:cNvSpPr/>
          <p:nvPr/>
        </p:nvSpPr>
        <p:spPr>
          <a:xfrm rot="5400000">
            <a:off x="10076554" y="5776953"/>
            <a:ext cx="253258" cy="1170171"/>
          </a:xfrm>
          <a:prstGeom prst="rightBrac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8" name="文本框 117"/>
          <p:cNvSpPr txBox="1"/>
          <p:nvPr/>
        </p:nvSpPr>
        <p:spPr>
          <a:xfrm>
            <a:off x="7050565" y="6488668"/>
            <a:ext cx="672810" cy="369332"/>
          </a:xfrm>
          <a:prstGeom prst="rect">
            <a:avLst/>
          </a:prstGeom>
          <a:noFill/>
        </p:spPr>
        <p:txBody>
          <a:bodyPr wrap="square" rtlCol="0">
            <a:spAutoFit/>
          </a:bodyPr>
          <a:lstStyle/>
          <a:p>
            <a:r>
              <a:rPr lang="en-US" altLang="zh-CN" dirty="0">
                <a:solidFill>
                  <a:prstClr val="black"/>
                </a:solidFill>
                <a:latin typeface="等线" panose="02010600030101010101" charset="-122"/>
                <a:ea typeface="等线" panose="02010600030101010101" charset="-122"/>
              </a:rPr>
              <a:t>256</a:t>
            </a:r>
            <a:endParaRPr lang="zh-CN" altLang="en-US" dirty="0">
              <a:solidFill>
                <a:prstClr val="black"/>
              </a:solidFill>
              <a:latin typeface="等线" panose="02010600030101010101" charset="-122"/>
              <a:ea typeface="等线" panose="02010600030101010101" charset="-122"/>
            </a:endParaRPr>
          </a:p>
        </p:txBody>
      </p:sp>
      <p:sp>
        <p:nvSpPr>
          <p:cNvPr id="119" name="文本框 118"/>
          <p:cNvSpPr txBox="1"/>
          <p:nvPr/>
        </p:nvSpPr>
        <p:spPr>
          <a:xfrm>
            <a:off x="9929442" y="6491751"/>
            <a:ext cx="755755" cy="369332"/>
          </a:xfrm>
          <a:prstGeom prst="rect">
            <a:avLst/>
          </a:prstGeom>
          <a:noFill/>
        </p:spPr>
        <p:txBody>
          <a:bodyPr wrap="square" rtlCol="0">
            <a:spAutoFit/>
          </a:bodyPr>
          <a:lstStyle/>
          <a:p>
            <a:r>
              <a:rPr lang="en-US" altLang="zh-CN" dirty="0">
                <a:solidFill>
                  <a:prstClr val="black"/>
                </a:solidFill>
                <a:latin typeface="等线" panose="02010600030101010101" charset="-122"/>
                <a:ea typeface="等线" panose="02010600030101010101" charset="-122"/>
              </a:rPr>
              <a:t>256</a:t>
            </a:r>
            <a:endParaRPr lang="zh-CN" altLang="en-US" dirty="0">
              <a:solidFill>
                <a:prstClr val="black"/>
              </a:solidFill>
              <a:latin typeface="等线" panose="02010600030101010101" charset="-122"/>
              <a:ea typeface="等线" panose="02010600030101010101" charset="-122"/>
            </a:endParaRPr>
          </a:p>
        </p:txBody>
      </p:sp>
      <p:cxnSp>
        <p:nvCxnSpPr>
          <p:cNvPr id="120" name="直接连接符 119"/>
          <p:cNvCxnSpPr>
            <a:endCxn id="110" idx="0"/>
          </p:cNvCxnSpPr>
          <p:nvPr/>
        </p:nvCxnSpPr>
        <p:spPr>
          <a:xfrm flipH="1">
            <a:off x="6564912" y="5447218"/>
            <a:ext cx="74369" cy="357471"/>
          </a:xfrm>
          <a:prstGeom prst="line">
            <a:avLst/>
          </a:prstGeom>
          <a:noFill/>
          <a:ln w="19050" cap="flat" cmpd="sng" algn="ctr">
            <a:solidFill>
              <a:sysClr val="windowText" lastClr="000000"/>
            </a:solidFill>
            <a:prstDash val="solid"/>
            <a:miter lim="800000"/>
          </a:ln>
          <a:effectLst/>
        </p:spPr>
      </p:cxnSp>
      <p:cxnSp>
        <p:nvCxnSpPr>
          <p:cNvPr id="121" name="直接连接符 120"/>
          <p:cNvCxnSpPr>
            <a:endCxn id="111" idx="0"/>
          </p:cNvCxnSpPr>
          <p:nvPr/>
        </p:nvCxnSpPr>
        <p:spPr>
          <a:xfrm>
            <a:off x="8022118" y="5440980"/>
            <a:ext cx="118902" cy="363709"/>
          </a:xfrm>
          <a:prstGeom prst="line">
            <a:avLst/>
          </a:prstGeom>
          <a:noFill/>
          <a:ln w="19050" cap="flat" cmpd="sng" algn="ctr">
            <a:solidFill>
              <a:sysClr val="windowText" lastClr="000000"/>
            </a:solidFill>
            <a:prstDash val="solid"/>
            <a:miter lim="800000"/>
          </a:ln>
          <a:effectLst/>
        </p:spPr>
      </p:cxnSp>
      <p:cxnSp>
        <p:nvCxnSpPr>
          <p:cNvPr id="122" name="直接连接符 121"/>
          <p:cNvCxnSpPr>
            <a:endCxn id="114" idx="0"/>
          </p:cNvCxnSpPr>
          <p:nvPr/>
        </p:nvCxnSpPr>
        <p:spPr>
          <a:xfrm>
            <a:off x="10641220" y="5425626"/>
            <a:ext cx="296416" cy="379063"/>
          </a:xfrm>
          <a:prstGeom prst="line">
            <a:avLst/>
          </a:prstGeom>
          <a:noFill/>
          <a:ln w="19050" cap="flat" cmpd="sng" algn="ctr">
            <a:solidFill>
              <a:sysClr val="windowText" lastClr="000000"/>
            </a:solidFill>
            <a:prstDash val="solid"/>
            <a:miter lim="800000"/>
          </a:ln>
          <a:effectLst/>
        </p:spPr>
      </p:cxnSp>
      <p:cxnSp>
        <p:nvCxnSpPr>
          <p:cNvPr id="123" name="直接连接符 122"/>
          <p:cNvCxnSpPr>
            <a:endCxn id="113" idx="0"/>
          </p:cNvCxnSpPr>
          <p:nvPr/>
        </p:nvCxnSpPr>
        <p:spPr>
          <a:xfrm>
            <a:off x="9273407" y="5433302"/>
            <a:ext cx="88121" cy="371387"/>
          </a:xfrm>
          <a:prstGeom prst="line">
            <a:avLst/>
          </a:prstGeom>
          <a:noFill/>
          <a:ln w="19050" cap="flat" cmpd="sng" algn="ctr">
            <a:solidFill>
              <a:sysClr val="windowText" lastClr="000000"/>
            </a:solidFill>
            <a:prstDash val="solid"/>
            <a:miter lim="800000"/>
          </a:ln>
          <a:effectLst/>
        </p:spPr>
      </p:cxnSp>
      <p:sp>
        <p:nvSpPr>
          <p:cNvPr id="130" name="文本框 129"/>
          <p:cNvSpPr txBox="1"/>
          <p:nvPr/>
        </p:nvSpPr>
        <p:spPr>
          <a:xfrm>
            <a:off x="9929442" y="1622965"/>
            <a:ext cx="1997470" cy="961289"/>
          </a:xfrm>
          <a:prstGeom prst="rect">
            <a:avLst/>
          </a:prstGeom>
          <a:noFill/>
        </p:spPr>
        <p:txBody>
          <a:bodyPr wrap="square" rtlCol="0">
            <a:spAutoFit/>
          </a:bodyPr>
          <a:lstStyle/>
          <a:p>
            <a:pPr>
              <a:lnSpc>
                <a:spcPct val="150000"/>
              </a:lnSpc>
            </a:pPr>
            <a:r>
              <a:rPr lang="zh-CN" altLang="en-US" sz="2000" dirty="0"/>
              <a:t>参考多级页表，使用二级索引</a:t>
            </a:r>
            <a:endParaRPr lang="zh-CN"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4240439" cy="688975"/>
          </a:xfrm>
        </p:spPr>
        <p:txBody>
          <a:bodyPr anchor="ctr"/>
          <a:lstStyle/>
          <a:p>
            <a:r>
              <a:rPr lang="zh-CN" altLang="en-US" dirty="0">
                <a:solidFill>
                  <a:srgbClr val="002060"/>
                </a:solidFill>
              </a:rPr>
              <a:t>任务一：</a:t>
            </a:r>
            <a:r>
              <a:rPr lang="en-US" altLang="zh-CN" dirty="0">
                <a:solidFill>
                  <a:srgbClr val="002060"/>
                </a:solidFill>
              </a:rPr>
              <a:t>File System</a:t>
            </a:r>
            <a:endParaRPr lang="zh-CN" altLang="en-US" dirty="0">
              <a:solidFill>
                <a:srgbClr val="002060"/>
              </a:solidFill>
            </a:endParaRPr>
          </a:p>
        </p:txBody>
      </p:sp>
      <p:sp>
        <p:nvSpPr>
          <p:cNvPr id="4" name="文本框 3"/>
          <p:cNvSpPr txBox="1"/>
          <p:nvPr/>
        </p:nvSpPr>
        <p:spPr>
          <a:xfrm>
            <a:off x="204106" y="951856"/>
            <a:ext cx="5004708" cy="461665"/>
          </a:xfrm>
          <a:prstGeom prst="rect">
            <a:avLst/>
          </a:prstGeom>
          <a:noFill/>
        </p:spPr>
        <p:txBody>
          <a:bodyPr wrap="square" rtlCol="0">
            <a:spAutoFit/>
          </a:bodyPr>
          <a:lstStyle/>
          <a:p>
            <a:r>
              <a:rPr lang="zh-CN" altLang="en-US" sz="2400" dirty="0"/>
              <a:t>思考三：硬链接的实现原理？</a:t>
            </a:r>
            <a:endParaRPr lang="zh-CN" altLang="en-US" sz="2400" dirty="0"/>
          </a:p>
        </p:txBody>
      </p:sp>
      <p:sp>
        <p:nvSpPr>
          <p:cNvPr id="10" name="文本框 9"/>
          <p:cNvSpPr txBox="1"/>
          <p:nvPr/>
        </p:nvSpPr>
        <p:spPr>
          <a:xfrm>
            <a:off x="6857723" y="940324"/>
            <a:ext cx="3984448" cy="461665"/>
          </a:xfrm>
          <a:prstGeom prst="rect">
            <a:avLst/>
          </a:prstGeom>
          <a:noFill/>
        </p:spPr>
        <p:txBody>
          <a:bodyPr wrap="square" rtlCol="0">
            <a:spAutoFit/>
          </a:bodyPr>
          <a:lstStyle/>
          <a:p>
            <a:r>
              <a:rPr lang="zh-CN" altLang="en-US" sz="2400" dirty="0"/>
              <a:t>思考四：软链接的实现原理？</a:t>
            </a:r>
            <a:endParaRPr lang="zh-CN" altLang="en-US" sz="2400" dirty="0"/>
          </a:p>
        </p:txBody>
      </p:sp>
      <p:sp>
        <p:nvSpPr>
          <p:cNvPr id="7" name="矩形 6"/>
          <p:cNvSpPr/>
          <p:nvPr/>
        </p:nvSpPr>
        <p:spPr>
          <a:xfrm>
            <a:off x="204106" y="2117409"/>
            <a:ext cx="1194356" cy="34467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name-1</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6" name="矩形 15"/>
          <p:cNvSpPr/>
          <p:nvPr/>
        </p:nvSpPr>
        <p:spPr>
          <a:xfrm>
            <a:off x="1398462" y="2117409"/>
            <a:ext cx="980904" cy="344670"/>
          </a:xfrm>
          <a:prstGeom prst="rect">
            <a:avLst/>
          </a:prstGeom>
          <a:solidFill>
            <a:srgbClr val="92D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err="1">
                <a:solidFill>
                  <a:prstClr val="white"/>
                </a:solidFill>
                <a:latin typeface="等线" panose="02010600030101010101" charset="-122"/>
                <a:ea typeface="等线" panose="02010600030101010101" charset="-122"/>
              </a:rPr>
              <a:t>i</a:t>
            </a:r>
            <a:r>
              <a:rPr lang="en-US" altLang="zh-CN" kern="0" noProof="0" dirty="0">
                <a:solidFill>
                  <a:prstClr val="white"/>
                </a:solidFill>
                <a:latin typeface="等线" panose="02010600030101010101" charset="-122"/>
                <a:ea typeface="等线" panose="02010600030101010101" charset="-122"/>
              </a:rPr>
              <a:t>num-1</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8" name="矩形 17"/>
          <p:cNvSpPr/>
          <p:nvPr/>
        </p:nvSpPr>
        <p:spPr>
          <a:xfrm>
            <a:off x="204106" y="2961860"/>
            <a:ext cx="1194356" cy="34467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name-2</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9" name="矩形 18"/>
          <p:cNvSpPr/>
          <p:nvPr/>
        </p:nvSpPr>
        <p:spPr>
          <a:xfrm>
            <a:off x="1398462" y="2961860"/>
            <a:ext cx="980904" cy="344670"/>
          </a:xfrm>
          <a:prstGeom prst="rect">
            <a:avLst/>
          </a:prstGeom>
          <a:solidFill>
            <a:srgbClr val="92D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err="1">
                <a:solidFill>
                  <a:prstClr val="white"/>
                </a:solidFill>
                <a:latin typeface="等线" panose="02010600030101010101" charset="-122"/>
                <a:ea typeface="等线" panose="02010600030101010101" charset="-122"/>
              </a:rPr>
              <a:t>i</a:t>
            </a:r>
            <a:r>
              <a:rPr lang="en-US" altLang="zh-CN" kern="0" noProof="0" dirty="0">
                <a:solidFill>
                  <a:prstClr val="white"/>
                </a:solidFill>
                <a:latin typeface="等线" panose="02010600030101010101" charset="-122"/>
                <a:ea typeface="等线" panose="02010600030101010101" charset="-122"/>
              </a:rPr>
              <a:t>num-1</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0" name="矩形 19"/>
          <p:cNvSpPr/>
          <p:nvPr/>
        </p:nvSpPr>
        <p:spPr>
          <a:xfrm>
            <a:off x="204106" y="3889868"/>
            <a:ext cx="1194356" cy="34467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name-3</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1" name="矩形 20"/>
          <p:cNvSpPr/>
          <p:nvPr/>
        </p:nvSpPr>
        <p:spPr>
          <a:xfrm>
            <a:off x="1398462" y="3889868"/>
            <a:ext cx="980904" cy="344670"/>
          </a:xfrm>
          <a:prstGeom prst="rect">
            <a:avLst/>
          </a:prstGeom>
          <a:solidFill>
            <a:srgbClr val="92D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err="1">
                <a:solidFill>
                  <a:prstClr val="white"/>
                </a:solidFill>
                <a:latin typeface="等线" panose="02010600030101010101" charset="-122"/>
                <a:ea typeface="等线" panose="02010600030101010101" charset="-122"/>
              </a:rPr>
              <a:t>i</a:t>
            </a:r>
            <a:r>
              <a:rPr lang="en-US" altLang="zh-CN" kern="0" noProof="0" dirty="0">
                <a:solidFill>
                  <a:prstClr val="white"/>
                </a:solidFill>
                <a:latin typeface="等线" panose="02010600030101010101" charset="-122"/>
                <a:ea typeface="等线" panose="02010600030101010101" charset="-122"/>
              </a:rPr>
              <a:t>num-2</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3" name="矩形 22"/>
          <p:cNvSpPr/>
          <p:nvPr/>
        </p:nvSpPr>
        <p:spPr>
          <a:xfrm>
            <a:off x="2979612" y="2187399"/>
            <a:ext cx="980904" cy="909711"/>
          </a:xfrm>
          <a:prstGeom prst="rect">
            <a:avLst/>
          </a:prstGeom>
          <a:solidFill>
            <a:srgbClr val="92D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err="1">
                <a:solidFill>
                  <a:prstClr val="white"/>
                </a:solidFill>
                <a:latin typeface="等线" panose="02010600030101010101" charset="-122"/>
                <a:ea typeface="等线" panose="02010600030101010101" charset="-122"/>
              </a:rPr>
              <a:t>i</a:t>
            </a:r>
            <a:r>
              <a:rPr lang="en-US" altLang="zh-CN" kern="0" noProof="0" dirty="0">
                <a:solidFill>
                  <a:prstClr val="white"/>
                </a:solidFill>
                <a:latin typeface="等线" panose="02010600030101010101" charset="-122"/>
                <a:ea typeface="等线" panose="02010600030101010101" charset="-122"/>
              </a:rPr>
              <a:t>num-1</a:t>
            </a:r>
            <a:endParaRPr lang="en-US" altLang="zh-CN" kern="0" noProof="0" dirty="0">
              <a:solidFill>
                <a:prstClr val="white"/>
              </a:solidFill>
              <a:latin typeface="等线" panose="02010600030101010101" charset="-122"/>
              <a:ea typeface="等线" panose="02010600030101010101"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en-US" altLang="zh-CN" kern="0" noProof="0" dirty="0">
                <a:solidFill>
                  <a:prstClr val="white"/>
                </a:solidFill>
                <a:latin typeface="等线" panose="02010600030101010101" charset="-122"/>
                <a:ea typeface="等线" panose="02010600030101010101" charset="-122"/>
              </a:rPr>
              <a:t>……</a:t>
            </a:r>
            <a:endParaRPr lang="en-US" altLang="zh-CN" kern="0" noProof="0" dirty="0">
              <a:solidFill>
                <a:prstClr val="white"/>
              </a:solidFill>
              <a:latin typeface="等线" panose="02010600030101010101" charset="-122"/>
              <a:ea typeface="等线" panose="02010600030101010101"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a</a:t>
            </a:r>
            <a:r>
              <a:rPr kumimoji="0" lang="en-US" altLang="zh-CN" sz="18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ddrs</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2979612" y="3553128"/>
            <a:ext cx="980904" cy="1007652"/>
          </a:xfrm>
          <a:prstGeom prst="rect">
            <a:avLst/>
          </a:prstGeom>
          <a:solidFill>
            <a:srgbClr val="92D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err="1">
                <a:solidFill>
                  <a:prstClr val="white"/>
                </a:solidFill>
                <a:latin typeface="等线" panose="02010600030101010101" charset="-122"/>
                <a:ea typeface="等线" panose="02010600030101010101" charset="-122"/>
              </a:rPr>
              <a:t>i</a:t>
            </a:r>
            <a:r>
              <a:rPr lang="en-US" altLang="zh-CN" kern="0" noProof="0" dirty="0">
                <a:solidFill>
                  <a:prstClr val="white"/>
                </a:solidFill>
                <a:latin typeface="等线" panose="02010600030101010101" charset="-122"/>
                <a:ea typeface="等线" panose="02010600030101010101" charset="-122"/>
              </a:rPr>
              <a:t>num-2</a:t>
            </a:r>
            <a:endParaRPr lang="en-US" altLang="zh-CN" kern="0" noProof="0" dirty="0">
              <a:solidFill>
                <a:prstClr val="white"/>
              </a:solidFill>
              <a:latin typeface="等线" panose="02010600030101010101" charset="-122"/>
              <a:ea typeface="等线" panose="02010600030101010101"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a:t>
            </a:r>
            <a:endParaRPr lang="en-US" altLang="zh-CN" kern="0" noProof="0" dirty="0">
              <a:solidFill>
                <a:prstClr val="white"/>
              </a:solidFill>
              <a:latin typeface="等线" panose="02010600030101010101" charset="-122"/>
              <a:ea typeface="等线" panose="02010600030101010101"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a</a:t>
            </a:r>
            <a:r>
              <a:rPr kumimoji="0" lang="en-US" altLang="zh-CN" sz="18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ddrs</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cxnSp>
        <p:nvCxnSpPr>
          <p:cNvPr id="26" name="直接箭头连接符 25"/>
          <p:cNvCxnSpPr/>
          <p:nvPr/>
        </p:nvCxnSpPr>
        <p:spPr bwMode="auto">
          <a:xfrm>
            <a:off x="2379366" y="2232118"/>
            <a:ext cx="600246" cy="385072"/>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28" name="直接箭头连接符 27"/>
          <p:cNvCxnSpPr/>
          <p:nvPr/>
        </p:nvCxnSpPr>
        <p:spPr bwMode="auto">
          <a:xfrm flipV="1">
            <a:off x="2379366" y="2901832"/>
            <a:ext cx="600246" cy="293289"/>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30" name="直接箭头连接符 29"/>
          <p:cNvCxnSpPr>
            <a:endCxn id="24" idx="1"/>
          </p:cNvCxnSpPr>
          <p:nvPr/>
        </p:nvCxnSpPr>
        <p:spPr bwMode="auto">
          <a:xfrm flipV="1">
            <a:off x="2403507" y="4056954"/>
            <a:ext cx="576105" cy="5249"/>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38" name="矩形 37"/>
          <p:cNvSpPr/>
          <p:nvPr/>
        </p:nvSpPr>
        <p:spPr>
          <a:xfrm>
            <a:off x="4525090" y="1882074"/>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block-1</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9" name="矩形 38"/>
          <p:cNvSpPr/>
          <p:nvPr/>
        </p:nvSpPr>
        <p:spPr>
          <a:xfrm>
            <a:off x="4525089" y="2232118"/>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block-2</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2" name="矩形 41"/>
          <p:cNvSpPr/>
          <p:nvPr/>
        </p:nvSpPr>
        <p:spPr>
          <a:xfrm>
            <a:off x="4525089" y="2566032"/>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block-3</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3" name="矩形 42"/>
          <p:cNvSpPr/>
          <p:nvPr/>
        </p:nvSpPr>
        <p:spPr>
          <a:xfrm>
            <a:off x="4525088" y="2916076"/>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block-4</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4" name="矩形 43"/>
          <p:cNvSpPr/>
          <p:nvPr/>
        </p:nvSpPr>
        <p:spPr>
          <a:xfrm>
            <a:off x="4525088" y="3258154"/>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block-5</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5" name="矩形 44"/>
          <p:cNvSpPr/>
          <p:nvPr/>
        </p:nvSpPr>
        <p:spPr>
          <a:xfrm>
            <a:off x="4525087" y="3608198"/>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block-6</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6" name="矩形 45"/>
          <p:cNvSpPr/>
          <p:nvPr/>
        </p:nvSpPr>
        <p:spPr>
          <a:xfrm>
            <a:off x="4525087" y="3942112"/>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block-7</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7" name="矩形 46"/>
          <p:cNvSpPr/>
          <p:nvPr/>
        </p:nvSpPr>
        <p:spPr>
          <a:xfrm>
            <a:off x="4525086" y="4292156"/>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block-8</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cxnSp>
        <p:nvCxnSpPr>
          <p:cNvPr id="48" name="直接箭头连接符 47"/>
          <p:cNvCxnSpPr>
            <a:endCxn id="39" idx="1"/>
          </p:cNvCxnSpPr>
          <p:nvPr/>
        </p:nvCxnSpPr>
        <p:spPr bwMode="auto">
          <a:xfrm flipV="1">
            <a:off x="3960516" y="2407140"/>
            <a:ext cx="564573" cy="525066"/>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51" name="直接箭头连接符 50"/>
          <p:cNvCxnSpPr>
            <a:endCxn id="43" idx="1"/>
          </p:cNvCxnSpPr>
          <p:nvPr/>
        </p:nvCxnSpPr>
        <p:spPr bwMode="auto">
          <a:xfrm>
            <a:off x="3960513" y="3003587"/>
            <a:ext cx="564575" cy="87511"/>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53" name="直接箭头连接符 52"/>
          <p:cNvCxnSpPr>
            <a:endCxn id="45" idx="1"/>
          </p:cNvCxnSpPr>
          <p:nvPr/>
        </p:nvCxnSpPr>
        <p:spPr bwMode="auto">
          <a:xfrm>
            <a:off x="3960511" y="3083132"/>
            <a:ext cx="564576" cy="700088"/>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55" name="直接箭头连接符 54"/>
          <p:cNvCxnSpPr/>
          <p:nvPr/>
        </p:nvCxnSpPr>
        <p:spPr bwMode="auto">
          <a:xfrm flipV="1">
            <a:off x="3960510" y="3431024"/>
            <a:ext cx="564573" cy="525066"/>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56" name="直接箭头连接符 55"/>
          <p:cNvCxnSpPr>
            <a:endCxn id="47" idx="1"/>
          </p:cNvCxnSpPr>
          <p:nvPr/>
        </p:nvCxnSpPr>
        <p:spPr bwMode="auto">
          <a:xfrm>
            <a:off x="3960506" y="4245250"/>
            <a:ext cx="564580" cy="221928"/>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58" name="文本框 57"/>
          <p:cNvSpPr txBox="1"/>
          <p:nvPr/>
        </p:nvSpPr>
        <p:spPr>
          <a:xfrm>
            <a:off x="990843" y="1456066"/>
            <a:ext cx="898071" cy="369332"/>
          </a:xfrm>
          <a:prstGeom prst="rect">
            <a:avLst/>
          </a:prstGeom>
          <a:noFill/>
        </p:spPr>
        <p:txBody>
          <a:bodyPr wrap="square" rtlCol="0">
            <a:spAutoFit/>
          </a:bodyPr>
          <a:lstStyle/>
          <a:p>
            <a:r>
              <a:rPr lang="zh-CN" altLang="en-US" dirty="0"/>
              <a:t>目录项</a:t>
            </a:r>
            <a:endParaRPr lang="zh-CN" altLang="en-US" dirty="0"/>
          </a:p>
        </p:txBody>
      </p:sp>
      <p:sp>
        <p:nvSpPr>
          <p:cNvPr id="59" name="文本框 58"/>
          <p:cNvSpPr txBox="1"/>
          <p:nvPr/>
        </p:nvSpPr>
        <p:spPr>
          <a:xfrm>
            <a:off x="3088594" y="1456066"/>
            <a:ext cx="898071" cy="369332"/>
          </a:xfrm>
          <a:prstGeom prst="rect">
            <a:avLst/>
          </a:prstGeom>
          <a:noFill/>
        </p:spPr>
        <p:txBody>
          <a:bodyPr wrap="square" rtlCol="0">
            <a:spAutoFit/>
          </a:bodyPr>
          <a:lstStyle/>
          <a:p>
            <a:r>
              <a:rPr lang="en-US" altLang="zh-CN" dirty="0"/>
              <a:t>inode</a:t>
            </a:r>
            <a:endParaRPr lang="zh-CN" altLang="en-US" dirty="0"/>
          </a:p>
        </p:txBody>
      </p:sp>
      <p:sp>
        <p:nvSpPr>
          <p:cNvPr id="60" name="文本框 59"/>
          <p:cNvSpPr txBox="1"/>
          <p:nvPr/>
        </p:nvSpPr>
        <p:spPr>
          <a:xfrm>
            <a:off x="4525083" y="1456066"/>
            <a:ext cx="1532804" cy="369332"/>
          </a:xfrm>
          <a:prstGeom prst="rect">
            <a:avLst/>
          </a:prstGeom>
          <a:noFill/>
        </p:spPr>
        <p:txBody>
          <a:bodyPr wrap="square" rtlCol="0">
            <a:spAutoFit/>
          </a:bodyPr>
          <a:lstStyle/>
          <a:p>
            <a:r>
              <a:rPr lang="en-US" altLang="zh-CN" dirty="0"/>
              <a:t>data blocks</a:t>
            </a:r>
            <a:endParaRPr lang="zh-CN" altLang="en-US" dirty="0"/>
          </a:p>
        </p:txBody>
      </p:sp>
      <p:sp>
        <p:nvSpPr>
          <p:cNvPr id="62" name="文本框 61"/>
          <p:cNvSpPr txBox="1"/>
          <p:nvPr/>
        </p:nvSpPr>
        <p:spPr>
          <a:xfrm>
            <a:off x="150966" y="4567452"/>
            <a:ext cx="5761904" cy="2346283"/>
          </a:xfrm>
          <a:prstGeom prst="rect">
            <a:avLst/>
          </a:prstGeom>
          <a:noFill/>
        </p:spPr>
        <p:txBody>
          <a:bodyPr wrap="square" rtlCol="0">
            <a:spAutoFit/>
          </a:bodyPr>
          <a:lstStyle/>
          <a:p>
            <a:pPr>
              <a:lnSpc>
                <a:spcPct val="150000"/>
              </a:lnSpc>
            </a:pPr>
            <a:r>
              <a:rPr lang="zh-CN" altLang="en-US" sz="2000" dirty="0"/>
              <a:t>目录项本质是做一组映射：从人类方便理解的目录名映射到机器方便理解的</a:t>
            </a:r>
            <a:r>
              <a:rPr lang="en-US" altLang="zh-CN" sz="2000" dirty="0"/>
              <a:t>inode</a:t>
            </a:r>
            <a:r>
              <a:rPr lang="zh-CN" altLang="en-US" sz="2000" dirty="0"/>
              <a:t>序号。这种映射是多对一的，多个</a:t>
            </a:r>
            <a:r>
              <a:rPr lang="en-US" altLang="zh-CN" sz="2000" dirty="0"/>
              <a:t>name</a:t>
            </a:r>
            <a:r>
              <a:rPr lang="zh-CN" altLang="en-US" sz="2000" dirty="0"/>
              <a:t>可以映射到同一个</a:t>
            </a:r>
            <a:r>
              <a:rPr lang="en-US" altLang="zh-CN" sz="2000" dirty="0"/>
              <a:t>inum</a:t>
            </a:r>
            <a:r>
              <a:rPr lang="zh-CN" altLang="en-US" sz="2000" dirty="0"/>
              <a:t>，好比每个人有大名、小名、绰号、昵称等。为文件创建一个别名（添加一个目录项）就是硬链接。</a:t>
            </a:r>
            <a:endParaRPr lang="en-US" altLang="zh-CN" sz="2000" dirty="0"/>
          </a:p>
        </p:txBody>
      </p:sp>
      <p:sp>
        <p:nvSpPr>
          <p:cNvPr id="65" name="矩形 64"/>
          <p:cNvSpPr/>
          <p:nvPr/>
        </p:nvSpPr>
        <p:spPr>
          <a:xfrm>
            <a:off x="6263034" y="2465243"/>
            <a:ext cx="1194356" cy="34467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name-1</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6" name="矩形 65"/>
          <p:cNvSpPr/>
          <p:nvPr/>
        </p:nvSpPr>
        <p:spPr>
          <a:xfrm>
            <a:off x="7457390" y="2465243"/>
            <a:ext cx="980904" cy="344670"/>
          </a:xfrm>
          <a:prstGeom prst="rect">
            <a:avLst/>
          </a:prstGeom>
          <a:solidFill>
            <a:srgbClr val="92D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err="1">
                <a:solidFill>
                  <a:prstClr val="white"/>
                </a:solidFill>
                <a:latin typeface="等线" panose="02010600030101010101" charset="-122"/>
                <a:ea typeface="等线" panose="02010600030101010101" charset="-122"/>
              </a:rPr>
              <a:t>i</a:t>
            </a:r>
            <a:r>
              <a:rPr lang="en-US" altLang="zh-CN" kern="0" noProof="0" dirty="0">
                <a:solidFill>
                  <a:prstClr val="white"/>
                </a:solidFill>
                <a:latin typeface="等线" panose="02010600030101010101" charset="-122"/>
                <a:ea typeface="等线" panose="02010600030101010101" charset="-122"/>
              </a:rPr>
              <a:t>num-1</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2" name="矩形 71"/>
          <p:cNvSpPr/>
          <p:nvPr/>
        </p:nvSpPr>
        <p:spPr>
          <a:xfrm>
            <a:off x="6263034" y="3889868"/>
            <a:ext cx="1194356" cy="34467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name-2</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0" name="矩形 79"/>
          <p:cNvSpPr/>
          <p:nvPr/>
        </p:nvSpPr>
        <p:spPr>
          <a:xfrm>
            <a:off x="7457390" y="3889868"/>
            <a:ext cx="980904" cy="344670"/>
          </a:xfrm>
          <a:prstGeom prst="rect">
            <a:avLst/>
          </a:prstGeom>
          <a:solidFill>
            <a:srgbClr val="92D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err="1">
                <a:solidFill>
                  <a:prstClr val="white"/>
                </a:solidFill>
                <a:latin typeface="等线" panose="02010600030101010101" charset="-122"/>
                <a:ea typeface="等线" panose="02010600030101010101" charset="-122"/>
              </a:rPr>
              <a:t>i</a:t>
            </a:r>
            <a:r>
              <a:rPr lang="en-US" altLang="zh-CN" kern="0" noProof="0" dirty="0">
                <a:solidFill>
                  <a:prstClr val="white"/>
                </a:solidFill>
                <a:latin typeface="等线" panose="02010600030101010101" charset="-122"/>
                <a:ea typeface="等线" panose="02010600030101010101" charset="-122"/>
              </a:rPr>
              <a:t>num-2</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6" name="矩形 85"/>
          <p:cNvSpPr/>
          <p:nvPr/>
        </p:nvSpPr>
        <p:spPr>
          <a:xfrm>
            <a:off x="9038540" y="2187399"/>
            <a:ext cx="980904" cy="909711"/>
          </a:xfrm>
          <a:prstGeom prst="rect">
            <a:avLst/>
          </a:prstGeom>
          <a:solidFill>
            <a:srgbClr val="92D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err="1">
                <a:solidFill>
                  <a:prstClr val="white"/>
                </a:solidFill>
                <a:latin typeface="等线" panose="02010600030101010101" charset="-122"/>
                <a:ea typeface="等线" panose="02010600030101010101" charset="-122"/>
              </a:rPr>
              <a:t>i</a:t>
            </a:r>
            <a:r>
              <a:rPr lang="en-US" altLang="zh-CN" kern="0" noProof="0" dirty="0">
                <a:solidFill>
                  <a:prstClr val="white"/>
                </a:solidFill>
                <a:latin typeface="等线" panose="02010600030101010101" charset="-122"/>
                <a:ea typeface="等线" panose="02010600030101010101" charset="-122"/>
              </a:rPr>
              <a:t>num-1</a:t>
            </a:r>
            <a:endParaRPr lang="en-US" altLang="zh-CN" kern="0" noProof="0" dirty="0">
              <a:solidFill>
                <a:prstClr val="white"/>
              </a:solidFill>
              <a:latin typeface="等线" panose="02010600030101010101" charset="-122"/>
              <a:ea typeface="等线" panose="02010600030101010101"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en-US" altLang="zh-CN" kern="0" noProof="0" dirty="0">
                <a:solidFill>
                  <a:prstClr val="white"/>
                </a:solidFill>
                <a:latin typeface="等线" panose="02010600030101010101" charset="-122"/>
                <a:ea typeface="等线" panose="02010600030101010101" charset="-122"/>
              </a:rPr>
              <a:t>……</a:t>
            </a:r>
            <a:endParaRPr lang="en-US" altLang="zh-CN" kern="0" noProof="0" dirty="0">
              <a:solidFill>
                <a:prstClr val="white"/>
              </a:solidFill>
              <a:latin typeface="等线" panose="02010600030101010101" charset="-122"/>
              <a:ea typeface="等线" panose="02010600030101010101"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a</a:t>
            </a:r>
            <a:r>
              <a:rPr kumimoji="0" lang="en-US" altLang="zh-CN" sz="18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ddrs</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9" name="矩形 88"/>
          <p:cNvSpPr/>
          <p:nvPr/>
        </p:nvSpPr>
        <p:spPr>
          <a:xfrm>
            <a:off x="9038540" y="3553128"/>
            <a:ext cx="980904" cy="1007652"/>
          </a:xfrm>
          <a:prstGeom prst="rect">
            <a:avLst/>
          </a:prstGeom>
          <a:solidFill>
            <a:srgbClr val="92D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err="1">
                <a:solidFill>
                  <a:prstClr val="white"/>
                </a:solidFill>
                <a:latin typeface="等线" panose="02010600030101010101" charset="-122"/>
                <a:ea typeface="等线" panose="02010600030101010101" charset="-122"/>
              </a:rPr>
              <a:t>i</a:t>
            </a:r>
            <a:r>
              <a:rPr lang="en-US" altLang="zh-CN" kern="0" noProof="0" dirty="0">
                <a:solidFill>
                  <a:prstClr val="white"/>
                </a:solidFill>
                <a:latin typeface="等线" panose="02010600030101010101" charset="-122"/>
                <a:ea typeface="等线" panose="02010600030101010101" charset="-122"/>
              </a:rPr>
              <a:t>num-2</a:t>
            </a:r>
            <a:endParaRPr lang="en-US" altLang="zh-CN" kern="0" noProof="0" dirty="0">
              <a:solidFill>
                <a:prstClr val="white"/>
              </a:solidFill>
              <a:latin typeface="等线" panose="02010600030101010101" charset="-122"/>
              <a:ea typeface="等线" panose="02010600030101010101"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a:t>
            </a:r>
            <a:endParaRPr lang="en-US" altLang="zh-CN" kern="0" noProof="0" dirty="0">
              <a:solidFill>
                <a:prstClr val="white"/>
              </a:solidFill>
              <a:latin typeface="等线" panose="02010600030101010101" charset="-122"/>
              <a:ea typeface="等线" panose="02010600030101010101"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a</a:t>
            </a:r>
            <a:r>
              <a:rPr kumimoji="0" lang="en-US" altLang="zh-CN" sz="18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ddrs</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cxnSp>
        <p:nvCxnSpPr>
          <p:cNvPr id="90" name="直接箭头连接符 89"/>
          <p:cNvCxnSpPr>
            <a:stCxn id="66" idx="3"/>
            <a:endCxn id="86" idx="1"/>
          </p:cNvCxnSpPr>
          <p:nvPr/>
        </p:nvCxnSpPr>
        <p:spPr bwMode="auto">
          <a:xfrm>
            <a:off x="8438294" y="2637578"/>
            <a:ext cx="600246" cy="4677"/>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95" name="直接箭头连接符 94"/>
          <p:cNvCxnSpPr>
            <a:endCxn id="89" idx="1"/>
          </p:cNvCxnSpPr>
          <p:nvPr/>
        </p:nvCxnSpPr>
        <p:spPr bwMode="auto">
          <a:xfrm flipV="1">
            <a:off x="8462435" y="4056954"/>
            <a:ext cx="576105" cy="5249"/>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96" name="矩形 95"/>
          <p:cNvSpPr/>
          <p:nvPr/>
        </p:nvSpPr>
        <p:spPr>
          <a:xfrm>
            <a:off x="10584018" y="1882074"/>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block-1</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4" name="矩形 103"/>
          <p:cNvSpPr/>
          <p:nvPr/>
        </p:nvSpPr>
        <p:spPr>
          <a:xfrm>
            <a:off x="10584017" y="2232118"/>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block-2</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6" name="矩形 105"/>
          <p:cNvSpPr/>
          <p:nvPr/>
        </p:nvSpPr>
        <p:spPr>
          <a:xfrm>
            <a:off x="10584017" y="2566032"/>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block-3</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24" name="矩形 123"/>
          <p:cNvSpPr/>
          <p:nvPr/>
        </p:nvSpPr>
        <p:spPr>
          <a:xfrm>
            <a:off x="10584016" y="2916076"/>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block-4</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25" name="矩形 124"/>
          <p:cNvSpPr/>
          <p:nvPr/>
        </p:nvSpPr>
        <p:spPr>
          <a:xfrm>
            <a:off x="10584016" y="3258154"/>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block-5</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26" name="矩形 125"/>
          <p:cNvSpPr/>
          <p:nvPr/>
        </p:nvSpPr>
        <p:spPr>
          <a:xfrm>
            <a:off x="10584015" y="3608198"/>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block-6</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27" name="矩形 126"/>
          <p:cNvSpPr/>
          <p:nvPr/>
        </p:nvSpPr>
        <p:spPr>
          <a:xfrm>
            <a:off x="10584015" y="3942112"/>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block-7</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28" name="矩形 127"/>
          <p:cNvSpPr/>
          <p:nvPr/>
        </p:nvSpPr>
        <p:spPr>
          <a:xfrm>
            <a:off x="10584014" y="4292156"/>
            <a:ext cx="1367447"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block-8</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cxnSp>
        <p:nvCxnSpPr>
          <p:cNvPr id="129" name="直接箭头连接符 128"/>
          <p:cNvCxnSpPr>
            <a:endCxn id="104" idx="1"/>
          </p:cNvCxnSpPr>
          <p:nvPr/>
        </p:nvCxnSpPr>
        <p:spPr bwMode="auto">
          <a:xfrm flipV="1">
            <a:off x="10019444" y="2407140"/>
            <a:ext cx="564573" cy="525066"/>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131" name="直接箭头连接符 130"/>
          <p:cNvCxnSpPr>
            <a:endCxn id="124" idx="1"/>
          </p:cNvCxnSpPr>
          <p:nvPr/>
        </p:nvCxnSpPr>
        <p:spPr bwMode="auto">
          <a:xfrm>
            <a:off x="10019441" y="3003587"/>
            <a:ext cx="564575" cy="87511"/>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132" name="直接箭头连接符 131"/>
          <p:cNvCxnSpPr>
            <a:endCxn id="126" idx="1"/>
          </p:cNvCxnSpPr>
          <p:nvPr/>
        </p:nvCxnSpPr>
        <p:spPr bwMode="auto">
          <a:xfrm>
            <a:off x="10019439" y="3083132"/>
            <a:ext cx="564576" cy="700088"/>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134" name="直接箭头连接符 133"/>
          <p:cNvCxnSpPr>
            <a:endCxn id="128" idx="1"/>
          </p:cNvCxnSpPr>
          <p:nvPr/>
        </p:nvCxnSpPr>
        <p:spPr bwMode="auto">
          <a:xfrm>
            <a:off x="10019434" y="4245250"/>
            <a:ext cx="564580" cy="221928"/>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135" name="文本框 134"/>
          <p:cNvSpPr txBox="1"/>
          <p:nvPr/>
        </p:nvSpPr>
        <p:spPr>
          <a:xfrm>
            <a:off x="7049771" y="1456066"/>
            <a:ext cx="898071" cy="369332"/>
          </a:xfrm>
          <a:prstGeom prst="rect">
            <a:avLst/>
          </a:prstGeom>
          <a:noFill/>
        </p:spPr>
        <p:txBody>
          <a:bodyPr wrap="square" rtlCol="0">
            <a:spAutoFit/>
          </a:bodyPr>
          <a:lstStyle/>
          <a:p>
            <a:r>
              <a:rPr lang="zh-CN" altLang="en-US" dirty="0"/>
              <a:t>目录项</a:t>
            </a:r>
            <a:endParaRPr lang="zh-CN" altLang="en-US" dirty="0"/>
          </a:p>
        </p:txBody>
      </p:sp>
      <p:sp>
        <p:nvSpPr>
          <p:cNvPr id="136" name="文本框 135"/>
          <p:cNvSpPr txBox="1"/>
          <p:nvPr/>
        </p:nvSpPr>
        <p:spPr>
          <a:xfrm>
            <a:off x="9147522" y="1456066"/>
            <a:ext cx="898071" cy="369332"/>
          </a:xfrm>
          <a:prstGeom prst="rect">
            <a:avLst/>
          </a:prstGeom>
          <a:noFill/>
        </p:spPr>
        <p:txBody>
          <a:bodyPr wrap="square" rtlCol="0">
            <a:spAutoFit/>
          </a:bodyPr>
          <a:lstStyle/>
          <a:p>
            <a:r>
              <a:rPr lang="en-US" altLang="zh-CN" dirty="0"/>
              <a:t>inode</a:t>
            </a:r>
            <a:endParaRPr lang="zh-CN" altLang="en-US" dirty="0"/>
          </a:p>
        </p:txBody>
      </p:sp>
      <p:sp>
        <p:nvSpPr>
          <p:cNvPr id="137" name="文本框 136"/>
          <p:cNvSpPr txBox="1"/>
          <p:nvPr/>
        </p:nvSpPr>
        <p:spPr>
          <a:xfrm>
            <a:off x="10584011" y="1456066"/>
            <a:ext cx="1532804" cy="369332"/>
          </a:xfrm>
          <a:prstGeom prst="rect">
            <a:avLst/>
          </a:prstGeom>
          <a:noFill/>
        </p:spPr>
        <p:txBody>
          <a:bodyPr wrap="square" rtlCol="0">
            <a:spAutoFit/>
          </a:bodyPr>
          <a:lstStyle/>
          <a:p>
            <a:r>
              <a:rPr lang="en-US" altLang="zh-CN" dirty="0"/>
              <a:t>data blocks</a:t>
            </a:r>
            <a:endParaRPr lang="zh-CN" altLang="en-US" dirty="0"/>
          </a:p>
        </p:txBody>
      </p:sp>
      <p:sp>
        <p:nvSpPr>
          <p:cNvPr id="141" name="文本框 140"/>
          <p:cNvSpPr txBox="1"/>
          <p:nvPr/>
        </p:nvSpPr>
        <p:spPr>
          <a:xfrm>
            <a:off x="2438173" y="3046600"/>
            <a:ext cx="650421" cy="369332"/>
          </a:xfrm>
          <a:prstGeom prst="rect">
            <a:avLst/>
          </a:prstGeom>
          <a:noFill/>
        </p:spPr>
        <p:txBody>
          <a:bodyPr wrap="square" rtlCol="0">
            <a:spAutoFit/>
          </a:bodyPr>
          <a:lstStyle/>
          <a:p>
            <a:r>
              <a:rPr lang="zh-CN" altLang="en-US" dirty="0"/>
              <a:t>链接</a:t>
            </a:r>
            <a:endParaRPr lang="zh-CN" altLang="en-US" dirty="0"/>
          </a:p>
        </p:txBody>
      </p:sp>
      <p:sp>
        <p:nvSpPr>
          <p:cNvPr id="142" name="文本框 141"/>
          <p:cNvSpPr txBox="1"/>
          <p:nvPr/>
        </p:nvSpPr>
        <p:spPr>
          <a:xfrm>
            <a:off x="9127550" y="4870644"/>
            <a:ext cx="2912921" cy="369332"/>
          </a:xfrm>
          <a:prstGeom prst="rect">
            <a:avLst/>
          </a:prstGeom>
          <a:noFill/>
        </p:spPr>
        <p:txBody>
          <a:bodyPr wrap="square" rtlCol="0">
            <a:spAutoFit/>
          </a:bodyPr>
          <a:lstStyle/>
          <a:p>
            <a:r>
              <a:rPr lang="en-US" altLang="zh-CN" dirty="0"/>
              <a:t>“target path</a:t>
            </a:r>
            <a:r>
              <a:rPr lang="zh-CN" altLang="en-US" dirty="0"/>
              <a:t>：</a:t>
            </a:r>
            <a:r>
              <a:rPr lang="en-US" altLang="zh-CN" dirty="0"/>
              <a:t>/name-1”</a:t>
            </a:r>
            <a:endParaRPr lang="zh-CN" altLang="en-US" dirty="0"/>
          </a:p>
        </p:txBody>
      </p:sp>
      <p:cxnSp>
        <p:nvCxnSpPr>
          <p:cNvPr id="144" name="直接连接符 143"/>
          <p:cNvCxnSpPr/>
          <p:nvPr/>
        </p:nvCxnSpPr>
        <p:spPr bwMode="auto">
          <a:xfrm flipH="1">
            <a:off x="9413421" y="4642200"/>
            <a:ext cx="1170590" cy="221718"/>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48" name="直接连接符 147"/>
          <p:cNvCxnSpPr/>
          <p:nvPr/>
        </p:nvCxnSpPr>
        <p:spPr bwMode="auto">
          <a:xfrm flipH="1">
            <a:off x="11748407" y="4653631"/>
            <a:ext cx="203054" cy="207335"/>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150" name="文本框 149"/>
          <p:cNvSpPr txBox="1"/>
          <p:nvPr/>
        </p:nvSpPr>
        <p:spPr>
          <a:xfrm>
            <a:off x="6279132" y="5277775"/>
            <a:ext cx="5761904" cy="1422954"/>
          </a:xfrm>
          <a:prstGeom prst="rect">
            <a:avLst/>
          </a:prstGeom>
          <a:noFill/>
        </p:spPr>
        <p:txBody>
          <a:bodyPr wrap="square" rtlCol="0">
            <a:spAutoFit/>
          </a:bodyPr>
          <a:lstStyle/>
          <a:p>
            <a:pPr>
              <a:lnSpc>
                <a:spcPct val="150000"/>
              </a:lnSpc>
            </a:pPr>
            <a:r>
              <a:rPr lang="zh-CN" altLang="en-US" sz="2000" dirty="0"/>
              <a:t>软链接通过文件内容做链接。软链接文件是一种特殊类型的文件，它的内容是被链接的文件的绝对路径，如这里的</a:t>
            </a:r>
            <a:r>
              <a:rPr lang="en-US" altLang="zh-CN" sz="2000" dirty="0"/>
              <a:t>inode-2</a:t>
            </a:r>
            <a:r>
              <a:rPr lang="zh-CN" altLang="en-US" sz="2000" dirty="0"/>
              <a:t>链接到</a:t>
            </a:r>
            <a:r>
              <a:rPr lang="en-US" altLang="zh-CN" sz="2000" dirty="0"/>
              <a:t>inode-1</a:t>
            </a:r>
            <a:r>
              <a:rPr lang="zh-CN" altLang="en-US" sz="2000" dirty="0"/>
              <a:t>。</a:t>
            </a:r>
            <a:endParaRPr lang="en-US" altLang="zh-C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187776" y="954797"/>
            <a:ext cx="5788479" cy="688975"/>
          </a:xfrm>
        </p:spPr>
        <p:txBody>
          <a:bodyPr/>
          <a:lstStyle/>
          <a:p>
            <a:pPr>
              <a:lnSpc>
                <a:spcPct val="150000"/>
              </a:lnSpc>
              <a:spcBef>
                <a:spcPts val="500"/>
              </a:spcBef>
              <a:buNone/>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一、背景知识：</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mmap</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的基本原理</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标题 2"/>
          <p:cNvSpPr>
            <a:spLocks noGrp="1"/>
          </p:cNvSpPr>
          <p:nvPr>
            <p:ph type="title"/>
          </p:nvPr>
        </p:nvSpPr>
        <p:spPr>
          <a:xfrm>
            <a:off x="968375" y="149225"/>
            <a:ext cx="4240439" cy="688975"/>
          </a:xfrm>
        </p:spPr>
        <p:txBody>
          <a:bodyPr anchor="ctr"/>
          <a:lstStyle/>
          <a:p>
            <a:r>
              <a:rPr lang="zh-CN" altLang="en-US" dirty="0">
                <a:solidFill>
                  <a:srgbClr val="002060"/>
                </a:solidFill>
              </a:rPr>
              <a:t>任务二：</a:t>
            </a:r>
            <a:r>
              <a:rPr lang="en-US" altLang="zh-CN" dirty="0">
                <a:solidFill>
                  <a:srgbClr val="002060"/>
                </a:solidFill>
              </a:rPr>
              <a:t>mmap</a:t>
            </a:r>
            <a:endParaRPr lang="zh-CN" altLang="en-US" dirty="0">
              <a:solidFill>
                <a:srgbClr val="002060"/>
              </a:solidFill>
            </a:endParaRPr>
          </a:p>
        </p:txBody>
      </p:sp>
      <p:sp>
        <p:nvSpPr>
          <p:cNvPr id="2" name="文本框 1"/>
          <p:cNvSpPr txBox="1"/>
          <p:nvPr/>
        </p:nvSpPr>
        <p:spPr>
          <a:xfrm>
            <a:off x="788565" y="1760369"/>
            <a:ext cx="4790114" cy="1689052"/>
          </a:xfrm>
          <a:prstGeom prst="rect">
            <a:avLst/>
          </a:prstGeom>
          <a:noFill/>
        </p:spPr>
        <p:txBody>
          <a:bodyPr wrap="square" rtlCol="0">
            <a:spAutoFit/>
          </a:bodyPr>
          <a:lstStyle/>
          <a:p>
            <a:pPr>
              <a:lnSpc>
                <a:spcPct val="150000"/>
              </a:lnSpc>
            </a:pPr>
            <a:r>
              <a:rPr lang="en-US" altLang="zh-CN" sz="2400" i="0" dirty="0">
                <a:solidFill>
                  <a:srgbClr val="191B1F"/>
                </a:solidFill>
                <a:effectLst/>
                <a:latin typeface="+mn-ea"/>
              </a:rPr>
              <a:t>mmap</a:t>
            </a:r>
            <a:r>
              <a:rPr lang="zh-CN" altLang="en-US" sz="2400" dirty="0">
                <a:solidFill>
                  <a:srgbClr val="191B1F"/>
                </a:solidFill>
                <a:latin typeface="+mn-ea"/>
              </a:rPr>
              <a:t>可以将文件在逻辑上映射到用户的地址空间，于是用户可以使用指针访存的形式方便地读写文件。</a:t>
            </a:r>
            <a:endParaRPr lang="zh-CN" altLang="en-US" sz="2400" dirty="0">
              <a:latin typeface="+mn-ea"/>
            </a:endParaRPr>
          </a:p>
        </p:txBody>
      </p:sp>
      <p:sp>
        <p:nvSpPr>
          <p:cNvPr id="76" name="矩形 75"/>
          <p:cNvSpPr/>
          <p:nvPr/>
        </p:nvSpPr>
        <p:spPr>
          <a:xfrm>
            <a:off x="820581" y="3749967"/>
            <a:ext cx="980904" cy="2877336"/>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user</a:t>
            </a:r>
            <a:endParaRPr lang="en-US" altLang="zh-CN" kern="0" dirty="0">
              <a:solidFill>
                <a:prstClr val="white"/>
              </a:solidFill>
              <a:latin typeface="等线" panose="02010600030101010101" charset="-122"/>
              <a:ea typeface="等线" panose="02010600030101010101"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space</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0" name="矩形 19"/>
          <p:cNvSpPr/>
          <p:nvPr/>
        </p:nvSpPr>
        <p:spPr>
          <a:xfrm>
            <a:off x="820582" y="4465883"/>
            <a:ext cx="980904" cy="350044"/>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mmap</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1" name="矩形 30"/>
          <p:cNvSpPr/>
          <p:nvPr/>
        </p:nvSpPr>
        <p:spPr>
          <a:xfrm>
            <a:off x="4227910" y="3749967"/>
            <a:ext cx="980904" cy="2877336"/>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disk</a:t>
            </a:r>
            <a:endParaRPr lang="en-US" altLang="zh-CN" kern="0" dirty="0">
              <a:solidFill>
                <a:prstClr val="white"/>
              </a:solidFill>
              <a:latin typeface="等线" panose="02010600030101010101" charset="-122"/>
              <a:ea typeface="等线" panose="02010600030101010101" charset="-122"/>
            </a:endParaRPr>
          </a:p>
        </p:txBody>
      </p:sp>
      <p:sp>
        <p:nvSpPr>
          <p:cNvPr id="32" name="矩形 31"/>
          <p:cNvSpPr/>
          <p:nvPr/>
        </p:nvSpPr>
        <p:spPr>
          <a:xfrm>
            <a:off x="4227910" y="3917659"/>
            <a:ext cx="980904" cy="993576"/>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file</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cxnSp>
        <p:nvCxnSpPr>
          <p:cNvPr id="34" name="直接连接符 33"/>
          <p:cNvCxnSpPr/>
          <p:nvPr/>
        </p:nvCxnSpPr>
        <p:spPr bwMode="auto">
          <a:xfrm>
            <a:off x="4227910" y="4731391"/>
            <a:ext cx="98090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5" name="直接连接符 34"/>
          <p:cNvCxnSpPr/>
          <p:nvPr/>
        </p:nvCxnSpPr>
        <p:spPr bwMode="auto">
          <a:xfrm>
            <a:off x="4227910" y="4186106"/>
            <a:ext cx="98090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7" name="直接箭头连接符 36"/>
          <p:cNvCxnSpPr/>
          <p:nvPr/>
        </p:nvCxnSpPr>
        <p:spPr bwMode="auto">
          <a:xfrm flipH="1">
            <a:off x="1801485" y="4186106"/>
            <a:ext cx="819391" cy="279777"/>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38" name="直接箭头连接符 37"/>
          <p:cNvCxnSpPr/>
          <p:nvPr/>
        </p:nvCxnSpPr>
        <p:spPr bwMode="auto">
          <a:xfrm flipH="1">
            <a:off x="1801485" y="4815927"/>
            <a:ext cx="819390" cy="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50" name="直接箭头连接符 49"/>
          <p:cNvCxnSpPr/>
          <p:nvPr/>
        </p:nvCxnSpPr>
        <p:spPr bwMode="auto">
          <a:xfrm flipH="1">
            <a:off x="3595995" y="4728019"/>
            <a:ext cx="631914" cy="87908"/>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52" name="直接箭头连接符 51"/>
          <p:cNvCxnSpPr/>
          <p:nvPr/>
        </p:nvCxnSpPr>
        <p:spPr bwMode="auto">
          <a:xfrm flipH="1" flipV="1">
            <a:off x="3601780" y="4186106"/>
            <a:ext cx="602986" cy="1108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55" name="文本框 54"/>
          <p:cNvSpPr txBox="1"/>
          <p:nvPr/>
        </p:nvSpPr>
        <p:spPr>
          <a:xfrm>
            <a:off x="3624925" y="4331522"/>
            <a:ext cx="673546" cy="369332"/>
          </a:xfrm>
          <a:prstGeom prst="rect">
            <a:avLst/>
          </a:prstGeom>
          <a:noFill/>
        </p:spPr>
        <p:txBody>
          <a:bodyPr wrap="square" rtlCol="0">
            <a:spAutoFit/>
          </a:bodyPr>
          <a:lstStyle/>
          <a:p>
            <a:r>
              <a:rPr lang="zh-CN" altLang="en-US" dirty="0"/>
              <a:t>读写</a:t>
            </a:r>
            <a:endParaRPr lang="zh-CN" altLang="en-US" dirty="0"/>
          </a:p>
        </p:txBody>
      </p:sp>
      <p:sp>
        <p:nvSpPr>
          <p:cNvPr id="56" name="文本框 55"/>
          <p:cNvSpPr txBox="1"/>
          <p:nvPr/>
        </p:nvSpPr>
        <p:spPr>
          <a:xfrm>
            <a:off x="1982610" y="4400037"/>
            <a:ext cx="673546" cy="369332"/>
          </a:xfrm>
          <a:prstGeom prst="rect">
            <a:avLst/>
          </a:prstGeom>
          <a:noFill/>
        </p:spPr>
        <p:txBody>
          <a:bodyPr wrap="square" rtlCol="0">
            <a:spAutoFit/>
          </a:bodyPr>
          <a:lstStyle/>
          <a:p>
            <a:r>
              <a:rPr lang="zh-CN" altLang="en-US" dirty="0"/>
              <a:t>映射</a:t>
            </a:r>
            <a:endParaRPr lang="zh-CN" altLang="en-US" dirty="0"/>
          </a:p>
        </p:txBody>
      </p:sp>
      <p:sp>
        <p:nvSpPr>
          <p:cNvPr id="57" name="矩形 56"/>
          <p:cNvSpPr/>
          <p:nvPr/>
        </p:nvSpPr>
        <p:spPr>
          <a:xfrm>
            <a:off x="2620876" y="3749967"/>
            <a:ext cx="980904" cy="2877336"/>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mem</a:t>
            </a:r>
            <a:endParaRPr lang="en-US" altLang="zh-CN" kern="0" dirty="0">
              <a:solidFill>
                <a:prstClr val="white"/>
              </a:solidFill>
              <a:latin typeface="等线" panose="02010600030101010101" charset="-122"/>
              <a:ea typeface="等线" panose="02010600030101010101" charset="-122"/>
            </a:endParaRPr>
          </a:p>
        </p:txBody>
      </p:sp>
      <p:sp>
        <p:nvSpPr>
          <p:cNvPr id="43" name="矩形 42"/>
          <p:cNvSpPr/>
          <p:nvPr/>
        </p:nvSpPr>
        <p:spPr>
          <a:xfrm>
            <a:off x="2615091" y="4181872"/>
            <a:ext cx="980904" cy="668631"/>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physical</a:t>
            </a:r>
            <a:endParaRPr lang="en-US" altLang="zh-CN" kern="0" dirty="0">
              <a:solidFill>
                <a:prstClr val="white"/>
              </a:solidFill>
              <a:latin typeface="等线" panose="02010600030101010101" charset="-122"/>
              <a:ea typeface="等线" panose="02010600030101010101"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en-US" altLang="zh-CN" kern="0" dirty="0">
                <a:solidFill>
                  <a:prstClr val="white"/>
                </a:solidFill>
                <a:latin typeface="等线" panose="02010600030101010101" charset="-122"/>
                <a:ea typeface="等线" panose="02010600030101010101" charset="-122"/>
              </a:rPr>
              <a:t>page</a:t>
            </a: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0" name="Rectangle 1"/>
          <p:cNvSpPr>
            <a:spLocks noChangeArrowheads="1"/>
          </p:cNvSpPr>
          <p:nvPr/>
        </p:nvSpPr>
        <p:spPr bwMode="auto">
          <a:xfrm>
            <a:off x="6096000" y="1760369"/>
            <a:ext cx="5911170" cy="1422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mn-ea"/>
              </a:rPr>
              <a:t>void *mmap(void *addr, size_t length, int prot, </a:t>
            </a:r>
            <a:endParaRPr kumimoji="0" lang="en-US" altLang="zh-CN" sz="2000" b="0" i="0" u="none" strike="noStrike" cap="none" normalizeH="0" baseline="0" dirty="0">
              <a:ln>
                <a:noFill/>
              </a:ln>
              <a:solidFill>
                <a:srgbClr val="000000"/>
              </a:solidFill>
              <a:effectLst/>
              <a:latin typeface="+mn-ea"/>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mn-ea"/>
              </a:rPr>
              <a:t>		     </a:t>
            </a:r>
            <a:r>
              <a:rPr kumimoji="0" lang="zh-CN" altLang="zh-CN" sz="2000" b="0" i="0" u="none" strike="noStrike" cap="none" normalizeH="0" baseline="0" dirty="0">
                <a:ln>
                  <a:noFill/>
                </a:ln>
                <a:solidFill>
                  <a:srgbClr val="000000"/>
                </a:solidFill>
                <a:effectLst/>
                <a:latin typeface="+mn-ea"/>
              </a:rPr>
              <a:t>int flags, int fd, off_t offset)</a:t>
            </a:r>
            <a:endParaRPr lang="en-US" altLang="zh-CN" sz="2000" dirty="0">
              <a:solidFill>
                <a:srgbClr val="000000"/>
              </a:solidFill>
              <a:latin typeface="+mn-ea"/>
            </a:endParaRPr>
          </a:p>
          <a:p>
            <a:pPr marL="0" marR="0" lvl="0" indent="0" algn="l" defTabSz="914400" rtl="0" eaLnBrk="0" fontAlgn="base" latinLnBrk="0" hangingPunct="0">
              <a:lnSpc>
                <a:spcPct val="150000"/>
              </a:lnSpc>
              <a:spcBef>
                <a:spcPct val="0"/>
              </a:spcBef>
              <a:spcAft>
                <a:spcPct val="0"/>
              </a:spcAft>
              <a:buClrTx/>
              <a:buSzTx/>
              <a:buFontTx/>
              <a:buNone/>
            </a:pPr>
            <a:r>
              <a:rPr lang="en-US" altLang="zh-CN" sz="2000" dirty="0">
                <a:solidFill>
                  <a:srgbClr val="000000"/>
                </a:solidFill>
                <a:latin typeface="+mn-ea"/>
              </a:rPr>
              <a:t>i</a:t>
            </a:r>
            <a:r>
              <a:rPr lang="en-US" altLang="zh-CN" sz="2000" b="0" i="0" dirty="0">
                <a:solidFill>
                  <a:srgbClr val="000000"/>
                </a:solidFill>
                <a:effectLst/>
                <a:latin typeface="+mn-ea"/>
              </a:rPr>
              <a:t>nt munmap(void* addr, size_t length)</a:t>
            </a:r>
            <a:endParaRPr kumimoji="0" lang="zh-CN" altLang="zh-CN" sz="2000" b="0" i="0" u="none" strike="noStrike" cap="none" normalizeH="0" baseline="0" dirty="0">
              <a:ln>
                <a:noFill/>
              </a:ln>
              <a:solidFill>
                <a:schemeClr val="tx1"/>
              </a:solidFill>
              <a:effectLst/>
              <a:latin typeface="+mn-ea"/>
            </a:endParaRPr>
          </a:p>
        </p:txBody>
      </p:sp>
      <p:sp>
        <p:nvSpPr>
          <p:cNvPr id="61" name="文本框 60"/>
          <p:cNvSpPr txBox="1"/>
          <p:nvPr/>
        </p:nvSpPr>
        <p:spPr>
          <a:xfrm>
            <a:off x="5965472" y="3712686"/>
            <a:ext cx="6172226" cy="2951898"/>
          </a:xfrm>
          <a:prstGeom prst="rect">
            <a:avLst/>
          </a:prstGeom>
          <a:noFill/>
        </p:spPr>
        <p:txBody>
          <a:bodyPr wrap="square" rtlCol="0">
            <a:spAutoFit/>
          </a:bodyPr>
          <a:lstStyle/>
          <a:p>
            <a:pPr>
              <a:lnSpc>
                <a:spcPct val="150000"/>
              </a:lnSpc>
            </a:pPr>
            <a:r>
              <a:rPr lang="zh-CN" altLang="en-US" b="1" dirty="0"/>
              <a:t>参数解析：</a:t>
            </a:r>
            <a:endParaRPr lang="en-US" altLang="zh-CN" b="1" dirty="0"/>
          </a:p>
          <a:p>
            <a:pPr marL="285750" indent="-285750">
              <a:lnSpc>
                <a:spcPct val="150000"/>
              </a:lnSpc>
              <a:buFont typeface="Arial" panose="020B0604020202020204" pitchFamily="34" charset="0"/>
              <a:buChar char="•"/>
            </a:pPr>
            <a:r>
              <a:rPr lang="en-US" altLang="zh-CN" dirty="0"/>
              <a:t>addr: </a:t>
            </a:r>
            <a:r>
              <a:rPr lang="zh-CN" altLang="en-US" dirty="0"/>
              <a:t>传入</a:t>
            </a:r>
            <a:r>
              <a:rPr lang="en-US" altLang="zh-CN" dirty="0"/>
              <a:t>0</a:t>
            </a:r>
            <a:r>
              <a:rPr lang="zh-CN" altLang="en-US" dirty="0"/>
              <a:t>，由内核决定映射到哪个地址</a:t>
            </a:r>
            <a:endParaRPr lang="en-US" altLang="zh-CN" dirty="0"/>
          </a:p>
          <a:p>
            <a:pPr marL="285750" indent="-285750">
              <a:lnSpc>
                <a:spcPct val="150000"/>
              </a:lnSpc>
              <a:buFont typeface="Arial" panose="020B0604020202020204" pitchFamily="34" charset="0"/>
              <a:buChar char="•"/>
            </a:pPr>
            <a:r>
              <a:rPr lang="en-US" altLang="zh-CN" dirty="0"/>
              <a:t>length: </a:t>
            </a:r>
            <a:r>
              <a:rPr lang="zh-CN" altLang="en-US" dirty="0"/>
              <a:t>映射区域长度（字节）</a:t>
            </a:r>
            <a:endParaRPr lang="en-US" altLang="zh-CN" dirty="0"/>
          </a:p>
          <a:p>
            <a:pPr marL="285750" indent="-285750">
              <a:lnSpc>
                <a:spcPct val="150000"/>
              </a:lnSpc>
              <a:buFont typeface="Arial" panose="020B0604020202020204" pitchFamily="34" charset="0"/>
              <a:buChar char="•"/>
            </a:pPr>
            <a:r>
              <a:rPr lang="en-US" altLang="zh-CN" dirty="0" err="1"/>
              <a:t>prot</a:t>
            </a:r>
            <a:r>
              <a:rPr lang="zh-CN" altLang="en-US" dirty="0"/>
              <a:t>：映射区域权限（</a:t>
            </a:r>
            <a:r>
              <a:rPr lang="en-US" altLang="zh-CN" dirty="0"/>
              <a:t>PROT_READ</a:t>
            </a:r>
            <a:r>
              <a:rPr lang="zh-CN" altLang="en-US" dirty="0"/>
              <a:t>、</a:t>
            </a:r>
            <a:r>
              <a:rPr lang="en-US" altLang="zh-CN" dirty="0"/>
              <a:t>PROT_WRITE</a:t>
            </a:r>
            <a:r>
              <a:rPr lang="zh-CN" altLang="en-US" dirty="0"/>
              <a:t>）</a:t>
            </a:r>
            <a:endParaRPr lang="en-US" altLang="zh-CN" dirty="0"/>
          </a:p>
          <a:p>
            <a:pPr marL="285750" indent="-285750">
              <a:lnSpc>
                <a:spcPct val="150000"/>
              </a:lnSpc>
              <a:buFont typeface="Arial" panose="020B0604020202020204" pitchFamily="34" charset="0"/>
              <a:buChar char="•"/>
            </a:pPr>
            <a:r>
              <a:rPr lang="en-US" altLang="zh-CN" dirty="0"/>
              <a:t>flags</a:t>
            </a:r>
            <a:r>
              <a:rPr lang="zh-CN" altLang="en-US" dirty="0"/>
              <a:t>：映射区域属性（</a:t>
            </a:r>
            <a:r>
              <a:rPr lang="en-US" altLang="zh-CN" dirty="0"/>
              <a:t>MAP_SHARED</a:t>
            </a:r>
            <a:r>
              <a:rPr lang="zh-CN" altLang="en-US" dirty="0"/>
              <a:t>、</a:t>
            </a:r>
            <a:r>
              <a:rPr lang="en-US" altLang="zh-CN" dirty="0"/>
              <a:t>MAP_PRIVATE</a:t>
            </a:r>
            <a:r>
              <a:rPr lang="zh-CN" altLang="en-US" dirty="0"/>
              <a:t>）</a:t>
            </a:r>
            <a:endParaRPr lang="en-US" altLang="zh-CN" dirty="0"/>
          </a:p>
          <a:p>
            <a:pPr marL="285750" indent="-285750">
              <a:lnSpc>
                <a:spcPct val="150000"/>
              </a:lnSpc>
              <a:buFont typeface="Arial" panose="020B0604020202020204" pitchFamily="34" charset="0"/>
              <a:buChar char="•"/>
            </a:pPr>
            <a:r>
              <a:rPr lang="en-US" altLang="zh-CN" dirty="0" err="1"/>
              <a:t>fd</a:t>
            </a:r>
            <a:r>
              <a:rPr lang="en-US" altLang="zh-CN" dirty="0"/>
              <a:t>: </a:t>
            </a:r>
            <a:r>
              <a:rPr lang="zh-CN" altLang="en-US" dirty="0"/>
              <a:t>对应文件的文件描述符</a:t>
            </a:r>
            <a:endParaRPr lang="en-US" altLang="zh-CN" dirty="0"/>
          </a:p>
          <a:p>
            <a:pPr marL="285750" indent="-285750">
              <a:lnSpc>
                <a:spcPct val="150000"/>
              </a:lnSpc>
              <a:buFont typeface="Arial" panose="020B0604020202020204" pitchFamily="34" charset="0"/>
              <a:buChar char="•"/>
            </a:pPr>
            <a:r>
              <a:rPr lang="en-US" altLang="zh-CN" dirty="0"/>
              <a:t>offset: </a:t>
            </a:r>
            <a:r>
              <a:rPr lang="zh-CN" altLang="en-US" dirty="0"/>
              <a:t>从文件的哪个偏移量开始映射</a:t>
            </a:r>
            <a:r>
              <a:rPr lang="en-US" altLang="zh-CN" dirty="0"/>
              <a:t> </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187777" y="954797"/>
            <a:ext cx="2563588" cy="688975"/>
          </a:xfrm>
        </p:spPr>
        <p:txBody>
          <a:bodyPr/>
          <a:lstStyle/>
          <a:p>
            <a:pPr>
              <a:lnSpc>
                <a:spcPct val="150000"/>
              </a:lnSpc>
              <a:spcBef>
                <a:spcPts val="500"/>
              </a:spcBef>
              <a:buNone/>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二、实验步骤</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标题 2"/>
          <p:cNvSpPr>
            <a:spLocks noGrp="1"/>
          </p:cNvSpPr>
          <p:nvPr>
            <p:ph type="title"/>
          </p:nvPr>
        </p:nvSpPr>
        <p:spPr>
          <a:xfrm>
            <a:off x="968375" y="149225"/>
            <a:ext cx="4240439" cy="688975"/>
          </a:xfrm>
        </p:spPr>
        <p:txBody>
          <a:bodyPr anchor="ctr"/>
          <a:lstStyle/>
          <a:p>
            <a:r>
              <a:rPr lang="zh-CN" altLang="en-US" dirty="0">
                <a:solidFill>
                  <a:srgbClr val="002060"/>
                </a:solidFill>
              </a:rPr>
              <a:t>任务二：</a:t>
            </a:r>
            <a:r>
              <a:rPr lang="en-US" altLang="zh-CN" dirty="0">
                <a:solidFill>
                  <a:srgbClr val="002060"/>
                </a:solidFill>
              </a:rPr>
              <a:t>mmap</a:t>
            </a:r>
            <a:endParaRPr lang="zh-CN" altLang="en-US" dirty="0">
              <a:solidFill>
                <a:srgbClr val="002060"/>
              </a:solidFill>
            </a:endParaRPr>
          </a:p>
        </p:txBody>
      </p:sp>
      <p:sp>
        <p:nvSpPr>
          <p:cNvPr id="5" name="文本框 4"/>
          <p:cNvSpPr txBox="1"/>
          <p:nvPr/>
        </p:nvSpPr>
        <p:spPr>
          <a:xfrm>
            <a:off x="187776" y="1856960"/>
            <a:ext cx="9828679" cy="3269613"/>
          </a:xfrm>
          <a:prstGeom prst="rect">
            <a:avLst/>
          </a:prstGeom>
          <a:noFill/>
        </p:spPr>
        <p:txBody>
          <a:bodyPr wrap="square">
            <a:spAutoFit/>
          </a:bodyPr>
          <a:lstStyle/>
          <a:p>
            <a:pPr marL="457200" indent="-457200">
              <a:lnSpc>
                <a:spcPct val="150000"/>
              </a:lnSpc>
              <a:buFont typeface="+mj-lt"/>
              <a:buAutoNum type="arabicPeriod"/>
            </a:pPr>
            <a:r>
              <a:rPr lang="zh-CN" altLang="en-US" sz="2000" dirty="0">
                <a:latin typeface="+mn-ea"/>
              </a:rPr>
              <a:t>修改</a:t>
            </a:r>
            <a:r>
              <a:rPr lang="en-US" altLang="zh-CN" sz="2000" dirty="0" err="1">
                <a:latin typeface="+mn-ea"/>
              </a:rPr>
              <a:t>Makefile</a:t>
            </a:r>
            <a:r>
              <a:rPr lang="zh-CN" altLang="en-US" sz="2000" dirty="0">
                <a:latin typeface="+mn-ea"/>
              </a:rPr>
              <a:t>，添加</a:t>
            </a:r>
            <a:r>
              <a:rPr lang="en-US" altLang="zh-CN" sz="2000" dirty="0">
                <a:latin typeface="+mn-ea"/>
              </a:rPr>
              <a:t>_</a:t>
            </a:r>
            <a:r>
              <a:rPr lang="en-US" altLang="zh-CN" sz="2000" dirty="0" err="1">
                <a:latin typeface="+mn-ea"/>
              </a:rPr>
              <a:t>mmaptest</a:t>
            </a:r>
            <a:r>
              <a:rPr lang="zh-CN" altLang="en-US" sz="2000" dirty="0">
                <a:latin typeface="+mn-ea"/>
              </a:rPr>
              <a:t>到</a:t>
            </a:r>
            <a:r>
              <a:rPr lang="en-US" altLang="zh-CN" sz="2000" dirty="0">
                <a:latin typeface="+mn-ea"/>
              </a:rPr>
              <a:t>UPROGS</a:t>
            </a:r>
            <a:r>
              <a:rPr lang="zh-CN" altLang="en-US" sz="2000" dirty="0">
                <a:latin typeface="+mn-ea"/>
              </a:rPr>
              <a:t>使得测试用例被识别和编译</a:t>
            </a:r>
            <a:endParaRPr lang="en-US" altLang="zh-CN" sz="2000" dirty="0">
              <a:latin typeface="+mn-ea"/>
            </a:endParaRPr>
          </a:p>
          <a:p>
            <a:pPr marL="457200" indent="-457200">
              <a:lnSpc>
                <a:spcPct val="150000"/>
              </a:lnSpc>
              <a:buFont typeface="+mj-lt"/>
              <a:buAutoNum type="arabicPeriod"/>
            </a:pPr>
            <a:r>
              <a:rPr lang="zh-CN" altLang="en-US" sz="2000" dirty="0">
                <a:latin typeface="+mn-ea"/>
              </a:rPr>
              <a:t>在进程定义中添加</a:t>
            </a:r>
            <a:r>
              <a:rPr lang="en-US" altLang="zh-CN" sz="2000" dirty="0">
                <a:latin typeface="+mn-ea"/>
              </a:rPr>
              <a:t>VMA</a:t>
            </a:r>
            <a:r>
              <a:rPr lang="zh-CN" altLang="en-US" sz="2000" dirty="0">
                <a:latin typeface="+mn-ea"/>
              </a:rPr>
              <a:t>数组，在进程管理模块补全它的初始化、复制、释放</a:t>
            </a:r>
            <a:endParaRPr lang="en-US" altLang="zh-CN" sz="2000" dirty="0">
              <a:latin typeface="+mn-ea"/>
            </a:endParaRPr>
          </a:p>
          <a:p>
            <a:pPr marL="457200" indent="-457200">
              <a:lnSpc>
                <a:spcPct val="150000"/>
              </a:lnSpc>
              <a:buFont typeface="+mj-lt"/>
              <a:buAutoNum type="arabicPeriod"/>
            </a:pPr>
            <a:r>
              <a:rPr lang="zh-CN" altLang="en-US" sz="2000" dirty="0">
                <a:latin typeface="+mn-ea"/>
              </a:rPr>
              <a:t>准备</a:t>
            </a:r>
            <a:r>
              <a:rPr lang="en-US" altLang="zh-CN" sz="2000" dirty="0">
                <a:latin typeface="+mn-ea"/>
              </a:rPr>
              <a:t>mmap</a:t>
            </a:r>
            <a:r>
              <a:rPr lang="zh-CN" altLang="en-US" sz="2000" dirty="0">
                <a:latin typeface="+mn-ea"/>
              </a:rPr>
              <a:t>和</a:t>
            </a:r>
            <a:r>
              <a:rPr lang="en-US" altLang="zh-CN" sz="2000" dirty="0">
                <a:latin typeface="+mn-ea"/>
              </a:rPr>
              <a:t>munmap</a:t>
            </a:r>
            <a:r>
              <a:rPr lang="zh-CN" altLang="en-US" sz="2000" dirty="0">
                <a:latin typeface="+mn-ea"/>
              </a:rPr>
              <a:t>系统调用的框架代码</a:t>
            </a:r>
            <a:endParaRPr lang="en-US" altLang="zh-CN" sz="2000" dirty="0">
              <a:latin typeface="+mn-ea"/>
            </a:endParaRPr>
          </a:p>
          <a:p>
            <a:pPr marL="457200" indent="-457200">
              <a:lnSpc>
                <a:spcPct val="150000"/>
              </a:lnSpc>
              <a:buFont typeface="+mj-lt"/>
              <a:buAutoNum type="arabicPeriod"/>
            </a:pPr>
            <a:r>
              <a:rPr lang="zh-CN" altLang="en-US" sz="2000" dirty="0">
                <a:latin typeface="+mn-ea"/>
              </a:rPr>
              <a:t>完成</a:t>
            </a:r>
            <a:r>
              <a:rPr lang="en-US" altLang="zh-CN" sz="2000" dirty="0">
                <a:latin typeface="+mn-ea"/>
              </a:rPr>
              <a:t>mmap</a:t>
            </a:r>
            <a:r>
              <a:rPr lang="zh-CN" altLang="en-US" sz="2000" dirty="0">
                <a:latin typeface="+mn-ea"/>
              </a:rPr>
              <a:t>系统调用，这个系统调用负责操作</a:t>
            </a:r>
            <a:r>
              <a:rPr lang="en-US" altLang="zh-CN" sz="2000" dirty="0">
                <a:latin typeface="+mn-ea"/>
              </a:rPr>
              <a:t>VMA</a:t>
            </a:r>
            <a:r>
              <a:rPr lang="zh-CN" altLang="en-US" sz="2000" dirty="0">
                <a:latin typeface="+mn-ea"/>
              </a:rPr>
              <a:t>，不会申请物理页或打开文件</a:t>
            </a:r>
            <a:endParaRPr lang="en-US" altLang="zh-CN" sz="2000" dirty="0">
              <a:latin typeface="+mn-ea"/>
            </a:endParaRPr>
          </a:p>
          <a:p>
            <a:pPr marL="457200" indent="-457200">
              <a:lnSpc>
                <a:spcPct val="150000"/>
              </a:lnSpc>
              <a:buFont typeface="+mj-lt"/>
              <a:buAutoNum type="arabicPeriod"/>
            </a:pPr>
            <a:r>
              <a:rPr lang="zh-CN" altLang="en-US" sz="2000" dirty="0">
                <a:latin typeface="+mn-ea"/>
              </a:rPr>
              <a:t>在</a:t>
            </a:r>
            <a:r>
              <a:rPr lang="en-US" altLang="zh-CN" sz="2000" dirty="0">
                <a:latin typeface="+mn-ea"/>
              </a:rPr>
              <a:t>trap</a:t>
            </a:r>
            <a:r>
              <a:rPr lang="zh-CN" altLang="en-US" sz="2000" dirty="0">
                <a:latin typeface="+mn-ea"/>
              </a:rPr>
              <a:t>模块增加缺页异常处理，若发现访问的地址在</a:t>
            </a:r>
            <a:r>
              <a:rPr lang="en-US" altLang="zh-CN" sz="2000" dirty="0">
                <a:latin typeface="+mn-ea"/>
              </a:rPr>
              <a:t>VMA</a:t>
            </a:r>
            <a:r>
              <a:rPr lang="zh-CN" altLang="en-US" sz="2000" dirty="0">
                <a:latin typeface="+mn-ea"/>
              </a:rPr>
              <a:t>区域内，则申请物理页、读入文件、并完成物理页的映射</a:t>
            </a:r>
            <a:endParaRPr lang="en-US" altLang="zh-CN" sz="2000" dirty="0">
              <a:latin typeface="+mn-ea"/>
            </a:endParaRPr>
          </a:p>
          <a:p>
            <a:pPr marL="457200" indent="-457200">
              <a:lnSpc>
                <a:spcPct val="150000"/>
              </a:lnSpc>
              <a:buFont typeface="+mj-lt"/>
              <a:buAutoNum type="arabicPeriod"/>
            </a:pPr>
            <a:r>
              <a:rPr lang="zh-CN" altLang="en-US" sz="2000" dirty="0">
                <a:latin typeface="+mn-ea"/>
              </a:rPr>
              <a:t>完成</a:t>
            </a:r>
            <a:r>
              <a:rPr lang="en-US" altLang="zh-CN" sz="2000" dirty="0">
                <a:latin typeface="+mn-ea"/>
              </a:rPr>
              <a:t>munmap</a:t>
            </a:r>
            <a:r>
              <a:rPr lang="zh-CN" altLang="en-US" sz="2000" dirty="0">
                <a:latin typeface="+mn-ea"/>
              </a:rPr>
              <a:t>系统调用，这个系统调用负责消除上面两步的影响</a:t>
            </a:r>
            <a:endParaRPr lang="zh-CN" altLang="en-US" sz="2000" dirty="0">
              <a:latin typeface="+mn-ea"/>
            </a:endParaRPr>
          </a:p>
        </p:txBody>
      </p:sp>
      <p:sp>
        <p:nvSpPr>
          <p:cNvPr id="4" name="文本框 3"/>
          <p:cNvSpPr txBox="1"/>
          <p:nvPr/>
        </p:nvSpPr>
        <p:spPr>
          <a:xfrm>
            <a:off x="187776" y="6339443"/>
            <a:ext cx="7919361" cy="369332"/>
          </a:xfrm>
          <a:prstGeom prst="rect">
            <a:avLst/>
          </a:prstGeom>
          <a:noFill/>
        </p:spPr>
        <p:txBody>
          <a:bodyPr wrap="square">
            <a:spAutoFit/>
          </a:bodyPr>
          <a:lstStyle/>
          <a:p>
            <a:r>
              <a:rPr lang="zh-CN" altLang="en-US" dirty="0"/>
              <a:t>更多详细资料：https://pdos.csail.mit.edu/6.828/2020/labs/mmap.html</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4240439" cy="688975"/>
          </a:xfrm>
        </p:spPr>
        <p:txBody>
          <a:bodyPr anchor="ctr"/>
          <a:lstStyle/>
          <a:p>
            <a:r>
              <a:rPr lang="zh-CN" altLang="en-US" dirty="0">
                <a:solidFill>
                  <a:srgbClr val="002060"/>
                </a:solidFill>
              </a:rPr>
              <a:t>任务二：</a:t>
            </a:r>
            <a:r>
              <a:rPr lang="en-US" altLang="zh-CN" dirty="0">
                <a:solidFill>
                  <a:srgbClr val="002060"/>
                </a:solidFill>
              </a:rPr>
              <a:t>mmap</a:t>
            </a:r>
            <a:endParaRPr lang="zh-CN" altLang="en-US" dirty="0">
              <a:solidFill>
                <a:srgbClr val="002060"/>
              </a:solidFill>
            </a:endParaRPr>
          </a:p>
        </p:txBody>
      </p:sp>
      <p:sp>
        <p:nvSpPr>
          <p:cNvPr id="4" name="文本框 3"/>
          <p:cNvSpPr txBox="1"/>
          <p:nvPr/>
        </p:nvSpPr>
        <p:spPr>
          <a:xfrm>
            <a:off x="891178" y="1018443"/>
            <a:ext cx="4082668" cy="461665"/>
          </a:xfrm>
          <a:prstGeom prst="rect">
            <a:avLst/>
          </a:prstGeom>
          <a:noFill/>
        </p:spPr>
        <p:txBody>
          <a:bodyPr wrap="square" rtlCol="0">
            <a:spAutoFit/>
          </a:bodyPr>
          <a:lstStyle/>
          <a:p>
            <a:r>
              <a:rPr lang="zh-CN" altLang="en-US" sz="2400" dirty="0"/>
              <a:t>思考一：进程中</a:t>
            </a:r>
            <a:r>
              <a:rPr lang="en-US" altLang="zh-CN" sz="2400" dirty="0"/>
              <a:t>VMA</a:t>
            </a:r>
            <a:r>
              <a:rPr lang="zh-CN" altLang="en-US" sz="2400" dirty="0"/>
              <a:t>的定义</a:t>
            </a:r>
            <a:endParaRPr lang="zh-CN" altLang="en-US" sz="2400" dirty="0"/>
          </a:p>
        </p:txBody>
      </p:sp>
      <p:sp>
        <p:nvSpPr>
          <p:cNvPr id="10" name="文本框 9"/>
          <p:cNvSpPr txBox="1"/>
          <p:nvPr/>
        </p:nvSpPr>
        <p:spPr>
          <a:xfrm>
            <a:off x="6662057" y="1018443"/>
            <a:ext cx="4210450" cy="461665"/>
          </a:xfrm>
          <a:prstGeom prst="rect">
            <a:avLst/>
          </a:prstGeom>
          <a:noFill/>
        </p:spPr>
        <p:txBody>
          <a:bodyPr wrap="square" rtlCol="0">
            <a:spAutoFit/>
          </a:bodyPr>
          <a:lstStyle/>
          <a:p>
            <a:r>
              <a:rPr lang="zh-CN" altLang="en-US" sz="2400" dirty="0"/>
              <a:t>思考二：</a:t>
            </a:r>
            <a:r>
              <a:rPr lang="en-US" altLang="zh-CN" sz="2400" dirty="0"/>
              <a:t>SHARED</a:t>
            </a:r>
            <a:r>
              <a:rPr lang="zh-CN" altLang="en-US" sz="2400" dirty="0"/>
              <a:t>与</a:t>
            </a:r>
            <a:r>
              <a:rPr lang="en-US" altLang="zh-CN" sz="2400" dirty="0"/>
              <a:t>PRIVATE</a:t>
            </a:r>
            <a:endParaRPr lang="zh-CN" altLang="en-US" sz="2400" dirty="0"/>
          </a:p>
        </p:txBody>
      </p:sp>
      <p:pic>
        <p:nvPicPr>
          <p:cNvPr id="5" name="图片 4"/>
          <p:cNvPicPr>
            <a:picLocks noChangeAspect="1"/>
          </p:cNvPicPr>
          <p:nvPr/>
        </p:nvPicPr>
        <p:blipFill>
          <a:blip r:embed="rId1"/>
          <a:stretch>
            <a:fillRect/>
          </a:stretch>
        </p:blipFill>
        <p:spPr>
          <a:xfrm>
            <a:off x="891178" y="1578686"/>
            <a:ext cx="4921025" cy="3188701"/>
          </a:xfrm>
          <a:prstGeom prst="rect">
            <a:avLst/>
          </a:prstGeom>
        </p:spPr>
      </p:pic>
      <p:pic>
        <p:nvPicPr>
          <p:cNvPr id="7" name="图片 6"/>
          <p:cNvPicPr>
            <a:picLocks noChangeAspect="1"/>
          </p:cNvPicPr>
          <p:nvPr/>
        </p:nvPicPr>
        <p:blipFill>
          <a:blip r:embed="rId2"/>
          <a:stretch>
            <a:fillRect/>
          </a:stretch>
        </p:blipFill>
        <p:spPr>
          <a:xfrm>
            <a:off x="891178" y="4855980"/>
            <a:ext cx="4921025" cy="1354107"/>
          </a:xfrm>
          <a:prstGeom prst="rect">
            <a:avLst/>
          </a:prstGeom>
        </p:spPr>
      </p:pic>
      <p:sp>
        <p:nvSpPr>
          <p:cNvPr id="11" name="文本框 10"/>
          <p:cNvSpPr txBox="1"/>
          <p:nvPr/>
        </p:nvSpPr>
        <p:spPr>
          <a:xfrm>
            <a:off x="692715" y="6308665"/>
            <a:ext cx="5317949" cy="400110"/>
          </a:xfrm>
          <a:prstGeom prst="rect">
            <a:avLst/>
          </a:prstGeom>
          <a:noFill/>
        </p:spPr>
        <p:txBody>
          <a:bodyPr wrap="square" rtlCol="0">
            <a:spAutoFit/>
          </a:bodyPr>
          <a:lstStyle/>
          <a:p>
            <a:r>
              <a:rPr lang="zh-CN" altLang="en-US" sz="2000" dirty="0"/>
              <a:t>基本就是按照</a:t>
            </a:r>
            <a:r>
              <a:rPr lang="en-US" altLang="zh-CN" sz="2000" dirty="0"/>
              <a:t>mmap</a:t>
            </a:r>
            <a:r>
              <a:rPr lang="zh-CN" altLang="en-US" sz="2000" dirty="0"/>
              <a:t>系统调用传入的参数设计</a:t>
            </a:r>
            <a:endParaRPr lang="zh-CN" altLang="en-US" sz="2000" dirty="0"/>
          </a:p>
        </p:txBody>
      </p:sp>
      <p:sp>
        <p:nvSpPr>
          <p:cNvPr id="12" name="文本框 11"/>
          <p:cNvSpPr txBox="1"/>
          <p:nvPr/>
        </p:nvSpPr>
        <p:spPr>
          <a:xfrm>
            <a:off x="6662057" y="1578687"/>
            <a:ext cx="4921025" cy="2807948"/>
          </a:xfrm>
          <a:prstGeom prst="rect">
            <a:avLst/>
          </a:prstGeom>
          <a:noFill/>
        </p:spPr>
        <p:txBody>
          <a:bodyPr wrap="square" rtlCol="0">
            <a:spAutoFit/>
          </a:bodyPr>
          <a:lstStyle/>
          <a:p>
            <a:pPr>
              <a:lnSpc>
                <a:spcPct val="150000"/>
              </a:lnSpc>
            </a:pPr>
            <a:r>
              <a:rPr lang="en-US" altLang="zh-CN" sz="2000" dirty="0"/>
              <a:t>mmap</a:t>
            </a:r>
            <a:r>
              <a:rPr lang="zh-CN" altLang="en-US" sz="2000" dirty="0"/>
              <a:t>传入的</a:t>
            </a:r>
            <a:r>
              <a:rPr lang="en-US" altLang="zh-CN" sz="2000" dirty="0"/>
              <a:t>flags</a:t>
            </a:r>
            <a:r>
              <a:rPr lang="zh-CN" altLang="en-US" sz="2000" dirty="0"/>
              <a:t>分为</a:t>
            </a:r>
            <a:r>
              <a:rPr lang="en-US" altLang="zh-CN" sz="2000" dirty="0"/>
              <a:t>MAP_SHARED</a:t>
            </a:r>
            <a:r>
              <a:rPr lang="zh-CN" altLang="en-US" sz="2000" dirty="0"/>
              <a:t>和</a:t>
            </a:r>
            <a:r>
              <a:rPr lang="en-US" altLang="zh-CN" sz="2000" dirty="0"/>
              <a:t>MAP_PRIVATE</a:t>
            </a:r>
            <a:r>
              <a:rPr lang="zh-CN" altLang="en-US" sz="2000" dirty="0"/>
              <a:t>两种情况：</a:t>
            </a:r>
            <a:endParaRPr lang="en-US" altLang="zh-CN" sz="2000" dirty="0"/>
          </a:p>
          <a:p>
            <a:pPr marL="342900" indent="-342900">
              <a:lnSpc>
                <a:spcPct val="150000"/>
              </a:lnSpc>
              <a:buFont typeface="Arial" panose="020B0604020202020204" pitchFamily="34" charset="0"/>
              <a:buChar char="•"/>
            </a:pPr>
            <a:r>
              <a:rPr lang="zh-CN" altLang="en-US" sz="2000" dirty="0"/>
              <a:t>对于</a:t>
            </a:r>
            <a:r>
              <a:rPr lang="en-US" altLang="zh-CN" sz="2000" dirty="0"/>
              <a:t>MAP_SHAREAD</a:t>
            </a:r>
            <a:r>
              <a:rPr lang="zh-CN" altLang="en-US" sz="2000" dirty="0"/>
              <a:t>的页面，在</a:t>
            </a:r>
            <a:r>
              <a:rPr lang="en-US" altLang="zh-CN" sz="2000" dirty="0"/>
              <a:t>munmap</a:t>
            </a:r>
            <a:r>
              <a:rPr lang="zh-CN" altLang="en-US" sz="2000" dirty="0"/>
              <a:t>时要写回磁盘</a:t>
            </a:r>
            <a:endParaRPr lang="en-US" altLang="zh-CN" sz="2000" dirty="0"/>
          </a:p>
          <a:p>
            <a:pPr marL="342900" indent="-342900">
              <a:lnSpc>
                <a:spcPct val="150000"/>
              </a:lnSpc>
              <a:buFont typeface="Arial" panose="020B0604020202020204" pitchFamily="34" charset="0"/>
              <a:buChar char="•"/>
            </a:pPr>
            <a:r>
              <a:rPr lang="zh-CN" altLang="en-US" sz="2000" dirty="0"/>
              <a:t>对于</a:t>
            </a:r>
            <a:r>
              <a:rPr lang="en-US" altLang="zh-CN" sz="2000" dirty="0"/>
              <a:t>MAP_PRIVATE</a:t>
            </a:r>
            <a:r>
              <a:rPr lang="zh-CN" altLang="en-US" sz="2000" dirty="0"/>
              <a:t>的页面，无需写回磁盘，就地释放即可</a:t>
            </a:r>
            <a:endParaRPr lang="zh-CN"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4240439" cy="688975"/>
          </a:xfrm>
        </p:spPr>
        <p:txBody>
          <a:bodyPr anchor="ctr"/>
          <a:lstStyle/>
          <a:p>
            <a:r>
              <a:rPr lang="zh-CN" altLang="en-US" dirty="0">
                <a:solidFill>
                  <a:srgbClr val="002060"/>
                </a:solidFill>
              </a:rPr>
              <a:t>任务二：</a:t>
            </a:r>
            <a:r>
              <a:rPr lang="en-US" altLang="zh-CN" dirty="0">
                <a:solidFill>
                  <a:srgbClr val="002060"/>
                </a:solidFill>
              </a:rPr>
              <a:t>mmap</a:t>
            </a:r>
            <a:endParaRPr lang="zh-CN" altLang="en-US" dirty="0">
              <a:solidFill>
                <a:srgbClr val="002060"/>
              </a:solidFill>
            </a:endParaRPr>
          </a:p>
        </p:txBody>
      </p:sp>
      <p:sp>
        <p:nvSpPr>
          <p:cNvPr id="4" name="文本框 3"/>
          <p:cNvSpPr txBox="1"/>
          <p:nvPr/>
        </p:nvSpPr>
        <p:spPr>
          <a:xfrm>
            <a:off x="287995" y="1220304"/>
            <a:ext cx="3386382" cy="461665"/>
          </a:xfrm>
          <a:prstGeom prst="rect">
            <a:avLst/>
          </a:prstGeom>
          <a:noFill/>
        </p:spPr>
        <p:txBody>
          <a:bodyPr wrap="square" rtlCol="0">
            <a:spAutoFit/>
          </a:bodyPr>
          <a:lstStyle/>
          <a:p>
            <a:r>
              <a:rPr lang="zh-CN" altLang="en-US" sz="2400" dirty="0"/>
              <a:t>思考三：懒惰的</a:t>
            </a:r>
            <a:r>
              <a:rPr lang="en-US" altLang="zh-CN" sz="2400" dirty="0"/>
              <a:t>mmap</a:t>
            </a:r>
            <a:endParaRPr lang="zh-CN" altLang="en-US" sz="2400" dirty="0"/>
          </a:p>
        </p:txBody>
      </p:sp>
      <p:sp>
        <p:nvSpPr>
          <p:cNvPr id="2" name="文本框 1"/>
          <p:cNvSpPr txBox="1"/>
          <p:nvPr/>
        </p:nvSpPr>
        <p:spPr>
          <a:xfrm>
            <a:off x="287995" y="1794193"/>
            <a:ext cx="5500409" cy="3269613"/>
          </a:xfrm>
          <a:prstGeom prst="rect">
            <a:avLst/>
          </a:prstGeom>
          <a:noFill/>
        </p:spPr>
        <p:txBody>
          <a:bodyPr wrap="square" rtlCol="0">
            <a:spAutoFit/>
          </a:bodyPr>
          <a:lstStyle/>
          <a:p>
            <a:pPr>
              <a:lnSpc>
                <a:spcPct val="150000"/>
              </a:lnSpc>
            </a:pPr>
            <a:r>
              <a:rPr lang="zh-CN" altLang="en-US" sz="2000" dirty="0"/>
              <a:t>对于一个</a:t>
            </a:r>
            <a:r>
              <a:rPr lang="en-US" altLang="zh-CN" sz="2000" dirty="0"/>
              <a:t>mmap</a:t>
            </a:r>
            <a:r>
              <a:rPr lang="zh-CN" altLang="en-US" sz="2000" dirty="0"/>
              <a:t>操作，直觉上可以分为这几步：</a:t>
            </a:r>
            <a:endParaRPr lang="en-US" altLang="zh-CN" sz="2000" dirty="0"/>
          </a:p>
          <a:p>
            <a:pPr marL="457200" indent="-457200">
              <a:lnSpc>
                <a:spcPct val="150000"/>
              </a:lnSpc>
              <a:buFont typeface="+mj-lt"/>
              <a:buAutoNum type="arabicPeriod"/>
            </a:pPr>
            <a:r>
              <a:rPr lang="zh-CN" altLang="en-US" sz="2000" dirty="0"/>
              <a:t>在</a:t>
            </a:r>
            <a:r>
              <a:rPr lang="en-US" altLang="zh-CN" sz="2000" dirty="0"/>
              <a:t>proc</a:t>
            </a:r>
            <a:r>
              <a:rPr lang="zh-CN" altLang="en-US" sz="2000" dirty="0"/>
              <a:t>的</a:t>
            </a:r>
            <a:r>
              <a:rPr lang="en-US" altLang="zh-CN" sz="2000" dirty="0" err="1"/>
              <a:t>vmalist</a:t>
            </a:r>
            <a:r>
              <a:rPr lang="zh-CN" altLang="en-US" sz="2000" dirty="0"/>
              <a:t>里寻找一个空闲的</a:t>
            </a:r>
            <a:r>
              <a:rPr lang="en-US" altLang="zh-CN" sz="2000" dirty="0" err="1"/>
              <a:t>vma</a:t>
            </a:r>
            <a:r>
              <a:rPr lang="zh-CN" altLang="en-US" sz="2000" dirty="0"/>
              <a:t>，填写合适的值以记录这块映射空间</a:t>
            </a:r>
            <a:endParaRPr lang="en-US" altLang="zh-CN" sz="2000" dirty="0"/>
          </a:p>
          <a:p>
            <a:pPr marL="457200" indent="-457200">
              <a:lnSpc>
                <a:spcPct val="150000"/>
              </a:lnSpc>
              <a:buFont typeface="+mj-lt"/>
              <a:buAutoNum type="arabicPeriod"/>
            </a:pPr>
            <a:r>
              <a:rPr lang="zh-CN" altLang="en-US" sz="2000" dirty="0"/>
              <a:t>申请一个或多个物理页作为存储空间</a:t>
            </a:r>
            <a:endParaRPr lang="en-US" altLang="zh-CN" sz="2000" dirty="0"/>
          </a:p>
          <a:p>
            <a:pPr marL="457200" indent="-457200">
              <a:lnSpc>
                <a:spcPct val="150000"/>
              </a:lnSpc>
              <a:buFont typeface="+mj-lt"/>
              <a:buAutoNum type="arabicPeriod"/>
            </a:pPr>
            <a:r>
              <a:rPr lang="zh-CN" altLang="en-US" sz="2000" dirty="0"/>
              <a:t>调用读文件的函数读出目标文件的内容，存放至之前申请的物理页</a:t>
            </a:r>
            <a:endParaRPr lang="en-US" altLang="zh-CN" sz="2000" dirty="0"/>
          </a:p>
          <a:p>
            <a:pPr marL="457200" indent="-457200">
              <a:lnSpc>
                <a:spcPct val="150000"/>
              </a:lnSpc>
              <a:buFont typeface="+mj-lt"/>
              <a:buAutoNum type="arabicPeriod"/>
            </a:pPr>
            <a:r>
              <a:rPr lang="zh-CN" altLang="en-US" sz="2000" dirty="0"/>
              <a:t>将这些物理页映射到用户的地址空间</a:t>
            </a:r>
            <a:endParaRPr lang="en-US" altLang="zh-CN" sz="2000" dirty="0"/>
          </a:p>
        </p:txBody>
      </p:sp>
      <p:sp>
        <p:nvSpPr>
          <p:cNvPr id="6" name="文本框 5"/>
          <p:cNvSpPr txBox="1"/>
          <p:nvPr/>
        </p:nvSpPr>
        <p:spPr>
          <a:xfrm>
            <a:off x="6573424" y="2268418"/>
            <a:ext cx="5500409" cy="2807948"/>
          </a:xfrm>
          <a:prstGeom prst="rect">
            <a:avLst/>
          </a:prstGeom>
          <a:noFill/>
        </p:spPr>
        <p:txBody>
          <a:bodyPr wrap="square" rtlCol="0">
            <a:spAutoFit/>
          </a:bodyPr>
          <a:lstStyle/>
          <a:p>
            <a:pPr>
              <a:lnSpc>
                <a:spcPct val="150000"/>
              </a:lnSpc>
            </a:pPr>
            <a:r>
              <a:rPr lang="zh-CN" altLang="en-US" sz="2000" dirty="0"/>
              <a:t>考虑到内存空间相较于磁盘空间往往是更小的，可以考虑借鉴之前的</a:t>
            </a:r>
            <a:r>
              <a:rPr lang="en-US" altLang="zh-CN" sz="2000" dirty="0"/>
              <a:t>COW</a:t>
            </a:r>
            <a:r>
              <a:rPr lang="zh-CN" altLang="en-US" sz="2000" dirty="0"/>
              <a:t>和懒分配策略，在</a:t>
            </a:r>
            <a:r>
              <a:rPr lang="en-US" altLang="zh-CN" sz="2000" dirty="0"/>
              <a:t>mmap</a:t>
            </a:r>
            <a:r>
              <a:rPr lang="zh-CN" altLang="en-US" sz="2000" dirty="0"/>
              <a:t>函数里只完成第一步，后面三个步骤则放入</a:t>
            </a:r>
            <a:r>
              <a:rPr lang="en-US" altLang="zh-CN" sz="2000" dirty="0"/>
              <a:t>trap</a:t>
            </a:r>
            <a:r>
              <a:rPr lang="zh-CN" altLang="en-US" sz="2000" dirty="0"/>
              <a:t>的缺页异常处理中。这样只在必要时进行耗时的磁盘读操作和占用内存空间的物理页分配操作。</a:t>
            </a:r>
            <a:endParaRPr lang="zh-CN"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矩形 3"/>
          <p:cNvSpPr>
            <a:spLocks noChangeArrowheads="1"/>
          </p:cNvSpPr>
          <p:nvPr/>
        </p:nvSpPr>
        <p:spPr bwMode="auto">
          <a:xfrm>
            <a:off x="0" y="2525862"/>
            <a:ext cx="12192000" cy="2046288"/>
          </a:xfrm>
          <a:prstGeom prst="rect">
            <a:avLst/>
          </a:prstGeom>
          <a:solidFill>
            <a:srgbClr val="004070">
              <a:alpha val="89803"/>
            </a:srgbClr>
          </a:solidFill>
          <a:ln>
            <a:noFill/>
          </a:ln>
        </p:spPr>
        <p:txBody>
          <a:bodyPr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Thank</a:t>
            </a: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 </a:t>
            </a: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You</a:t>
            </a:r>
            <a:endPar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endParaRPr>
          </a:p>
        </p:txBody>
      </p:sp>
      <p:sp>
        <p:nvSpPr>
          <p:cNvPr id="6147" name="标题 2"/>
          <p:cNvSpPr>
            <a:spLocks noGrp="1" noChangeArrowheads="1"/>
          </p:cNvSpPr>
          <p:nvPr>
            <p:custDataLst>
              <p:tags r:id="rId1"/>
            </p:custDataLst>
          </p:nvPr>
        </p:nvSpPr>
        <p:spPr>
          <a:xfrm>
            <a:off x="807085" y="0"/>
            <a:ext cx="3253105" cy="933450"/>
          </a:xfrm>
          <a:prstGeom prst="rect">
            <a:avLst/>
          </a:prstGeom>
          <a:noFill/>
          <a:ln>
            <a:noFill/>
          </a:ln>
        </p:spPr>
        <p:txBody>
          <a:bodyPr vert="horz" wrap="square" lIns="91440" tIns="45720" rIns="91440" bIns="45720" numCol="1" anchor="ctr" anchorCtr="1" compatLnSpc="1"/>
          <a:lst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a:lstStyle>
          <a:p>
            <a:pPr algn="l" eaLnBrk="1" latinLnBrk="0" hangingPunct="1">
              <a:lnSpc>
                <a:spcPct val="150000"/>
              </a:lnSpc>
            </a:pPr>
            <a:r>
              <a:rPr lang="zh-CN" altLang="en-US" dirty="0">
                <a:latin typeface="Arial" panose="020B0604020202020204" pitchFamily="34" charset="0"/>
                <a:cs typeface="Arial" panose="020B0604020202020204" pitchFamily="34" charset="0"/>
              </a:rPr>
              <a:t>操作系统实验</a:t>
            </a:r>
            <a:endParaRPr lang="zh-CN" altLang="en-US" dirty="0">
              <a:latin typeface="Arial" panose="020B0604020202020204" pitchFamily="34" charset="0"/>
              <a:cs typeface="Arial" panose="020B0604020202020204" pitchFamily="34" charset="0"/>
            </a:endParaRPr>
          </a:p>
        </p:txBody>
      </p:sp>
    </p:spTree>
  </p:cSld>
  <p:clrMapOvr>
    <a:masterClrMapping/>
  </p:clrMapOvr>
  <p:transition spd="slow"/>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PP_MARK_KEY" val="7894b92a-c960-47a7-99ec-6e4dfd8dd848"/>
  <p:tag name="COMMONDATA" val="eyJoZGlkIjoiM2QwZjk5MTQzMjQyNDE0YjBkMGY0YjdiMzAyZmE2N2MifQ=="/>
</p:tagLst>
</file>

<file path=ppt/theme/theme1.xml><?xml version="1.0" encoding="utf-8"?>
<a:theme xmlns:a="http://schemas.openxmlformats.org/drawingml/2006/main" name="主题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2470</Words>
  <Application>WPS 演示</Application>
  <PresentationFormat>宽屏</PresentationFormat>
  <Paragraphs>294</Paragraphs>
  <Slides>10</Slides>
  <Notes>10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10</vt:i4>
      </vt:variant>
    </vt:vector>
  </HeadingPairs>
  <TitlesOfParts>
    <vt:vector size="20" baseType="lpstr">
      <vt:lpstr>Arial</vt:lpstr>
      <vt:lpstr>宋体</vt:lpstr>
      <vt:lpstr>Wingdings</vt:lpstr>
      <vt:lpstr>Calibri</vt:lpstr>
      <vt:lpstr>微软雅黑</vt:lpstr>
      <vt:lpstr>Times New Roman</vt:lpstr>
      <vt:lpstr>等线</vt:lpstr>
      <vt:lpstr>Arial Unicode MS</vt:lpstr>
      <vt:lpstr>主题1</vt:lpstr>
      <vt:lpstr>1_主题1</vt:lpstr>
      <vt:lpstr>操作系统实验</vt:lpstr>
      <vt:lpstr>任务一：File System</vt:lpstr>
      <vt:lpstr>任务一：File System</vt:lpstr>
      <vt:lpstr>任务一：File System</vt:lpstr>
      <vt:lpstr>任务一：File System</vt:lpstr>
      <vt:lpstr>任务二：mmap</vt:lpstr>
      <vt:lpstr>任务二：mmap</vt:lpstr>
      <vt:lpstr>任务二：mmap</vt:lpstr>
      <vt:lpstr>任务二：mmap</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LWT</dc:creator>
  <cp:lastModifiedBy>时时.</cp:lastModifiedBy>
  <cp:revision>1888</cp:revision>
  <dcterms:created xsi:type="dcterms:W3CDTF">2024-03-22T09:23:00Z</dcterms:created>
  <dcterms:modified xsi:type="dcterms:W3CDTF">2025-12-15T05:28:09Z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59FEE3F1CBC941D8828144927225C27B_13</vt:lpwstr>
  </property>
  <property fmtid="{D5CDD505-2E9C-101B-9397-08002B2CF9AE}" pid="3" name="KSOProductBuildVer">
    <vt:lpwstr>2052-12.1.0.24034</vt:lpwstr>
  </property>
</Properties>
</file>