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42"/>
  </p:handoutMasterIdLst>
  <p:sldIdLst>
    <p:sldId id="522" r:id="rId4"/>
    <p:sldId id="527" r:id="rId6"/>
    <p:sldId id="713" r:id="rId7"/>
    <p:sldId id="793" r:id="rId8"/>
    <p:sldId id="716" r:id="rId9"/>
    <p:sldId id="763" r:id="rId10"/>
    <p:sldId id="767" r:id="rId11"/>
    <p:sldId id="768" r:id="rId12"/>
    <p:sldId id="769" r:id="rId13"/>
    <p:sldId id="770" r:id="rId14"/>
    <p:sldId id="791" r:id="rId15"/>
    <p:sldId id="771" r:id="rId16"/>
    <p:sldId id="792" r:id="rId17"/>
    <p:sldId id="764" r:id="rId18"/>
    <p:sldId id="765" r:id="rId19"/>
    <p:sldId id="766" r:id="rId20"/>
    <p:sldId id="795" r:id="rId21"/>
    <p:sldId id="773" r:id="rId22"/>
    <p:sldId id="774" r:id="rId23"/>
    <p:sldId id="775" r:id="rId24"/>
    <p:sldId id="776" r:id="rId25"/>
    <p:sldId id="779" r:id="rId26"/>
    <p:sldId id="796" r:id="rId27"/>
    <p:sldId id="780" r:id="rId28"/>
    <p:sldId id="782" r:id="rId29"/>
    <p:sldId id="783" r:id="rId30"/>
    <p:sldId id="784" r:id="rId31"/>
    <p:sldId id="781" r:id="rId32"/>
    <p:sldId id="785" r:id="rId33"/>
    <p:sldId id="797" r:id="rId34"/>
    <p:sldId id="786" r:id="rId35"/>
    <p:sldId id="788" r:id="rId36"/>
    <p:sldId id="787" r:id="rId37"/>
    <p:sldId id="789" r:id="rId38"/>
    <p:sldId id="790" r:id="rId39"/>
    <p:sldId id="801" r:id="rId40"/>
    <p:sldId id="478" r:id="rId41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FBAC4761-0095-4685-B9DA-229890EFEBB0}">
          <p14:sldIdLst>
            <p14:sldId id="522"/>
            <p14:sldId id="527"/>
            <p14:sldId id="713"/>
            <p14:sldId id="793"/>
            <p14:sldId id="716"/>
            <p14:sldId id="763"/>
            <p14:sldId id="767"/>
            <p14:sldId id="768"/>
            <p14:sldId id="769"/>
            <p14:sldId id="770"/>
            <p14:sldId id="791"/>
            <p14:sldId id="771"/>
            <p14:sldId id="792"/>
            <p14:sldId id="764"/>
            <p14:sldId id="765"/>
            <p14:sldId id="766"/>
            <p14:sldId id="795"/>
            <p14:sldId id="773"/>
            <p14:sldId id="774"/>
            <p14:sldId id="775"/>
            <p14:sldId id="776"/>
            <p14:sldId id="779"/>
            <p14:sldId id="796"/>
            <p14:sldId id="780"/>
            <p14:sldId id="782"/>
            <p14:sldId id="783"/>
            <p14:sldId id="784"/>
            <p14:sldId id="781"/>
            <p14:sldId id="785"/>
            <p14:sldId id="797"/>
            <p14:sldId id="786"/>
            <p14:sldId id="788"/>
            <p14:sldId id="787"/>
            <p14:sldId id="789"/>
            <p14:sldId id="790"/>
            <p14:sldId id="801"/>
            <p14:sldId id="4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7A"/>
    <a:srgbClr val="990000"/>
    <a:srgbClr val="9F1010"/>
    <a:srgbClr val="A96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6331" autoAdjust="0"/>
  </p:normalViewPr>
  <p:slideViewPr>
    <p:cSldViewPr snapToGrid="0">
      <p:cViewPr varScale="1">
        <p:scale>
          <a:sx n="109" d="100"/>
          <a:sy n="109" d="100"/>
        </p:scale>
        <p:origin x="5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6" Type="http://schemas.openxmlformats.org/officeDocument/2006/relationships/tags" Target="tags/tag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44E5-6B83-484E-B06E-5269D044D4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45C01-8370-4DA3-8DA5-A0AE7AECF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-1" y="1869090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实验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endParaRPr lang="en-US" altLang="zh-CN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eaLnBrk="1" hangingPunct="1">
              <a:defRPr/>
            </a:pP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Multithreading and Locks</a:t>
            </a:r>
            <a:endParaRPr lang="zh-CN" alt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7085" y="0"/>
            <a:ext cx="3253105" cy="933450"/>
          </a:xfrm>
        </p:spPr>
        <p:txBody>
          <a:bodyPr anchor="ctr" anchorCtr="1"/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oup 8"/>
          <p:cNvGraphicFramePr>
            <a:graphicFrameLocks noGrp="1"/>
          </p:cNvGraphicFramePr>
          <p:nvPr/>
        </p:nvGraphicFramePr>
        <p:xfrm>
          <a:off x="2586036" y="5338561"/>
          <a:ext cx="7019925" cy="816054"/>
        </p:xfrm>
        <a:graphic>
          <a:graphicData uri="http://schemas.openxmlformats.org/drawingml/2006/table">
            <a:tbl>
              <a:tblPr/>
              <a:tblGrid>
                <a:gridCol w="7019925"/>
              </a:tblGrid>
              <a:tr h="580292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2025.12.01</a:t>
                      </a:r>
                      <a:endParaRPr kumimoji="0" lang="en-US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1459" marR="91459" marT="45664" marB="4566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1962" y="838200"/>
            <a:ext cx="11268075" cy="60198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实验内容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Uthread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: switching between threads 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线程间切换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补全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uthread.c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，完成用户态线程功能的实现。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threads 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使用线程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分析并解决一个哈希表操作的例子内，由于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race-condition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导致的数据丢失的问题。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Barrier(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屏障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利用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pthread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提供的条件变量方法，实现同步屏障机制。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</a:rPr>
              <a:t>实验一：</a:t>
            </a:r>
            <a:r>
              <a:rPr lang="en-US" altLang="zh-CN" dirty="0">
                <a:solidFill>
                  <a:srgbClr val="002060"/>
                </a:solidFill>
              </a:rPr>
              <a:t>Multithreading</a:t>
            </a:r>
            <a:r>
              <a:rPr lang="zh-CN" altLang="en-US" dirty="0">
                <a:solidFill>
                  <a:srgbClr val="002060"/>
                </a:solidFill>
              </a:rPr>
              <a:t>（多线程）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1962" y="932108"/>
            <a:ext cx="11268075" cy="5527675"/>
          </a:xfrm>
        </p:spPr>
        <p:txBody>
          <a:bodyPr/>
          <a:lstStyle/>
          <a:p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线程的概念</a:t>
            </a:r>
            <a:endParaRPr kumimoji="1" lang="en-US" altLang="zh-CN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进程的切换我们需要，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PCB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保存当前进程状态，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指针和映射表的切换。那么有没有这种情况，我们只需要一份资源，却要用这份资源来做很多事。这种情况由于只需要一份内存资源，所以只需要一个映射表就够了。这就产生了线程的概念，就是只切换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指针却共用同一份内存。</a:t>
            </a:r>
            <a:endParaRPr kumimoji="1" lang="en-US" altLang="zh-CN" sz="18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用户级线程切换</a:t>
            </a:r>
            <a:endParaRPr kumimoji="1" lang="en-US" altLang="zh-CN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一般来说，线程的切换是在内核态下完成的，所以用户态中发起线程的切换会中断，进入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内核态，所以需要内核的支持。但是其实用户级的线程切换时，不需要内核的支持。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线程间是怎么切换的。就像进程的切换一样，我们需要保存当前执行到哪一步，然后再切换至下一个进程，进程的记录靠PCB（进程控制块），那么线程的记录靠什么呢？当然是TCB（线程控制块）了。线程控制块是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由栈组成的，这个栈保存着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PC。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每个线程都有自己的栈，两个线程两个栈，在切换线程的时候，切换栈就好了。切换的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在栈中。这样子的切换不需要操作系统，不需要进入内核就可以完成切换，用户自己就能搞定。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具体而言：线程函数选择在合适的时候调用yield函数，主动释放CPU。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1524635"/>
            <a:ext cx="12080240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任务：</a:t>
            </a:r>
            <a:r>
              <a:rPr lang="zh-CN" altLang="en-US" sz="2000" b="1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为用户级线程系统设计上下文切换机制（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提出一个创建线程和保存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恢复寄存器以在线程之间切换的计划</a:t>
            </a:r>
            <a:r>
              <a:rPr lang="zh-CN" altLang="en-US" sz="2000" b="1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），然后实现它。</a:t>
            </a:r>
            <a:endParaRPr lang="zh-CN" altLang="en-US" sz="2000" b="1" i="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【使make grade通过</a:t>
            </a:r>
            <a:r>
              <a:rPr lang="en-US" altLang="zh-CN" sz="2000" b="1" dirty="0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uthread 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测试】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670" y="3429000"/>
            <a:ext cx="12192000" cy="205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xv6中有两个文件：user/uthread.c 和 user/uthread_switch.S，以及在Makefile中有一个构建uthread程序的规则。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uthread.c 包含了用户级线程包的大部分代码，以及三个简单测试线程的代码。该线程包缺少创建线程和在线程之间切换的代码。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4458335"/>
            <a:ext cx="1219263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该部分实验是在用户模式模拟一个进程有多个用户线程。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thread_create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创建线程，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thread_schedule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进行线程调度。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对于此处用户多线程之间的切换，需要保存寄存器信息，实际上就可以直接参考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内核线程切换的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struct context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需要保存的寄存器信息是一致的。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而每个线程会有独立的需要执行的函数和线程栈，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则需要在创建线程进行设置。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335" y="1235075"/>
            <a:ext cx="4772660" cy="314579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770" y="1235075"/>
            <a:ext cx="3652520" cy="31496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8" name="任意多边形 7"/>
          <p:cNvSpPr/>
          <p:nvPr/>
        </p:nvSpPr>
        <p:spPr>
          <a:xfrm>
            <a:off x="139065" y="3227705"/>
            <a:ext cx="2000250" cy="2047240"/>
          </a:xfrm>
          <a:custGeom>
            <a:avLst/>
            <a:gdLst>
              <a:gd name="connisteX0" fmla="*/ 374550 w 2000150"/>
              <a:gd name="connsiteY0" fmla="*/ 2047240 h 2047240"/>
              <a:gd name="connisteX1" fmla="*/ 35460 w 2000150"/>
              <a:gd name="connsiteY1" fmla="*/ 1378585 h 2047240"/>
              <a:gd name="connisteX2" fmla="*/ 1156870 w 2000150"/>
              <a:gd name="connsiteY2" fmla="*/ 730885 h 2047240"/>
              <a:gd name="connisteX3" fmla="*/ 2000150 w 2000150"/>
              <a:gd name="connsiteY3" fmla="*/ 0 h 20472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00151" h="2047240">
                <a:moveTo>
                  <a:pt x="374551" y="2047240"/>
                </a:moveTo>
                <a:cubicBezTo>
                  <a:pt x="284381" y="1926590"/>
                  <a:pt x="-120749" y="1642110"/>
                  <a:pt x="35461" y="1378585"/>
                </a:cubicBezTo>
                <a:cubicBezTo>
                  <a:pt x="191671" y="1115060"/>
                  <a:pt x="763806" y="1006475"/>
                  <a:pt x="1156871" y="730885"/>
                </a:cubicBezTo>
                <a:cubicBezTo>
                  <a:pt x="1549936" y="455295"/>
                  <a:pt x="1854101" y="133350"/>
                  <a:pt x="2000151" y="0"/>
                </a:cubicBezTo>
              </a:path>
            </a:pathLst>
          </a:custGeom>
          <a:noFill/>
          <a:ln w="28575" cap="flat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895330" y="3423285"/>
            <a:ext cx="772795" cy="2098675"/>
          </a:xfrm>
          <a:custGeom>
            <a:avLst/>
            <a:gdLst>
              <a:gd name="connisteX0" fmla="*/ 0 w 772594"/>
              <a:gd name="connsiteY0" fmla="*/ 2098675 h 2098675"/>
              <a:gd name="connisteX1" fmla="*/ 740410 w 772594"/>
              <a:gd name="connsiteY1" fmla="*/ 1512570 h 2098675"/>
              <a:gd name="connisteX2" fmla="*/ 545465 w 772594"/>
              <a:gd name="connsiteY2" fmla="*/ 504190 h 2098675"/>
              <a:gd name="connisteX3" fmla="*/ 195580 w 772594"/>
              <a:gd name="connsiteY3" fmla="*/ 0 h 2098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772594" h="2098675">
                <a:moveTo>
                  <a:pt x="0" y="2098675"/>
                </a:moveTo>
                <a:cubicBezTo>
                  <a:pt x="151765" y="2001520"/>
                  <a:pt x="631190" y="1831340"/>
                  <a:pt x="740410" y="1512570"/>
                </a:cubicBezTo>
                <a:cubicBezTo>
                  <a:pt x="849630" y="1193800"/>
                  <a:pt x="654685" y="806450"/>
                  <a:pt x="545465" y="504190"/>
                </a:cubicBezTo>
                <a:cubicBezTo>
                  <a:pt x="436245" y="201930"/>
                  <a:pt x="261620" y="80645"/>
                  <a:pt x="195580" y="0"/>
                </a:cubicBezTo>
              </a:path>
            </a:pathLst>
          </a:custGeom>
          <a:noFill/>
          <a:ln w="28575" cap="flat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endParaRPr kumimoji="1"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1588770"/>
            <a:ext cx="5161915" cy="427926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064250" y="710565"/>
            <a:ext cx="5782310" cy="2818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由于上下文切换永远都发生在函数调用的边界（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swtch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调用的边界），恢复执行相当于是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swtch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的返回过程，会从堆栈中恢复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caller-saved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的寄存器，所以用于保存上下文的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context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结构体只需保存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callee-saved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寄存器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，以及 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返回地址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、栈指针 </a:t>
            </a:r>
            <a:r>
              <a:rPr lang="en-US" altLang="zh-CN" sz="2000" b="1" dirty="0" err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即可。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37615" y="2199640"/>
            <a:ext cx="2273935" cy="49784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37615" y="2824480"/>
            <a:ext cx="2273935" cy="2925445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064250" y="3664585"/>
            <a:ext cx="5782310" cy="2802255"/>
            <a:chOff x="11273" y="6033"/>
            <a:chExt cx="9106" cy="4413"/>
          </a:xfrm>
        </p:grpSpPr>
        <p:sp>
          <p:nvSpPr>
            <p:cNvPr id="7" name="文本框 6"/>
            <p:cNvSpPr txBox="1"/>
            <p:nvPr/>
          </p:nvSpPr>
          <p:spPr>
            <a:xfrm>
              <a:off x="11328" y="6078"/>
              <a:ext cx="9051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45720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>
                  <a:latin typeface="+mj-lt"/>
                </a:rPr>
                <a:t>恢复后执行到哪里是通过 </a:t>
              </a:r>
              <a:r>
                <a:rPr lang="zh-CN" altLang="en-US" b="1" dirty="0">
                  <a:latin typeface="+mj-lt"/>
                </a:rPr>
                <a:t>ra 寄存器来决定的。</a:t>
              </a:r>
              <a:endParaRPr lang="zh-CN" altLang="en-US" b="1" dirty="0">
                <a:latin typeface="+mj-lt"/>
              </a:endParaRPr>
            </a:p>
            <a:p>
              <a:pPr indent="45720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>
                  <a:latin typeface="+mj-lt"/>
                </a:rPr>
                <a:t>（swtch 末尾的 ret 转跳到 </a:t>
              </a:r>
              <a:r>
                <a:rPr lang="zh-CN" altLang="en-US" b="1" dirty="0">
                  <a:latin typeface="+mj-lt"/>
                </a:rPr>
                <a:t>ra）</a:t>
              </a:r>
              <a:endParaRPr lang="zh-CN" altLang="en-US" b="1" dirty="0">
                <a:latin typeface="+mj-lt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11" y="7551"/>
              <a:ext cx="6495" cy="2895"/>
            </a:xfrm>
            <a:prstGeom prst="rect">
              <a:avLst/>
            </a:prstGeom>
            <a:ln w="28575" cmpd="thickThin">
              <a:noFill/>
              <a:prstDash val="solid"/>
            </a:ln>
          </p:spPr>
        </p:pic>
        <p:sp>
          <p:nvSpPr>
            <p:cNvPr id="9" name="矩形 8"/>
            <p:cNvSpPr/>
            <p:nvPr/>
          </p:nvSpPr>
          <p:spPr>
            <a:xfrm>
              <a:off x="15525" y="9896"/>
              <a:ext cx="3581" cy="54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1273" y="6033"/>
              <a:ext cx="9105" cy="4413"/>
            </a:xfrm>
            <a:prstGeom prst="rect">
              <a:avLst/>
            </a:prstGeom>
            <a:noFill/>
            <a:ln w="28575" cap="flat" cmpd="thickThin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pPr lvl="0" algn="l" fontAlgn="base">
                <a:buClrTx/>
                <a:buSzTx/>
                <a:buFontTx/>
              </a:pPr>
              <a:endParaRPr lang="zh-CN" altLang="en-US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设置线程上下文结构体</a:t>
            </a:r>
            <a:endParaRPr lang="en-US" altLang="zh-CN" sz="2400" b="0" i="0" dirty="0">
              <a:solidFill>
                <a:srgbClr val="252933"/>
              </a:solidFill>
              <a:effectLst/>
              <a:latin typeface="-apple-system"/>
            </a:endParaRPr>
          </a:p>
          <a:p>
            <a:endParaRPr kumimoji="1"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3519170" y="2134235"/>
            <a:ext cx="3475355" cy="1010285"/>
          </a:xfrm>
          <a:custGeom>
            <a:avLst/>
            <a:gdLst>
              <a:gd name="connisteX0" fmla="*/ 3475355 w 3475355"/>
              <a:gd name="connsiteY0" fmla="*/ 572715 h 1010026"/>
              <a:gd name="connisteX1" fmla="*/ 2655570 w 3475355"/>
              <a:gd name="connsiteY1" fmla="*/ 6930 h 1010026"/>
              <a:gd name="connisteX2" fmla="*/ 1789430 w 3475355"/>
              <a:gd name="connsiteY2" fmla="*/ 930855 h 1010026"/>
              <a:gd name="connisteX3" fmla="*/ 0 w 3475355"/>
              <a:gd name="connsiteY3" fmla="*/ 907360 h 101002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475355" h="1010027">
                <a:moveTo>
                  <a:pt x="3475355" y="572715"/>
                </a:moveTo>
                <a:cubicBezTo>
                  <a:pt x="3328670" y="441270"/>
                  <a:pt x="2992755" y="-64825"/>
                  <a:pt x="2655570" y="6930"/>
                </a:cubicBezTo>
                <a:cubicBezTo>
                  <a:pt x="2318385" y="78685"/>
                  <a:pt x="2320290" y="750515"/>
                  <a:pt x="1789430" y="930855"/>
                </a:cubicBezTo>
                <a:cubicBezTo>
                  <a:pt x="1258570" y="1111195"/>
                  <a:pt x="340360" y="930220"/>
                  <a:pt x="0" y="907360"/>
                </a:cubicBezTo>
              </a:path>
            </a:pathLst>
          </a:custGeom>
          <a:noFill/>
          <a:ln w="28575" cap="flat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3507740" y="2310130"/>
            <a:ext cx="2678430" cy="1054735"/>
          </a:xfrm>
          <a:custGeom>
            <a:avLst/>
            <a:gdLst>
              <a:gd name="connisteX0" fmla="*/ 2678430 w 2678430"/>
              <a:gd name="connsiteY0" fmla="*/ 1054875 h 1054875"/>
              <a:gd name="connisteX1" fmla="*/ 1985645 w 2678430"/>
              <a:gd name="connsiteY1" fmla="*/ 39510 h 1054875"/>
              <a:gd name="connisteX2" fmla="*/ 796925 w 2678430"/>
              <a:gd name="connsiteY2" fmla="*/ 258585 h 1054875"/>
              <a:gd name="connisteX3" fmla="*/ 0 w 2678430"/>
              <a:gd name="connsiteY3" fmla="*/ 62370 h 10548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678430" h="1054876">
                <a:moveTo>
                  <a:pt x="2678430" y="1054876"/>
                </a:moveTo>
                <a:cubicBezTo>
                  <a:pt x="2563495" y="847231"/>
                  <a:pt x="2362200" y="198896"/>
                  <a:pt x="1985645" y="39511"/>
                </a:cubicBezTo>
                <a:cubicBezTo>
                  <a:pt x="1609090" y="-119874"/>
                  <a:pt x="1193800" y="254141"/>
                  <a:pt x="796925" y="258586"/>
                </a:cubicBezTo>
                <a:cubicBezTo>
                  <a:pt x="400050" y="263031"/>
                  <a:pt x="135890" y="106186"/>
                  <a:pt x="0" y="62371"/>
                </a:cubicBezTo>
              </a:path>
            </a:pathLst>
          </a:custGeom>
          <a:noFill/>
          <a:ln w="28575" cap="flat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0" y="3989705"/>
            <a:ext cx="121920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很显然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上文定义的线程上下文结构体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struct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ctx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是和线程一一对应的，应作为线程结构体的一个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成员变量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在线程结构体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struct thread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中添加线程上下文字段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context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ctx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2008505"/>
            <a:ext cx="9067800" cy="19812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4" name="矩形 3"/>
          <p:cNvSpPr/>
          <p:nvPr/>
        </p:nvSpPr>
        <p:spPr>
          <a:xfrm>
            <a:off x="1685290" y="3308350"/>
            <a:ext cx="7520305" cy="323215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设置线程上下文结构体</a:t>
            </a:r>
            <a:endParaRPr lang="en-US" altLang="zh-CN" sz="2400" b="0" i="0" dirty="0">
              <a:solidFill>
                <a:srgbClr val="252933"/>
              </a:solidFill>
              <a:effectLst/>
              <a:latin typeface="-apple-system"/>
            </a:endParaRPr>
          </a:p>
          <a:p>
            <a:endParaRPr kumimoji="1"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0" y="1523365"/>
            <a:ext cx="5878830" cy="5270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thread_create()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的主要工作是为一个新线程进行完整的初始化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它首先在线程数组中选择一个状态为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的条目作为新的线程，并将其状态修改为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RUNNABLE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随后，为了让线程启动后能够执行用户传入的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，需要在其上下文（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）结构中记录线程的入口地址。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由于每个线程都有独立的栈空间，且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RISC-V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架构的栈从高地址向低地址增长，因此在线程初始化时需要将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context-&gt;sp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设置为线程栈的最高地址（即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栈顶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线程函数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thread_create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endParaRPr kumimoji="1"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21045" y="1590040"/>
            <a:ext cx="6312535" cy="323596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6" name="文本框 5"/>
          <p:cNvSpPr txBox="1"/>
          <p:nvPr/>
        </p:nvSpPr>
        <p:spPr>
          <a:xfrm>
            <a:off x="5821680" y="4826000"/>
            <a:ext cx="63119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在线程进行调度切换时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需要保存和恢复寄存器状态，而上述二者实际上分别对应着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寄存器，在线程初始化进行设置</a:t>
            </a: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，使其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在后续调度切换时便能保持其正确性。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32188" y="5684348"/>
            <a:ext cx="999877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从当前线程在线程数组的位置开始寻找一个RUNNABLE状态的线程进行运行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60" y="1745615"/>
            <a:ext cx="3735705" cy="383667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355" y="1745615"/>
            <a:ext cx="5508625" cy="383095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调度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thread_schedule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 </a:t>
            </a:r>
            <a:endParaRPr kumimoji="1"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817620" y="1687830"/>
            <a:ext cx="8276590" cy="9277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最后在 user/uthread_switch.S 中添加 thread_switch 的代码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正如上文所述, 该函数实际上功能与 kernel/swtch.S 中的 swtch 函数一致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7620" y="2747645"/>
            <a:ext cx="8173085" cy="13728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2000" b="0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a0 寄存器</a:t>
            </a:r>
            <a:r>
              <a:rPr lang="en-US" altLang="zh-CN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对应着 thread_switch 函数的第一个参数，也就是当前线程的 context 对象地址；</a:t>
            </a:r>
            <a:r>
              <a:rPr lang="en-US" altLang="zh-CN" sz="2000" b="0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a1 寄存器</a:t>
            </a:r>
            <a:r>
              <a:rPr lang="en-US" altLang="zh-CN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对应着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thread_switch </a:t>
            </a:r>
            <a:r>
              <a:rPr lang="en-US" altLang="zh-CN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函数的第二个参数，也就是即将要切换到的线程的 context 对象地址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90" y="1687830"/>
            <a:ext cx="2454275" cy="505523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90" y="5190490"/>
            <a:ext cx="8030845" cy="95377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2" name="任意多边形 11"/>
          <p:cNvSpPr/>
          <p:nvPr/>
        </p:nvSpPr>
        <p:spPr>
          <a:xfrm>
            <a:off x="4597400" y="3186430"/>
            <a:ext cx="2172335" cy="2685415"/>
          </a:xfrm>
          <a:custGeom>
            <a:avLst/>
            <a:gdLst>
              <a:gd name="connisteX0" fmla="*/ 351158 w 2172338"/>
              <a:gd name="connsiteY0" fmla="*/ 0 h 2685415"/>
              <a:gd name="connisteX1" fmla="*/ 62868 w 2172338"/>
              <a:gd name="connsiteY1" fmla="*/ 1008380 h 2685415"/>
              <a:gd name="connisteX2" fmla="*/ 1451613 w 2172338"/>
              <a:gd name="connsiteY2" fmla="*/ 1564005 h 2685415"/>
              <a:gd name="connisteX3" fmla="*/ 2172338 w 2172338"/>
              <a:gd name="connsiteY3" fmla="*/ 2685415 h 26854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172339" h="2685415">
                <a:moveTo>
                  <a:pt x="351159" y="0"/>
                </a:moveTo>
                <a:cubicBezTo>
                  <a:pt x="265434" y="190500"/>
                  <a:pt x="-157476" y="695325"/>
                  <a:pt x="62869" y="1008380"/>
                </a:cubicBezTo>
                <a:cubicBezTo>
                  <a:pt x="283214" y="1321435"/>
                  <a:pt x="1029974" y="1228725"/>
                  <a:pt x="1451614" y="1564005"/>
                </a:cubicBezTo>
                <a:cubicBezTo>
                  <a:pt x="1873254" y="1899285"/>
                  <a:pt x="2056134" y="2472055"/>
                  <a:pt x="2172339" y="2685415"/>
                </a:cubicBezTo>
              </a:path>
            </a:pathLst>
          </a:custGeom>
          <a:noFill/>
          <a:ln w="28575" cap="flat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758940" y="3629025"/>
            <a:ext cx="2850515" cy="2252980"/>
          </a:xfrm>
          <a:custGeom>
            <a:avLst/>
            <a:gdLst>
              <a:gd name="connisteX0" fmla="*/ 0 w 2850515"/>
              <a:gd name="connsiteY0" fmla="*/ 0 h 2252980"/>
              <a:gd name="connisteX1" fmla="*/ 1306830 w 2850515"/>
              <a:gd name="connsiteY1" fmla="*/ 524510 h 2252980"/>
              <a:gd name="connisteX2" fmla="*/ 1512570 w 2850515"/>
              <a:gd name="connsiteY2" fmla="*/ 1368425 h 2252980"/>
              <a:gd name="connisteX3" fmla="*/ 2850515 w 2850515"/>
              <a:gd name="connsiteY3" fmla="*/ 2252980 h 22529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850515" h="2252980">
                <a:moveTo>
                  <a:pt x="0" y="0"/>
                </a:moveTo>
                <a:cubicBezTo>
                  <a:pt x="257175" y="88265"/>
                  <a:pt x="1004570" y="250825"/>
                  <a:pt x="1306830" y="524510"/>
                </a:cubicBezTo>
                <a:cubicBezTo>
                  <a:pt x="1609090" y="798195"/>
                  <a:pt x="1203960" y="1022985"/>
                  <a:pt x="1512570" y="1368425"/>
                </a:cubicBezTo>
                <a:cubicBezTo>
                  <a:pt x="1821180" y="1713865"/>
                  <a:pt x="2586990" y="2092960"/>
                  <a:pt x="2850515" y="2252980"/>
                </a:cubicBezTo>
              </a:path>
            </a:pathLst>
          </a:custGeom>
          <a:noFill/>
          <a:ln w="28575" cap="flat" cmpd="thickThin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线程切换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2400" b="1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thread_switch()</a:t>
            </a:r>
            <a:endParaRPr kumimoji="1" lang="zh-CN" altLang="en-US" sz="2400" b="1" noProof="0" dirty="0" err="1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：线程的切换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7950" y="1348740"/>
            <a:ext cx="11975465" cy="4648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完成后，在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xv6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上运行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uthread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时应该会看到以下输出（三个线程可能以不同的顺序启动）。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r>
              <a:rPr kumimoji="1" lang="zh-CN" altLang="en-US" sz="2400" b="1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</a:t>
            </a:r>
            <a:endParaRPr kumimoji="1" lang="zh-CN" altLang="en-US" sz="2400" b="1" noProof="0" dirty="0" err="1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7F8F9">
                  <a:alpha val="100000"/>
                </a:srgbClr>
              </a:clrFrom>
              <a:clrTo>
                <a:srgbClr val="F7F8F9">
                  <a:alpha val="100000"/>
                  <a:alpha val="0"/>
                </a:srgbClr>
              </a:clrTo>
            </a:clrChange>
          </a:blip>
          <a:srcRect t="2463" r="61859" b="2007"/>
          <a:stretch>
            <a:fillRect/>
          </a:stretch>
        </p:blipFill>
        <p:spPr>
          <a:xfrm>
            <a:off x="968375" y="1910715"/>
            <a:ext cx="2668905" cy="487807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文本框 6"/>
          <p:cNvSpPr txBox="1"/>
          <p:nvPr/>
        </p:nvSpPr>
        <p:spPr>
          <a:xfrm>
            <a:off x="3953510" y="3761740"/>
            <a:ext cx="655510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该输出来自三个测试线程，每个线程都有一个循环，该循环打印一行，然后将CPU让出给其他线程。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Using threads</a:t>
            </a:r>
            <a:r>
              <a:rPr lang="zh-CN" altLang="en-US" dirty="0"/>
              <a:t>（</a:t>
            </a:r>
            <a:r>
              <a:rPr lang="zh-CN" altLang="en-US" dirty="0">
                <a:sym typeface="+mn-ea"/>
              </a:rPr>
              <a:t>使用</a:t>
            </a:r>
            <a:r>
              <a:rPr lang="zh-CN" altLang="en-US" dirty="0"/>
              <a:t>线程）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4010" y="1534795"/>
            <a:ext cx="6410325" cy="230505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6" name="文本框 15"/>
          <p:cNvSpPr txBox="1"/>
          <p:nvPr/>
        </p:nvSpPr>
        <p:spPr>
          <a:xfrm>
            <a:off x="82550" y="944880"/>
            <a:ext cx="1219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通过使用哈希表来探索使用线程和锁的并行编程，在一个真实的多核Linux或MacOS计算机上完成这个作业（不是xv6，不是qemu）。</a:t>
            </a:r>
            <a:endParaRPr lang="zh-CN" altLang="en-US" sz="2000" dirty="0"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082800"/>
            <a:ext cx="2901950" cy="452755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9" name="矩形 18"/>
          <p:cNvSpPr/>
          <p:nvPr/>
        </p:nvSpPr>
        <p:spPr>
          <a:xfrm>
            <a:off x="333375" y="3550285"/>
            <a:ext cx="1272540" cy="28956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228975" y="3839845"/>
            <a:ext cx="8839200" cy="14687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 dirty="0"/>
              <a:t>文件</a:t>
            </a:r>
            <a:r>
              <a:rPr lang="zh-CN" altLang="en-US" sz="2000" dirty="0"/>
              <a:t>notxv6/ph.c</a:t>
            </a:r>
            <a:r>
              <a:rPr lang="zh-CN" altLang="en-US" sz="2000" b="0" i="0" dirty="0"/>
              <a:t>包含一个简单的哈希表，如果单个线程使用，该哈希表是正确的，但是多个线程使用时，该哈希表是不正确的。</a:t>
            </a:r>
            <a:r>
              <a:rPr lang="zh-CN" altLang="en-US" sz="2000">
                <a:sym typeface="+mn-ea"/>
              </a:rPr>
              <a:t>查看</a:t>
            </a:r>
            <a:r>
              <a:rPr lang="en-US" altLang="zh-CN" sz="2000">
                <a:sym typeface="+mn-ea"/>
              </a:rPr>
              <a:t>notxv6/ph.c</a:t>
            </a:r>
            <a:r>
              <a:rPr lang="zh-CN" altLang="en-US" sz="2000">
                <a:sym typeface="+mn-ea"/>
              </a:rPr>
              <a:t>，特别是</a:t>
            </a:r>
            <a:r>
              <a:rPr lang="en-US" altLang="zh-CN" sz="2000">
                <a:sym typeface="+mn-ea"/>
              </a:rPr>
              <a:t>put()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insert()</a:t>
            </a:r>
            <a:r>
              <a:rPr lang="zh-CN" altLang="en-US" sz="2000">
                <a:sym typeface="+mn-ea"/>
              </a:rPr>
              <a:t>函数。</a:t>
            </a:r>
            <a:endParaRPr lang="zh-CN" altLang="en-US" sz="2000" b="0" i="0" dirty="0"/>
          </a:p>
        </p:txBody>
      </p:sp>
      <p:sp>
        <p:nvSpPr>
          <p:cNvPr id="21" name="文本框 20"/>
          <p:cNvSpPr txBox="1"/>
          <p:nvPr/>
        </p:nvSpPr>
        <p:spPr>
          <a:xfrm>
            <a:off x="3228975" y="5308600"/>
            <a:ext cx="8839200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i="0" dirty="0">
                <a:highlight>
                  <a:srgbClr val="FFFF00"/>
                </a:highlight>
              </a:rPr>
              <a:t>任务：修改代码，使put</a:t>
            </a:r>
            <a:r>
              <a:rPr lang="en-US" altLang="zh-CN" sz="2000" b="1" i="0" dirty="0">
                <a:highlight>
                  <a:srgbClr val="FFFF00"/>
                </a:highlight>
              </a:rPr>
              <a:t>()</a:t>
            </a:r>
            <a:r>
              <a:rPr lang="zh-CN" altLang="en-US" sz="2000" b="1" i="0" dirty="0">
                <a:highlight>
                  <a:srgbClr val="FFFF00"/>
                </a:highlight>
              </a:rPr>
              <a:t>操作在保持正确性的同时并行运行。</a:t>
            </a:r>
            <a:endParaRPr lang="zh-CN" altLang="en-US" sz="2000" b="1" i="0" dirty="0">
              <a:highlight>
                <a:srgbClr val="FFFF00"/>
              </a:highlight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i="0" dirty="0">
                <a:highlight>
                  <a:srgbClr val="FFFF00"/>
                </a:highlight>
              </a:rPr>
              <a:t>【使make grade通过ph_safe和ph_fast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（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要求两个线程每秒产生的put数至少是一个线程的1.25倍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）</a:t>
            </a:r>
            <a:r>
              <a:rPr lang="zh-CN" altLang="en-US" sz="2000" b="1" i="0" dirty="0">
                <a:highlight>
                  <a:srgbClr val="FFFF00"/>
                </a:highlight>
              </a:rPr>
              <a:t>测试】</a:t>
            </a:r>
            <a:endParaRPr lang="zh-CN" altLang="en-US" sz="2000" b="1" i="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Using threads</a:t>
            </a:r>
            <a:r>
              <a:rPr lang="zh-CN" altLang="en-US" dirty="0"/>
              <a:t>（</a:t>
            </a:r>
            <a:r>
              <a:rPr lang="zh-CN" altLang="en-US" dirty="0">
                <a:sym typeface="+mn-ea"/>
              </a:rPr>
              <a:t>使用</a:t>
            </a:r>
            <a:r>
              <a:rPr lang="zh-CN" altLang="en-US" dirty="0"/>
              <a:t>线程）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4455" y="5260975"/>
            <a:ext cx="1219073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/>
              <a:t>多个线程同时调用 put() 对同一个 bucket 进行数据插入时, 可能会使得先插入的 entry 丢失。</a:t>
            </a:r>
            <a:endParaRPr lang="zh-CN" altLang="en-US" sz="2000" dirty="0"/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线程安全问题</a:t>
            </a:r>
            <a:endParaRPr kumimoji="1" lang="zh-CN" altLang="en-US" sz="2400" b="1" noProof="0" dirty="0" err="1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1680845"/>
            <a:ext cx="10128250" cy="325818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Using threads</a:t>
            </a:r>
            <a:r>
              <a:rPr lang="zh-CN" altLang="en-US" dirty="0"/>
              <a:t>（</a:t>
            </a:r>
            <a:r>
              <a:rPr lang="zh-CN" altLang="en-US" dirty="0">
                <a:sym typeface="+mn-ea"/>
              </a:rPr>
              <a:t>使用</a:t>
            </a:r>
            <a:r>
              <a:rPr lang="zh-CN" altLang="en-US" dirty="0">
                <a:sym typeface="+mn-ea"/>
              </a:rPr>
              <a:t>线程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0" y="1523365"/>
            <a:ext cx="12192000" cy="2953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在多线程环境下，为了保证哈希表的并发访问安全，需要使用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pthread_mutex_t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保护共享数据。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若所有操作都通过一把全局锁串行化，会导致大量锁竞争，降低并行度。为了提升并发性能，可以对哈希表的每个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bucket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使用一把独立的锁。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342265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当多个线程访问不同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bucket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时可以完全并行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342265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只有访问同一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bucket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的操作才需要互斥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342265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能有效避免数据竞争，保持哈希表的一致性，同时减少锁争用，提高整体并发性能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Using threads</a:t>
            </a:r>
            <a:r>
              <a:rPr lang="zh-CN" altLang="en-US" dirty="0"/>
              <a:t>（</a:t>
            </a:r>
            <a:r>
              <a:rPr lang="zh-CN" altLang="en-US" dirty="0">
                <a:sym typeface="+mn-ea"/>
              </a:rPr>
              <a:t>使用</a:t>
            </a:r>
            <a:r>
              <a:rPr lang="zh-CN" altLang="en-US" dirty="0">
                <a:sym typeface="+mn-ea"/>
              </a:rPr>
              <a:t>线程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72816" y="3631812"/>
            <a:ext cx="6097464" cy="47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main()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函数中对所有互斥锁进行初始化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52933"/>
              </a:solidFill>
              <a:effectLst/>
              <a:uLnTx/>
              <a:uFillTx/>
              <a:latin typeface="-apple-system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1429385"/>
            <a:ext cx="1219263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为了避免同一 bucket 内部的数据竞争，同时又允许不同 bucket 之间并行执行，此处是构建了一个互斥锁数组，每个 bucket 对应一个互斥锁。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" y="2444115"/>
            <a:ext cx="5362575" cy="94297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" y="4352925"/>
            <a:ext cx="6296025" cy="184785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定义互斥锁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Using threads</a:t>
            </a:r>
            <a:r>
              <a:rPr lang="zh-CN" altLang="en-US" dirty="0"/>
              <a:t>（</a:t>
            </a:r>
            <a:r>
              <a:rPr lang="zh-CN" altLang="en-US" dirty="0">
                <a:sym typeface="+mn-ea"/>
              </a:rPr>
              <a:t>使用</a:t>
            </a:r>
            <a:r>
              <a:rPr lang="zh-CN" altLang="en-US" dirty="0">
                <a:sym typeface="+mn-ea"/>
              </a:rPr>
              <a:t>线程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417820" y="3797300"/>
            <a:ext cx="6774180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在多线程环境下，哈希表中的数据竞争主要发生在对 bucket 内链表的修改操作上，因此在进行插入等写操作时必须对该 bucket 加锁。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为每个 bucket 分配独立锁，可以降低锁争用，使不同 bucket 的操作并行化，从而提高哈希表的并发性能。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365" y="6151487"/>
            <a:ext cx="1215463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多线程情况下，修改同一份数据，是必须上锁的；读同一份数据，却不需要上锁。所以，不必改动get()。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615" y="974090"/>
            <a:ext cx="5657215" cy="29349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" y="1523365"/>
            <a:ext cx="4780280" cy="45339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put()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中加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锁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任务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Barrier</a:t>
            </a:r>
            <a:r>
              <a:rPr lang="zh-CN" altLang="en-US" dirty="0">
                <a:sym typeface="+mn-ea"/>
              </a:rPr>
              <a:t>（屏障）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2550" y="760095"/>
            <a:ext cx="1210945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实现一个屏障（</a:t>
            </a:r>
            <a:r>
              <a:rPr lang="en-US" altLang="zh-CN" sz="2000" dirty="0">
                <a:sym typeface="+mn-ea"/>
              </a:rPr>
              <a:t>Barrier</a:t>
            </a:r>
            <a:r>
              <a:rPr lang="zh-CN" altLang="en-US" sz="2000" dirty="0">
                <a:sym typeface="+mn-ea"/>
              </a:rPr>
              <a:t>）：应用程序中的一个点，所有参与的线程在此点上必须等待，直到所有其他参与线程也达到该点。将使用</a:t>
            </a:r>
            <a:r>
              <a:rPr lang="en-US" altLang="zh-CN" sz="2000" dirty="0">
                <a:sym typeface="+mn-ea"/>
              </a:rPr>
              <a:t>pthread</a:t>
            </a:r>
            <a:r>
              <a:rPr lang="zh-CN" altLang="en-US" sz="2000" dirty="0">
                <a:sym typeface="+mn-ea"/>
              </a:rPr>
              <a:t>条件变量，这是一种序列协调技术，类似于</a:t>
            </a:r>
            <a:r>
              <a:rPr lang="en-US" altLang="zh-CN" sz="2000" dirty="0">
                <a:sym typeface="+mn-ea"/>
              </a:rPr>
              <a:t>xv6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sleep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wakeup</a:t>
            </a:r>
            <a:r>
              <a:rPr lang="zh-CN" altLang="en-US" sz="2000" dirty="0">
                <a:sym typeface="+mn-ea"/>
              </a:rPr>
              <a:t>。</a:t>
            </a:r>
            <a:r>
              <a:rPr lang="zh-CN" altLang="en-US" sz="2000" dirty="0">
                <a:sym typeface="+mn-ea"/>
              </a:rPr>
              <a:t>在一个真实的多核Linux或MacOS计算机上完成这个作业（不是xv6，不是qemu）。</a:t>
            </a:r>
            <a:endParaRPr lang="zh-CN" altLang="en-US" sz="2000" dirty="0"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2236470"/>
            <a:ext cx="2901950" cy="452755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19" name="矩形 18"/>
          <p:cNvSpPr/>
          <p:nvPr/>
        </p:nvSpPr>
        <p:spPr>
          <a:xfrm>
            <a:off x="400685" y="3478530"/>
            <a:ext cx="1272540" cy="28956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228975" y="3316605"/>
            <a:ext cx="8839200" cy="18967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i="0" dirty="0"/>
              <a:t>文件</a:t>
            </a:r>
            <a:r>
              <a:rPr lang="en-US" altLang="zh-CN" sz="2000" dirty="0"/>
              <a:t>notxv6/barrier.c</a:t>
            </a:r>
            <a:r>
              <a:rPr lang="zh-CN" altLang="en-US" sz="2000" dirty="0"/>
              <a:t>包含一个残缺的屏障实现</a:t>
            </a:r>
            <a:r>
              <a:rPr lang="zh-CN" sz="2000" dirty="0"/>
              <a:t>。</a:t>
            </a:r>
            <a:r>
              <a:rPr lang="zh-CN" altLang="en-US" sz="2000" b="0" i="0" dirty="0"/>
              <a:t>除了在</a:t>
            </a:r>
            <a:r>
              <a:rPr lang="en-US" altLang="zh-CN" sz="2000" b="0" i="0" dirty="0"/>
              <a:t>ph</a:t>
            </a:r>
            <a:r>
              <a:rPr lang="zh-CN" altLang="en-US" sz="2000" b="0" i="0" dirty="0"/>
              <a:t>作业中看到的</a:t>
            </a:r>
            <a:r>
              <a:rPr lang="en-US" altLang="zh-CN" sz="2000" b="0" i="0" dirty="0"/>
              <a:t>lock</a:t>
            </a:r>
            <a:r>
              <a:rPr lang="zh-CN" altLang="en-US" sz="2000" b="0" i="0" dirty="0"/>
              <a:t>原语外，还需要以下新的</a:t>
            </a:r>
            <a:r>
              <a:rPr lang="en-US" altLang="zh-CN" sz="2000" b="0" i="0" dirty="0"/>
              <a:t>pthread</a:t>
            </a:r>
            <a:r>
              <a:rPr lang="zh-CN" altLang="en-US" sz="2000" b="0" i="0" dirty="0"/>
              <a:t>原语：①</a:t>
            </a:r>
            <a:r>
              <a:rPr lang="en-US" altLang="zh-CN" sz="2000" dirty="0">
                <a:sym typeface="+mn-ea"/>
              </a:rPr>
              <a:t>pthread_cond_wait(&amp;cond, &amp;mutex);</a:t>
            </a:r>
            <a:r>
              <a:rPr lang="en-US" altLang="zh-CN" sz="2000" b="0" i="0" dirty="0"/>
              <a:t>// </a:t>
            </a:r>
            <a:r>
              <a:rPr lang="zh-CN" altLang="en-US" sz="2000" b="0" i="0" dirty="0"/>
              <a:t>在</a:t>
            </a:r>
            <a:r>
              <a:rPr lang="en-US" altLang="zh-CN" sz="2000" b="0" i="0" dirty="0"/>
              <a:t>cond</a:t>
            </a:r>
            <a:r>
              <a:rPr lang="zh-CN" altLang="en-US" sz="2000" b="0" i="0" dirty="0"/>
              <a:t>上进入睡眠，释放锁</a:t>
            </a:r>
            <a:r>
              <a:rPr lang="en-US" altLang="zh-CN" sz="2000" b="0" i="0" dirty="0"/>
              <a:t>mutex</a:t>
            </a:r>
            <a:r>
              <a:rPr lang="zh-CN" altLang="en-US" sz="2000" b="0" i="0" dirty="0"/>
              <a:t>，在醒来时重新获取②</a:t>
            </a:r>
            <a:r>
              <a:rPr lang="en-US" altLang="zh-CN" sz="2000" b="0" i="0" dirty="0"/>
              <a:t>pthread_cond_broadcast(&amp;cond);</a:t>
            </a:r>
            <a:r>
              <a:rPr lang="en-US" altLang="zh-CN" sz="2000" dirty="0">
                <a:sym typeface="+mn-ea"/>
              </a:rPr>
              <a:t>// </a:t>
            </a:r>
            <a:r>
              <a:rPr lang="zh-CN" altLang="en-US" sz="2000" dirty="0">
                <a:sym typeface="+mn-ea"/>
              </a:rPr>
              <a:t>唤醒睡在</a:t>
            </a:r>
            <a:r>
              <a:rPr lang="en-US" altLang="zh-CN" sz="2000" dirty="0">
                <a:sym typeface="+mn-ea"/>
              </a:rPr>
              <a:t>cond</a:t>
            </a:r>
            <a:r>
              <a:rPr lang="zh-CN" altLang="en-US" sz="2000" dirty="0">
                <a:sym typeface="+mn-ea"/>
              </a:rPr>
              <a:t>的所有线程</a:t>
            </a:r>
            <a:endParaRPr lang="zh-CN" altLang="en-US" sz="2000" b="0" i="0" dirty="0"/>
          </a:p>
          <a:p>
            <a:pPr marL="0" indent="457200" algn="l">
              <a:lnSpc>
                <a:spcPct val="150000"/>
              </a:lnSpc>
              <a:buClrTx/>
              <a:buSzTx/>
              <a:buFontTx/>
            </a:pPr>
            <a:endParaRPr lang="en-US" altLang="zh-CN" sz="2000" b="0" i="0" dirty="0"/>
          </a:p>
        </p:txBody>
      </p:sp>
      <p:sp>
        <p:nvSpPr>
          <p:cNvPr id="21" name="文本框 20"/>
          <p:cNvSpPr txBox="1"/>
          <p:nvPr/>
        </p:nvSpPr>
        <p:spPr>
          <a:xfrm>
            <a:off x="3159760" y="5213350"/>
            <a:ext cx="8839200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i="0" dirty="0">
                <a:highlight>
                  <a:srgbClr val="FFFF00"/>
                </a:highlight>
              </a:rPr>
              <a:t>任务：修改代码，使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每个线程在</a:t>
            </a:r>
            <a:r>
              <a:rPr lang="en-US" altLang="zh-CN" sz="2000" b="1" dirty="0">
                <a:highlight>
                  <a:srgbClr val="FFFF00"/>
                </a:highlight>
                <a:sym typeface="+mn-ea"/>
              </a:rPr>
              <a:t>barrier()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中阻塞，直到</a:t>
            </a:r>
            <a:r>
              <a:rPr lang="en-US" altLang="zh-CN" sz="2000" b="1" dirty="0">
                <a:highlight>
                  <a:srgbClr val="FFFF00"/>
                </a:highlight>
                <a:sym typeface="+mn-ea"/>
              </a:rPr>
              <a:t>nthreads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的所有线程都调用了</a:t>
            </a:r>
            <a:r>
              <a:rPr lang="en-US" altLang="zh-CN" sz="2000" b="1" dirty="0">
                <a:highlight>
                  <a:srgbClr val="FFFF00"/>
                </a:highlight>
                <a:sym typeface="+mn-ea"/>
              </a:rPr>
              <a:t>barrier()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。</a:t>
            </a:r>
            <a:endParaRPr lang="zh-CN" altLang="en-US" sz="2000" b="1" dirty="0">
              <a:highlight>
                <a:srgbClr val="FFFF00"/>
              </a:highlight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i="0" dirty="0">
                <a:highlight>
                  <a:srgbClr val="FFFF00"/>
                </a:highlight>
              </a:rPr>
              <a:t>【使make grade通过</a:t>
            </a:r>
            <a:r>
              <a:rPr lang="en-US" altLang="zh-CN" sz="2000" b="1" i="0" dirty="0">
                <a:highlight>
                  <a:srgbClr val="FFFF00"/>
                </a:highlight>
              </a:rPr>
              <a:t>barrier</a:t>
            </a:r>
            <a:r>
              <a:rPr lang="zh-CN" altLang="en-US" sz="2000" b="1" i="0" dirty="0">
                <a:highlight>
                  <a:srgbClr val="FFFF00"/>
                </a:highlight>
              </a:rPr>
              <a:t>测试】</a:t>
            </a:r>
            <a:endParaRPr lang="zh-CN" altLang="en-US" sz="2000" b="1" i="0" dirty="0">
              <a:highlight>
                <a:srgbClr val="FFFF00"/>
              </a:highligh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2236470"/>
            <a:ext cx="7480935" cy="113982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Barrier</a:t>
            </a:r>
            <a:r>
              <a:rPr lang="zh-CN" altLang="en-US" dirty="0"/>
              <a:t>（屏障）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0200" y="1523365"/>
            <a:ext cx="1112964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线程进入同步屏障 barrier 时，将已进入屏障的线程数量增加 1，然后再判断是否已经达到总线程数。</a:t>
            </a:r>
            <a:endParaRPr lang="zh-CN" altLang="en-US" sz="2000" dirty="0"/>
          </a:p>
          <a:p>
            <a:pPr marL="0" lvl="1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如果未达到，则进入睡眠，等待其他线程。</a:t>
            </a:r>
            <a:endParaRPr lang="zh-CN" altLang="en-US" sz="2000" dirty="0"/>
          </a:p>
          <a:p>
            <a:pPr marL="0" lvl="1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如果已经达到，则唤醒所有在 barrier 中等待的线程，所有线程继续执行；屏障轮数 + 1。</a:t>
            </a:r>
            <a:endParaRPr lang="zh-CN" altLang="en-US" sz="2000" dirty="0"/>
          </a:p>
          <a:p>
            <a:pPr marL="0" lvl="1" indent="457200" algn="l">
              <a:lnSpc>
                <a:spcPct val="150000"/>
              </a:lnSpc>
              <a:buClrTx/>
              <a:buSzTx/>
              <a:buFontTx/>
            </a:pPr>
            <a:endParaRPr lang="zh-CN" altLang="en-US" sz="2000" dirty="0"/>
          </a:p>
          <a:p>
            <a:pPr marL="0" lvl="1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首先条件变量的操作需要在互斥锁锁定的临界区内，然后进行条件判断，此处即判断是否所有的线程都进入了 barrier() 函数。</a:t>
            </a:r>
            <a:endParaRPr lang="zh-CN" altLang="en-US" sz="2000" dirty="0"/>
          </a:p>
          <a:p>
            <a:pPr marL="0" lvl="2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若不满足则使用 pthread_cond_wait() 将当前线程休眠，等待唤醒; </a:t>
            </a:r>
            <a:endParaRPr lang="zh-CN" altLang="en-US" sz="2000" dirty="0"/>
          </a:p>
          <a:p>
            <a:pPr marL="0" lvl="2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ym typeface="+mn-ea"/>
              </a:rPr>
              <a:t>若全部线程都已进入 barrier() 函数, 则最后进入的线程会调用 pthread_cond_broadcast() 唤醒其他由条件变量休眠的线程继续运行。</a:t>
            </a:r>
            <a:endParaRPr lang="zh-CN" altLang="en-US" sz="2000" dirty="0">
              <a:sym typeface="+mn-ea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Barrier</a:t>
            </a:r>
            <a:r>
              <a:rPr lang="zh-CN" altLang="en-US" dirty="0"/>
              <a:t>（屏障）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090" y="974090"/>
            <a:ext cx="7830185" cy="573341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实验二：</a:t>
            </a:r>
            <a:r>
              <a:rPr lang="en-US" altLang="zh-CN" dirty="0"/>
              <a:t>Locks</a:t>
            </a:r>
            <a:r>
              <a:rPr lang="zh-CN" altLang="en-US" dirty="0"/>
              <a:t>（锁）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19830" y="1173652"/>
            <a:ext cx="10983791" cy="425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base" latinLnBrk="1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8AC6CD"/>
              </a:buClr>
              <a:buSzPct val="12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实验内容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marR="0" lvl="1" indent="-457200" algn="l" defTabSz="914400" rtl="0" eaLnBrk="1" fontAlgn="base" latinLnBrk="1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8AC6CD"/>
              </a:buClr>
              <a:buSzPct val="120000"/>
              <a:buFont typeface="Wingdings" panose="05000000000000000000" pitchFamily="2" charset="2"/>
              <a:buChar char="q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Memory allocator 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内存分配器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914400" marR="0" lvl="1" indent="0" algn="l" defTabSz="914400" rtl="0" eaLnBrk="1" fontAlgn="base" latinLnBrk="1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xv6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是多个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共享一个内存分配链表，进程申请或释放内存的过程需要上锁和释放锁，效率低下。我们需要设计一个高效的内存分配机制。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marR="0" lvl="1" indent="-457200" algn="l" defTabSz="914400" rtl="0" eaLnBrk="1" fontAlgn="base" latinLnBrk="1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8AC6CD"/>
              </a:buClr>
              <a:buSzPct val="120000"/>
              <a:buFont typeface="Wingdings" panose="05000000000000000000" pitchFamily="2" charset="2"/>
              <a:buChar char="q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Buffer cache  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缓冲区缓存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914400" marR="0" lvl="1" indent="0" algn="l" defTabSz="914400" rtl="0" eaLnBrk="1" fontAlgn="base" latinLnBrk="1" hangingPunct="1">
              <a:lnSpc>
                <a:spcPct val="150000"/>
              </a:lnSpc>
              <a:spcBef>
                <a:spcPts val="5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由于整个缓存双向链表由一个自旋锁保护，所以多个进程反复读不同文件时会产生高锁争用。我们要更改缓存机制以减少锁争用。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0" y="1523365"/>
            <a:ext cx="12192000" cy="4592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xv6 目前有一个差不多能用的 Memory allocator ，它的责任就是为进程分配内存。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现有的 Memory allocator 是这样管理空闲 page 的，将 xv6 中所有空闲 page 都收集起来，然后将其用单链表串联。每次新来一个 kalloc() 请求后，Memory allocator 会从 freelist 中选取一个空闲 page 进行分配；当用完 page 之后，用户层调用 kfree() 释放内存，此时 Memory allocator 会将该 page 挂回 freelist 。这期间，需要上锁放锁。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多个 CPU 都要共享一个 freelist ，每个 CPU 申请 or 释放 page ，都需对整个 freelist 上锁，那么势必带来很严重的排队问题，队排的越长，效率越低。这队的长短取决于进程的个数，现实世界中，队很长，但出口不能只有一个，不然处理的太慢。目前 xv6 的出口只有一个，对应只有一个 freelist。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现在的问题，就是能不能多创建几个出口，也就是把唯一的 freelist 拆分成多份。Lab: Memory alloctor 的目的就是让我们贴近现实，因为 xv6 有多（8）个 CPU ，能不能把一张大的 freelist 拆成 8 小份，分给每个 CPU 。这样的话，再有进程申请 or 释放 page ，就不会再影响整体，不会影响运行在其他 CPU 上的进程。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en-US" altLang="zh-CN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xv6 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内存分配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原理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0" y="918210"/>
            <a:ext cx="1219200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user/kalloctest.c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调了xv6的内存分配器：三个进程增长和缩小地址空间，导致对kalloc和kfree的多次调用。kalloc和kfree获得kmem.lock。kalloctest打印（作为“#fetch-and-add”）在acquire中由于尝试获取另一个内核已经持有的锁而进行的循环迭代次数，如kmem锁和一些其他锁。acquire中的循环迭代次数是锁争用的粗略度量。完成实验前，kalloctest的输出与此类似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11980" y="3429000"/>
            <a:ext cx="7780020" cy="289052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acquir</a:t>
            </a:r>
            <a:r>
              <a:rPr lang="en-US" altLang="zh-CN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为每个锁维护要获取该锁的acquire调用计数，以及acquire中循环尝试但未能设置锁的次数。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kalloctest调用一个系统调用，使内核打印kmem和bcache锁（这是本实验的重点）以及5个最有具竞争的锁的计数。如果存在锁争用，则acquire循环迭代的次数将很大。系统调用返回kmem和bcache锁的循环迭代次数之和。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" y="3046730"/>
            <a:ext cx="4226560" cy="37211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</a:t>
            </a:r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429385"/>
            <a:ext cx="12192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kalloctest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中锁争用的根本原因是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kalloc()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有一个空闲列表，由一个锁保护。要消除锁争用，必须重新设计内存分配器，以避免使用单个锁和列表。基本思想是为每个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维护一个空闲列表，每个列表都有自己的锁。因为每个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将在不同的列表上运行，不同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上的分配和释放可以并行运行。主要的挑战将是处理一个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的空闲列表为空，而另一个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的列表有空闲内存的情况；在这种情况下，一个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必须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窃取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另一个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空闲列表的一部分。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注意：函数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cpuid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返回当前的核心编号，但只有在中断关闭时调用它并使用其结果才是安全的，应该使用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push_off()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pop_off()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来关闭和打开中断。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78740" y="4458335"/>
            <a:ext cx="1219263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1" i="0" dirty="0">
                <a:highlight>
                  <a:srgbClr val="FFFF00"/>
                </a:highlight>
              </a:rPr>
              <a:t>任务：实现每个CPU的空闲列表，并在CPU的空闲列表为空时进行窃取。所有锁的命名必须以“kmem”开头。也就是说，应该为每个锁调用initlock，并传递一个以“kmem”开头的名称。</a:t>
            </a:r>
            <a:endParaRPr lang="zh-CN" altLang="en-US" sz="2000" b="1" i="0" dirty="0">
              <a:highlight>
                <a:srgbClr val="FFFF00"/>
              </a:highlight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1" i="0" dirty="0">
                <a:highlight>
                  <a:srgbClr val="FFFF00"/>
                </a:highlight>
              </a:rPr>
              <a:t>【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使make grade通过</a:t>
            </a:r>
            <a:r>
              <a:rPr lang="en-US" altLang="zh-CN" sz="2000" b="1" dirty="0">
                <a:highlight>
                  <a:srgbClr val="FFFF00"/>
                </a:highlight>
                <a:sym typeface="+mn-ea"/>
              </a:rPr>
              <a:t>kalloctest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测试</a:t>
            </a:r>
            <a:r>
              <a:rPr lang="zh-CN" altLang="en-US" sz="2000" b="1" i="0" dirty="0">
                <a:highlight>
                  <a:srgbClr val="FFFF00"/>
                </a:highlight>
              </a:rPr>
              <a:t>】</a:t>
            </a:r>
            <a:endParaRPr lang="zh-CN" altLang="en-US" sz="2000" b="1" i="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83006" y="3363510"/>
            <a:ext cx="6097464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分别初始化</a:t>
            </a:r>
            <a:endParaRPr kumimoji="1"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75" y="1982470"/>
            <a:ext cx="3415030" cy="132397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5" y="3891915"/>
            <a:ext cx="6005195" cy="279146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23" name="内容占位符 22"/>
          <p:cNvSpPr>
            <a:spLocks noGrp="1"/>
          </p:cNvSpPr>
          <p:nvPr>
            <p:ph idx="1"/>
          </p:nvPr>
        </p:nvSpPr>
        <p:spPr>
          <a:xfrm>
            <a:off x="461645" y="932180"/>
            <a:ext cx="11268075" cy="497205"/>
          </a:xfrm>
        </p:spPr>
        <p:txBody>
          <a:bodyPr/>
          <a:lstStyle/>
          <a:p>
            <a:r>
              <a:rPr kumimoji="1" lang="zh-CN" altLang="en-US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更改结构体</a:t>
            </a:r>
            <a:endParaRPr kumimoji="1" lang="zh-CN" altLang="en-US" sz="2400" b="1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372235"/>
            <a:ext cx="1219263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把原来的一个 kmem 结构体改成一个数组 kmems，使每个 CPU 有一个对应的空闲页面链表：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93453" y="1005926"/>
            <a:ext cx="10983791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kfree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函数修改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41351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释放的页面放进当前 CPU 的空闲页面链表。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6220" y="1966595"/>
            <a:ext cx="6781800" cy="48387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93453" y="1005926"/>
            <a:ext cx="10983791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kalloc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函数修改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503045"/>
            <a:ext cx="6170295" cy="1091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从当前 CPU 空闲页面链表中取一个页面，如果不存在则窃取（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steal）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485" y="1005840"/>
            <a:ext cx="5946775" cy="574675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Memory allocator (</a:t>
            </a:r>
            <a:r>
              <a:rPr lang="zh-CN" altLang="en-US" dirty="0"/>
              <a:t>内存分配器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93453" y="1005926"/>
            <a:ext cx="10983791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ksteal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</a:t>
            </a: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429385"/>
            <a:ext cx="763968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逐一检查各个 CPU 是否有空闲页面，有就窃取过来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8460" y="932815"/>
            <a:ext cx="5372735" cy="581787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635" y="1503045"/>
            <a:ext cx="12192635" cy="5008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457200" algn="l" defTabSz="914400" rtl="0" eaLnBrk="1" hangingPunct="1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在现代 OS 中，所有 I/O 操作都不会直接与 disk 打交道，一般都是将 disk 中的数据拷贝到 memory 中，进程再从 memory 中进行读写。memory 中用来暂存 disk 数据的地方，叫做 Buffer cache。Buffer cache 就是一块空闲内存，用来暂存数据，作 disk 和进程之间的缓冲地带。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Buffer cache 机制：xv6 有一个非常大的数组，代表着空闲 buf 的集合。然后，利用双链表手段将这些空闲 buf 串联起来，方便分配和回收。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如果xv6 是刚启动，Buffer cache 没有从 disk 中拷贝过数据。此时来了进程 A ，带来了读 disk block0 的请求。进程 A 发出读请求后，就将自己切入至休眠状态了（主动让出 CPU ）。xv6 接收到读请求后，将 disk block0 中的数据拷贝到 Buffer cache 中，然后再通知正在休眠的进程 A 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上面提到的情形，是只有一个进程读 disk block0。现实中，肯定远远不止有一个进程，可能同时有一百个进程都想读 or 写 disk block0。我们知道，多个线程同时操纵一块内存时，需要通过锁机制来确保读写的有序进行，不然会出错。同样，在处理 Buffer cache 问题上也是利用这种手段。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3453" y="1005926"/>
            <a:ext cx="10983791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v6 Buffer cache机制</a:t>
            </a: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93453" y="1005926"/>
            <a:ext cx="10983791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kumimoji="1" lang="en-US" altLang="zh-CN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v6 Buffer cache机制</a:t>
            </a: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1503045"/>
            <a:ext cx="12192635" cy="47720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lvl="0" indent="457200" algn="l" defTabSz="914400" rtl="0" fontAlgn="base" latinLnBrk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Buffer cache 只是一块很大的内存空间，为了确保多进程之间有序的读写，xv6 为 Buffer cache 配备了一个 lock 。这已经可以实现有序操作了，但还是存在问题，比如进程 A 只想修改 disk block0 的那一小块内容，但却要对整块 Buffer cache 上锁（假设 Buffer cache 可以装下100块 block ），这太得不偿失了。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indent="457200" algn="l" defTabSz="914400" rtl="0" fontAlgn="base" latinLnBrk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试想，若此时还有一个进程 B ，它仅仅是想读 disk block2 的数据。本来无需考虑除 disk block2 外的情况，结果却因为进程 A 对整个 Buffer cache 上锁了，被迫需要等待，等进程 A 放锁之后才能读取。这就是问题所在！专业术语，就是锁的颗粒度很大，需要优化。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indent="457200" algn="l" defTabSz="914400" rtl="0" fontAlgn="base" latinLnBrk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所以，这个子实验的目的很明确，就是解决上述的问题。针对进程 A 的请求可以只对 disk block0 在 Buffer cache 的映射区域上锁，而不是选择对一整块 Buffer cache 上锁，这样的话，也不会影响进程 B 的 disk block2 的请求。</a:t>
            </a:r>
            <a:endParaRPr lang="zh-CN" altLang="en-US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也就是，将一块非常大的 Buffer cache 分而治之，划分成众多小区域，针对小区域进行上锁，而不是动不动就一整块上锁。这样可以明显提高并行效率，这种手段术语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称为减小锁的颗粒度。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838200"/>
            <a:ext cx="12192000" cy="14484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如果多个进程密集地使用文件系统，它们可能会争夺bcache.lock（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buffer cache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），它保护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kernel/bio.c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中的磁盘块缓存。bcachetest创建多个进程，这些进程重复读取不同的文件，以便在bcache.lock上生成争用；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完成实验前，bcachetest的输出与此类似。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b="0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08625" y="2127885"/>
            <a:ext cx="6550025" cy="2372995"/>
          </a:xfrm>
          <a:prstGeom prst="rect">
            <a:avLst/>
          </a:prstGeom>
        </p:spPr>
        <p:txBody>
          <a:bodyPr>
            <a:noAutofit/>
          </a:bodyPr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可能会看到不同的输出，但bcache锁的acquire循环迭代次数将很高。如果查看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kernel/bio.c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中的代码，将看到bcache.lock保护已缓存的块缓冲区的列表、每个块缓冲区中的引用计数（b-&gt;refcnt）以及缓存块的标识（b-&gt;dev和b-&gt;blockno）。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96865" y="4342765"/>
            <a:ext cx="6661785" cy="251523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b="1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任务：修改块缓存，以便在运行bcachetest时，</a:t>
            </a:r>
            <a:r>
              <a:rPr lang="en-US" altLang="zh-CN" sz="2000" b="1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bcache</a:t>
            </a:r>
            <a:r>
              <a:rPr lang="zh-CN" altLang="en-US" sz="2000" b="1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中所有锁的acquire循环迭代次数接近于零，即bcache中不同块的并发查找和释放不太可能在锁上发生冲突（例如，不必全部等待bcache.lock）。</a:t>
            </a:r>
            <a:endParaRPr lang="zh-CN" altLang="en-US" sz="2000" b="1" i="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b="1" i="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使make grade通过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bcachetest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测试</a:t>
            </a:r>
            <a:r>
              <a:rPr lang="zh-CN" altLang="en-US" sz="2000" b="1" dirty="0">
                <a:highlight>
                  <a:srgbClr val="FFFF00"/>
                </a:highlight>
                <a:sym typeface="+mn-ea"/>
              </a:rPr>
              <a:t>】</a:t>
            </a:r>
            <a:endParaRPr lang="zh-CN" altLang="en-US" sz="2000" b="1" i="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95" y="2286635"/>
            <a:ext cx="5086350" cy="44196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273800" y="2346325"/>
            <a:ext cx="5837555" cy="24872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可以使用固定数量的散列桶，而不动态调整哈希表的大小。使用素数个存储桶（例如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）来降低散列冲突的可能性【哈希函数是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(id) % NBUCKET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素数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可以减少不同键值产生相同哈希值的概率】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3453" y="1005926"/>
            <a:ext cx="10983791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 bcache 结构体</a:t>
            </a: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0" y="1853565"/>
            <a:ext cx="5539105" cy="405765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31906" y="945052"/>
            <a:ext cx="11159639" cy="8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bcache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的相关操作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——binit()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defRPr/>
            </a:pP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7270" y="1522730"/>
            <a:ext cx="5840095" cy="4526280"/>
          </a:xfrm>
          <a:prstGeom prst="rect">
            <a:avLst/>
          </a:prstGeom>
        </p:spPr>
        <p:txBody>
          <a:bodyPr>
            <a:noAutofit/>
          </a:bodyPr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  <a:buNone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在binit中：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  <a:buNone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（1）初始化散列桶的锁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  <a:buNone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保持每个哈希桶是双链表的特性，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将所有散列桶的head-&gt;prev、head-&gt;next都指向自身表示为空（这里也可以使用单链表，因为使用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基于时间戳的 LRU 实现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  <a:buNone/>
            </a:pP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（3）将所有的缓冲区挂载到bucket[0]桶上，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方便后续接济其他哈希桶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有的哈希桶中可能没有空闲 buf 了，此时它会去别的哈希桶中拿）。</a:t>
            </a:r>
            <a:endParaRPr lang="zh-CN" altLang="en-US" sz="2000" b="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90" y="1522730"/>
            <a:ext cx="5422900" cy="506984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52745" y="1442085"/>
            <a:ext cx="6304280" cy="297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该函数用于释放缓存块。在原本的实现中, 若其引用计数为 0，则将其移至双向链表表头，这样双向链表表头是最近使用的，表尾是最近未使用的，构成一个 LRU 序列，方便 bget() 函数寻找缓存块。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而此处要使用基于时间戳的 LRU 实现，此外，加锁也由原本的全局锁改为缓存块所在的 bucket 的锁。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1906" y="945052"/>
            <a:ext cx="11159639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bcache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的相关操作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——brelse()</a:t>
            </a: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740" y="1706880"/>
            <a:ext cx="4737735" cy="448183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5" y="4418965"/>
            <a:ext cx="4297680" cy="239522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044690" y="2317115"/>
            <a:ext cx="514667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将原本的全局锁替换为缓存块对应的 bucket 的锁即可。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1906" y="945052"/>
            <a:ext cx="11159639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bcache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的相关操作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bpin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 </a:t>
            </a: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bunpin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endParaRPr lang="en-US" altLang="zh-CN" dirty="0">
              <a:solidFill>
                <a:srgbClr val="252933"/>
              </a:solidFill>
              <a:latin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" y="1548765"/>
            <a:ext cx="6276975" cy="5038725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0" y="1442085"/>
            <a:ext cx="1219263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blockno 对应的哈希桶中找到编号为 dev 的 buf 。如果能在哈希桶中顺利找到，直接返回。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1906" y="945052"/>
            <a:ext cx="11159639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bcache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的相关操作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kumimoji="1" lang="en-US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get()</a:t>
            </a:r>
            <a:endParaRPr lang="en-US" dirty="0">
              <a:solidFill>
                <a:srgbClr val="252933"/>
              </a:solidFill>
              <a:latin typeface="-apple-system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165" y="1995170"/>
            <a:ext cx="8027035" cy="468757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Buffer cache (</a:t>
            </a:r>
            <a:r>
              <a:rPr lang="zh-CN" altLang="en-US" dirty="0"/>
              <a:t>缓冲区缓存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1906" y="945052"/>
            <a:ext cx="11159639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FontTx/>
              <a:buChar char="•"/>
              <a:defRPr/>
            </a:pP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bcache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的相关操作</a:t>
            </a:r>
            <a:r>
              <a:rPr kumimoji="1" lang="en-US" altLang="zh-CN" sz="24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en-US" altLang="zh-CN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kumimoji="1" lang="en-US" sz="2400" b="1" dirty="0" err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get()</a:t>
            </a:r>
            <a:endParaRPr lang="en-US" dirty="0">
              <a:solidFill>
                <a:srgbClr val="252933"/>
              </a:solidFill>
              <a:latin typeface="-apple-system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3645" y="99060"/>
            <a:ext cx="4600575" cy="224409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645" y="2343150"/>
            <a:ext cx="4587875" cy="444500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9" name="文本框 8"/>
          <p:cNvSpPr txBox="1"/>
          <p:nvPr/>
        </p:nvSpPr>
        <p:spPr>
          <a:xfrm>
            <a:off x="0" y="1442085"/>
            <a:ext cx="7573010" cy="46545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sym typeface="+mn-ea"/>
              </a:rPr>
              <a:t>如果找不到，则分两种情况讨论：</a:t>
            </a:r>
            <a:endParaRPr lang="zh-CN" altLang="en-US" sz="2000" dirty="0">
              <a:sym typeface="+mn-ea"/>
            </a:endParaRPr>
          </a:p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）如果在当前哈希桶中没有找到对应的 </a:t>
            </a:r>
            <a:r>
              <a:rPr lang="en-US" altLang="zh-CN" sz="2000" dirty="0" err="1">
                <a:sym typeface="+mn-ea"/>
              </a:rPr>
              <a:t>buf</a:t>
            </a:r>
            <a:r>
              <a:rPr lang="zh-CN" altLang="en-US" sz="2000" dirty="0">
                <a:sym typeface="+mn-ea"/>
              </a:rPr>
              <a:t>，但是当前哈希桶中有可供淘汰的空闲 </a:t>
            </a:r>
            <a:r>
              <a:rPr lang="en-US" altLang="zh-CN" sz="2000" dirty="0" err="1">
                <a:sym typeface="+mn-ea"/>
              </a:rPr>
              <a:t>buf</a:t>
            </a:r>
            <a:r>
              <a:rPr lang="en-US" altLang="zh-CN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。那么立马腾出空间，用来保存 </a:t>
            </a:r>
            <a:r>
              <a:rPr lang="en-US" altLang="zh-CN" sz="2000" dirty="0" err="1">
                <a:sym typeface="+mn-ea"/>
              </a:rPr>
              <a:t>blockno</a:t>
            </a:r>
            <a:r>
              <a:rPr lang="en-US" altLang="zh-CN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的数据。</a:t>
            </a:r>
            <a:endParaRPr lang="zh-CN" altLang="en-US" sz="2000" dirty="0">
              <a:sym typeface="+mn-ea"/>
            </a:endParaRPr>
          </a:p>
          <a:p>
            <a:pPr indent="457200" algn="l">
              <a:lnSpc>
                <a:spcPct val="15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）在当前哈希桶内也没有找到可供淘汰的空闲 </a:t>
            </a:r>
            <a:r>
              <a:rPr lang="en-US" altLang="zh-CN" sz="2000" dirty="0" err="1">
                <a:sym typeface="+mn-ea"/>
              </a:rPr>
              <a:t>buf</a:t>
            </a:r>
            <a:r>
              <a:rPr lang="en-US" altLang="zh-CN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，那么此时就需要去挖别的哈希桶寻找空闲</a:t>
            </a:r>
            <a:r>
              <a:rPr lang="en-US" altLang="zh-CN" sz="2000" dirty="0" err="1">
                <a:sym typeface="+mn-ea"/>
              </a:rPr>
              <a:t>buf</a:t>
            </a:r>
            <a:r>
              <a:rPr lang="zh-CN" altLang="en-US" sz="2000" dirty="0">
                <a:sym typeface="+mn-ea"/>
              </a:rPr>
              <a:t>，具体表现为向有空闲 </a:t>
            </a:r>
            <a:r>
              <a:rPr lang="en-US" altLang="zh-CN" sz="2000" dirty="0" err="1">
                <a:sym typeface="+mn-ea"/>
              </a:rPr>
              <a:t>buf</a:t>
            </a:r>
            <a:r>
              <a:rPr lang="en-US" altLang="zh-CN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的哈希桶发出请求，过继一个 </a:t>
            </a:r>
            <a:r>
              <a:rPr lang="en-US" altLang="zh-CN" sz="2000" dirty="0" err="1">
                <a:sym typeface="+mn-ea"/>
              </a:rPr>
              <a:t>buf</a:t>
            </a:r>
            <a:r>
              <a:rPr lang="zh-CN" altLang="en-US" sz="2000" dirty="0" err="1">
                <a:sym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将其从原先的哈希桶链表中取出来，接入当前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的哈希桶中。无论是取还是接，操作的本质都是对链表的插入和删除。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0" y="2525862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Thank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You</a:t>
            </a:r>
            <a:endParaRPr lang="zh-CN" alt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807085" y="0"/>
            <a:ext cx="3253105" cy="933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1" compatLnSpc="1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16388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7894b92a-c960-47a7-99ec-6e4dfd8dd848"/>
  <p:tag name="COMMONDATA" val="eyJoZGlkIjoiM2QwZjk5MTQzMjQyNDE0YjBkMGY0YjdiMzAyZmE2N2MifQ==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8529</Words>
  <Application>WPS 演示</Application>
  <PresentationFormat>宽屏</PresentationFormat>
  <Paragraphs>296</Paragraphs>
  <Slides>37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微软雅黑</vt:lpstr>
      <vt:lpstr>Times New Roman</vt:lpstr>
      <vt:lpstr>-apple-system</vt:lpstr>
      <vt:lpstr>Segoe Print</vt:lpstr>
      <vt:lpstr>Arial Unicode MS</vt:lpstr>
      <vt:lpstr>等线</vt:lpstr>
      <vt:lpstr>Wingdings</vt:lpstr>
      <vt:lpstr>Helvetica Neue</vt:lpstr>
      <vt:lpstr>主题1</vt:lpstr>
      <vt:lpstr>1_主题1</vt:lpstr>
      <vt:lpstr>操作系统实验</vt:lpstr>
      <vt:lpstr>实验一：Multithreading（多线程）</vt:lpstr>
      <vt:lpstr>任务1：线程的切换</vt:lpstr>
      <vt:lpstr>任务1：线程的切换</vt:lpstr>
      <vt:lpstr>任务1：线程的切换</vt:lpstr>
      <vt:lpstr>任务1：线程的切换</vt:lpstr>
      <vt:lpstr>任务1：线程的切换</vt:lpstr>
      <vt:lpstr>任务1：线程的切换</vt:lpstr>
      <vt:lpstr>任务1：线程的切换</vt:lpstr>
      <vt:lpstr>任务1：线程的切换</vt:lpstr>
      <vt:lpstr>任务1：线程的切换</vt:lpstr>
      <vt:lpstr>任务2：Using threads（使用线程）</vt:lpstr>
      <vt:lpstr>任务2：Using threads（使用线程）</vt:lpstr>
      <vt:lpstr>任务2：Using threads（使用线程）</vt:lpstr>
      <vt:lpstr>任务2：Using threads（使用线程）</vt:lpstr>
      <vt:lpstr>任务2：Using threads（使用线程）</vt:lpstr>
      <vt:lpstr>任务3：Barrier（屏障）</vt:lpstr>
      <vt:lpstr>任务3：Barrier（屏障）</vt:lpstr>
      <vt:lpstr>任务3：Barrier（屏障）</vt:lpstr>
      <vt:lpstr>实验二：Locks（锁）</vt:lpstr>
      <vt:lpstr>任务1：Memory allocator (内存分配器)</vt:lpstr>
      <vt:lpstr>任务1：Memory allocator (内存分配器)</vt:lpstr>
      <vt:lpstr>任务1：Memory allocator (内存分配器)</vt:lpstr>
      <vt:lpstr>任务1：Memory allocator (内存分配器)</vt:lpstr>
      <vt:lpstr>任务1：Memory allocator (内存分配器)</vt:lpstr>
      <vt:lpstr>任务1：Memory allocator (内存分配器)</vt:lpstr>
      <vt:lpstr>任务1：Memory allocator (内存分配器)</vt:lpstr>
      <vt:lpstr>任务2：Buffer cache (缓冲区缓存)</vt:lpstr>
      <vt:lpstr>任务2：Buffer cache (缓冲区缓存)</vt:lpstr>
      <vt:lpstr>任务2：Buffer cache (缓冲区缓存)</vt:lpstr>
      <vt:lpstr>任务2：Buffer cache (缓冲区缓存)</vt:lpstr>
      <vt:lpstr>任务2：Buffer cache (缓冲区缓存)</vt:lpstr>
      <vt:lpstr>任务2：Buffer cache (缓冲区缓存)</vt:lpstr>
      <vt:lpstr>任务2：Buffer cache (缓冲区缓存)</vt:lpstr>
      <vt:lpstr>任务2：Buffer cache (缓冲区缓存)</vt:lpstr>
      <vt:lpstr>任务2：Buffer cache (缓冲区缓存)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LWT</dc:creator>
  <cp:lastModifiedBy>时时.</cp:lastModifiedBy>
  <cp:revision>1917</cp:revision>
  <dcterms:created xsi:type="dcterms:W3CDTF">2024-03-22T09:23:00Z</dcterms:created>
  <dcterms:modified xsi:type="dcterms:W3CDTF">2025-12-01T05:43:59Z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F82128252B3D418B9923EB758360AF69_13</vt:lpwstr>
  </property>
  <property fmtid="{D5CDD505-2E9C-101B-9397-08002B2CF9AE}" pid="3" name="KSOProductBuildVer">
    <vt:lpwstr>2052-12.1.0.23542</vt:lpwstr>
  </property>
</Properties>
</file>