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39"/>
  </p:handoutMasterIdLst>
  <p:sldIdLst>
    <p:sldId id="522" r:id="rId4"/>
    <p:sldId id="527" r:id="rId6"/>
    <p:sldId id="547" r:id="rId7"/>
    <p:sldId id="818" r:id="rId8"/>
    <p:sldId id="819" r:id="rId9"/>
    <p:sldId id="820" r:id="rId10"/>
    <p:sldId id="821" r:id="rId11"/>
    <p:sldId id="822" r:id="rId12"/>
    <p:sldId id="823" r:id="rId13"/>
    <p:sldId id="824" r:id="rId14"/>
    <p:sldId id="845" r:id="rId15"/>
    <p:sldId id="846" r:id="rId16"/>
    <p:sldId id="847" r:id="rId17"/>
    <p:sldId id="848" r:id="rId18"/>
    <p:sldId id="849" r:id="rId19"/>
    <p:sldId id="850" r:id="rId20"/>
    <p:sldId id="826" r:id="rId21"/>
    <p:sldId id="829" r:id="rId22"/>
    <p:sldId id="851" r:id="rId23"/>
    <p:sldId id="827" r:id="rId24"/>
    <p:sldId id="830" r:id="rId25"/>
    <p:sldId id="832" r:id="rId26"/>
    <p:sldId id="833" r:id="rId27"/>
    <p:sldId id="852" r:id="rId28"/>
    <p:sldId id="834" r:id="rId29"/>
    <p:sldId id="733" r:id="rId30"/>
    <p:sldId id="837" r:id="rId31"/>
    <p:sldId id="835" r:id="rId32"/>
    <p:sldId id="838" r:id="rId33"/>
    <p:sldId id="840" r:id="rId34"/>
    <p:sldId id="718" r:id="rId35"/>
    <p:sldId id="843" r:id="rId36"/>
    <p:sldId id="844" r:id="rId37"/>
    <p:sldId id="478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无标题节" id="{FBAC4761-0095-4685-B9DA-229890EFEBB0}">
          <p14:sldIdLst>
            <p14:sldId id="522"/>
            <p14:sldId id="527"/>
            <p14:sldId id="547"/>
            <p14:sldId id="818"/>
            <p14:sldId id="819"/>
            <p14:sldId id="820"/>
            <p14:sldId id="821"/>
            <p14:sldId id="822"/>
            <p14:sldId id="823"/>
            <p14:sldId id="824"/>
            <p14:sldId id="845"/>
            <p14:sldId id="846"/>
            <p14:sldId id="847"/>
            <p14:sldId id="848"/>
            <p14:sldId id="849"/>
            <p14:sldId id="850"/>
            <p14:sldId id="826"/>
            <p14:sldId id="829"/>
            <p14:sldId id="851"/>
            <p14:sldId id="827"/>
            <p14:sldId id="830"/>
            <p14:sldId id="832"/>
            <p14:sldId id="833"/>
            <p14:sldId id="852"/>
            <p14:sldId id="834"/>
            <p14:sldId id="733"/>
            <p14:sldId id="837"/>
            <p14:sldId id="835"/>
            <p14:sldId id="838"/>
            <p14:sldId id="840"/>
            <p14:sldId id="718"/>
            <p14:sldId id="843"/>
            <p14:sldId id="844"/>
            <p14:sldId id="4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4E4E4"/>
    <a:srgbClr val="4D9BD3"/>
    <a:srgbClr val="003E7A"/>
    <a:srgbClr val="990000"/>
    <a:srgbClr val="9F1010"/>
    <a:srgbClr val="A96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A7717D3-5C5C-4A3E-888D-09C2BA5A4598}" styleName="{5e54ee44-2122-4b89-9784-b75a85ec0aa5}">
    <a:wholeTbl>
      <a:tcTxStyle>
        <a:fontRef idx="none">
          <a:prstClr val="black"/>
        </a:fontRef>
      </a:tcTxStyle>
      <a:tcStyle>
        <a:tcBdr>
          <a:top>
            <a:ln w="38100" cmpd="sng">
              <a:solidFill>
                <a:srgbClr val="B58453"/>
              </a:solidFill>
            </a:ln>
          </a:top>
          <a:bottom>
            <a:ln w="38100" cmpd="sng">
              <a:solidFill>
                <a:srgbClr val="B58453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/>
        <a:fill>
          <a:solidFill>
            <a:srgbClr val="E1CDB9"/>
          </a:solidFill>
        </a:fill>
      </a:tcStyle>
    </a:band1H>
    <a:band2H>
      <a:tcTxStyle>
        <a:fontRef idx="none">
          <a:prstClr val="black"/>
        </a:fontRef>
      </a:tcTxStyle>
      <a:tcStyle>
        <a:tcBdr/>
        <a:fill>
          <a:solidFill>
            <a:srgbClr val="FFFFFF"/>
          </a:solidFill>
        </a:fill>
      </a:tcStyle>
    </a:band2H>
    <a:firstRow>
      <a:tcTxStyle>
        <a:fontRef idx="none">
          <a:prstClr val="black"/>
        </a:fontRef>
      </a:tcTxStyle>
      <a:tcStyle>
        <a:tcBdr>
          <a:top>
            <a:ln w="38100" cmpd="sng">
              <a:solidFill>
                <a:srgbClr val="B58453"/>
              </a:solidFill>
            </a:ln>
          </a:top>
          <a:bottom>
            <a:ln w="38100" cmpd="sng">
              <a:solidFill>
                <a:srgbClr val="B58453"/>
              </a:solidFill>
            </a:ln>
          </a:bottom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3214" autoAdjust="0"/>
  </p:normalViewPr>
  <p:slideViewPr>
    <p:cSldViewPr snapToGrid="0">
      <p:cViewPr varScale="1">
        <p:scale>
          <a:sx n="89" d="100"/>
          <a:sy n="89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44E5-6B83-484E-B06E-5269D044D4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45C01-8370-4DA3-8DA5-A0AE7AECFD7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__attribute__ ((aligned (16))) char stack0[4096 * NCPU];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96B74C-735D-4D2D-9F90-20580682F6C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宋体" panose="02010600030101010101" pitchFamily="2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D45C01-8370-4DA3-8DA5-A0AE7AECFD7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编号占位符 6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marL="742950" indent="-28575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fld id="{DF76A47F-F381-4BF3-83E2-34D85D44A2FE}" type="slidenum">
              <a:rPr lang="zh-CN" altLang="en-US"/>
            </a:fld>
            <a:endParaRPr lang="zh-CN" altLang="en-US"/>
          </a:p>
        </p:txBody>
      </p:sp>
      <p:sp>
        <p:nvSpPr>
          <p:cNvPr id="717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noFill/>
        </p:spPr>
      </p:sp>
      <p:sp>
        <p:nvSpPr>
          <p:cNvPr id="7172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7173" name="幻灯片编号占位符 3"/>
          <p:cNvSpPr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sym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E5873-95F7-4515-96EC-B7B5D7E1AB66}" type="slidenum">
              <a:rPr lang="zh-CN" altLang="en-US">
                <a:sym typeface="宋体" panose="02010600030101010101" pitchFamily="2" charset="-122"/>
              </a:rPr>
            </a:fld>
            <a:endParaRPr lang="zh-CN" altLang="en-US">
              <a:sym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92125" y="1125538"/>
            <a:ext cx="5557838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02363" y="1125538"/>
            <a:ext cx="5557837" cy="55276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3975" y="149225"/>
            <a:ext cx="2816225" cy="65039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492125" y="149225"/>
            <a:ext cx="8299450" cy="650398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68375" y="149225"/>
            <a:ext cx="8391525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en-US" altLang="en-US"/>
          </a:p>
        </p:txBody>
      </p:sp>
      <p:sp>
        <p:nvSpPr>
          <p:cNvPr id="1027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2125" y="1125538"/>
            <a:ext cx="11268075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en-US" altLang="zh-CN"/>
          </a:p>
        </p:txBody>
      </p:sp>
      <p:grpSp>
        <p:nvGrpSpPr>
          <p:cNvPr id="1028" name="Group -1006"/>
          <p:cNvGrpSpPr/>
          <p:nvPr/>
        </p:nvGrpSpPr>
        <p:grpSpPr bwMode="auto">
          <a:xfrm>
            <a:off x="0" y="141288"/>
            <a:ext cx="885825" cy="679450"/>
            <a:chOff x="0" y="142043"/>
            <a:chExt cx="354475" cy="347582"/>
          </a:xfrm>
        </p:grpSpPr>
        <p:sp>
          <p:nvSpPr>
            <p:cNvPr id="1048578" name="矩形 1"/>
            <p:cNvSpPr>
              <a:spLocks noChangeArrowheads="1"/>
            </p:cNvSpPr>
            <p:nvPr/>
          </p:nvSpPr>
          <p:spPr bwMode="auto">
            <a:xfrm>
              <a:off x="0" y="142043"/>
              <a:ext cx="196931" cy="347582"/>
            </a:xfrm>
            <a:prstGeom prst="rect">
              <a:avLst/>
            </a:prstGeom>
            <a:solidFill>
              <a:srgbClr val="003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79" name="矩形 1"/>
            <p:cNvSpPr>
              <a:spLocks noChangeArrowheads="1"/>
            </p:cNvSpPr>
            <p:nvPr/>
          </p:nvSpPr>
          <p:spPr bwMode="auto">
            <a:xfrm>
              <a:off x="229964" y="142043"/>
              <a:ext cx="62255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  <p:sp>
          <p:nvSpPr>
            <p:cNvPr id="1048580" name="矩形 1"/>
            <p:cNvSpPr>
              <a:spLocks noChangeArrowheads="1"/>
            </p:cNvSpPr>
            <p:nvPr/>
          </p:nvSpPr>
          <p:spPr bwMode="auto">
            <a:xfrm>
              <a:off x="325253" y="142043"/>
              <a:ext cx="29222" cy="347582"/>
            </a:xfrm>
            <a:prstGeom prst="rect">
              <a:avLst/>
            </a:prstGeom>
            <a:solidFill>
              <a:srgbClr val="3C3D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71" tIns="34285" rIns="68571" bIns="34285" anchor="ctr"/>
            <a:lstStyle>
              <a:lvl1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1pPr>
              <a:lvl2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2pPr>
              <a:lvl3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3pPr>
              <a:lvl4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4pPr>
              <a:lvl5pPr eaLnBrk="0" hangingPunct="0"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1300">
                <a:solidFill>
                  <a:srgbClr val="FFFFFF"/>
                </a:solidFill>
                <a:sym typeface="Calibri" panose="020F0502020204030204" pitchFamily="34" charset="0"/>
              </a:endParaRPr>
            </a:p>
          </p:txBody>
        </p:sp>
      </p:grpSp>
      <p:pic>
        <p:nvPicPr>
          <p:cNvPr id="1029" name="图片 8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6150" y="152400"/>
            <a:ext cx="750888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 kern="1200">
          <a:solidFill>
            <a:srgbClr val="16388A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rgbClr val="16388A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800" kern="1200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28575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2pPr>
      <a:lvl3pPr marL="132270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730375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–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138680" indent="-228600" algn="l" rtl="0" eaLnBrk="1" fontAlgn="base" latinLnBrk="1" hangingPunct="1">
        <a:lnSpc>
          <a:spcPct val="110000"/>
        </a:lnSpc>
        <a:spcBef>
          <a:spcPct val="20000"/>
        </a:spcBef>
        <a:spcAft>
          <a:spcPct val="0"/>
        </a:spcAft>
        <a:buClr>
          <a:srgbClr val="8AC6CD"/>
        </a:buClr>
        <a:buSzPct val="120000"/>
        <a:buChar char="»"/>
        <a:defRPr sz="2000" kern="1200">
          <a:solidFill>
            <a:srgbClr val="000000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9" Type="http://schemas.openxmlformats.org/officeDocument/2006/relationships/tags" Target="../tags/tag20.xml"/><Relationship Id="rId18" Type="http://schemas.openxmlformats.org/officeDocument/2006/relationships/tags" Target="../tags/tag19.xml"/><Relationship Id="rId17" Type="http://schemas.openxmlformats.org/officeDocument/2006/relationships/tags" Target="../tags/tag18.xml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1" Type="http://schemas.openxmlformats.org/officeDocument/2006/relationships/notesSlide" Target="../notesSlides/notesSlide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slide" Target="slide1.xml"/><Relationship Id="rId1" Type="http://schemas.openxmlformats.org/officeDocument/2006/relationships/tags" Target="../tags/tag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-1" y="1869090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实验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2-1 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页表</a:t>
            </a:r>
            <a:endParaRPr lang="en-US" altLang="zh-CN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ph type="ctrTitle" idx="4294967295"/>
          </p:nvPr>
        </p:nvSpPr>
        <p:spPr>
          <a:xfrm>
            <a:off x="807085" y="0"/>
            <a:ext cx="3253105" cy="933450"/>
          </a:xfrm>
        </p:spPr>
        <p:txBody>
          <a:bodyPr anchor="ctr" anchorCtr="1"/>
          <a:lstStyle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oup 8"/>
          <p:cNvGraphicFramePr>
            <a:graphicFrameLocks noGrp="1"/>
          </p:cNvGraphicFramePr>
          <p:nvPr/>
        </p:nvGraphicFramePr>
        <p:xfrm>
          <a:off x="2586037" y="4422504"/>
          <a:ext cx="7019925" cy="1704975"/>
        </p:xfrm>
        <a:graphic>
          <a:graphicData uri="http://schemas.openxmlformats.org/drawingml/2006/table">
            <a:tbl>
              <a:tblPr/>
              <a:tblGrid>
                <a:gridCol w="7019925"/>
              </a:tblGrid>
              <a:tr h="1704975">
                <a:tc>
                  <a:txBody>
                    <a:bodyPr/>
                    <a:lstStyle>
                      <a:lvl1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40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defRPr>
                      </a:lvl1pPr>
                      <a:lvl2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 sz="200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fontAlgn="base" latinLnBrk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8AC6CD"/>
                        </a:buClr>
                        <a:buSzPct val="120000"/>
                        <a:defRPr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2025.10.27</a:t>
                      </a:r>
                      <a:endParaRPr kumimoji="0" lang="en-US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1459" marR="91459" marT="45664" marB="45664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1962" y="838200"/>
            <a:ext cx="11268075" cy="6019800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一、实验背景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&amp;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原理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页表是什么，内核页表、用户页表是什么？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en-US" altLang="zh-CN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XV6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系统是如何启动的？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XV6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系统如何布置页表的？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二、实验内容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打印页表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任务二：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为每个用户进程新增一个独享的内核页表</a:t>
            </a:r>
            <a:endParaRPr 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Char char="q"/>
            </a:pP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任务三：使用任务二的独享内核页表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instead of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公共内核页表</a:t>
            </a:r>
            <a:endParaRPr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500"/>
              </a:spcBef>
              <a:buFont typeface="Wingdings" panose="05000000000000000000" pitchFamily="2" charset="2"/>
              <a:buNone/>
            </a:pPr>
            <a:endParaRPr lang="zh-CN" altLang="en-US" b="1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</a:rPr>
              <a:t>实验目录</a:t>
            </a:r>
            <a:r>
              <a:rPr lang="en-US" altLang="zh-CN" dirty="0">
                <a:solidFill>
                  <a:srgbClr val="002060"/>
                </a:solidFill>
              </a:rPr>
              <a:t>——</a:t>
            </a:r>
            <a:r>
              <a:rPr lang="zh-CN" altLang="en-US" dirty="0">
                <a:solidFill>
                  <a:srgbClr val="002060"/>
                </a:solidFill>
              </a:rPr>
              <a:t>页表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灯片编号占位符 4"/>
          <p:cNvSpPr>
            <a:spLocks noGrp="1"/>
          </p:cNvSpPr>
          <p:nvPr/>
        </p:nvSpPr>
        <p:spPr>
          <a:xfrm>
            <a:off x="9622970" y="609123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F8B8DA-3D2E-8C43-91D1-4E8AEA96D1B2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383020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现在的操作系统采取分页的方式管理内存，用户的虚拟页面会被映射（存放）到内存的某个物理页中。</a:t>
            </a:r>
            <a:endParaRPr 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为了记录这种映射关系，我们需要一张</a:t>
            </a:r>
            <a:r>
              <a:rPr lang="zh-CN" altLang="en-US" sz="2400" b="1" dirty="0">
                <a:sym typeface="+mn-ea"/>
              </a:rPr>
              <a:t>表格</a:t>
            </a:r>
            <a:r>
              <a:rPr lang="zh-CN" altLang="en-US" sz="2400" dirty="0">
                <a:sym typeface="+mn-ea"/>
              </a:rPr>
              <a:t>来记录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页表</a:t>
            </a:r>
            <a:endParaRPr lang="zh-CN" altLang="en-US" sz="2400" dirty="0"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066280" y="1297940"/>
            <a:ext cx="4615180" cy="2382520"/>
            <a:chOff x="9025" y="5627"/>
            <a:chExt cx="7268" cy="3752"/>
          </a:xfrm>
        </p:grpSpPr>
        <p:grpSp>
          <p:nvGrpSpPr>
            <p:cNvPr id="17" name="组合 16"/>
            <p:cNvGrpSpPr/>
            <p:nvPr/>
          </p:nvGrpSpPr>
          <p:grpSpPr>
            <a:xfrm>
              <a:off x="9025" y="6329"/>
              <a:ext cx="7269" cy="3050"/>
              <a:chOff x="5698" y="2974"/>
              <a:chExt cx="7269" cy="305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1047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1047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047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1047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1047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15" name="直接箭头连接符 14"/>
              <p:cNvCxnSpPr>
                <a:stCxn id="5" idx="3"/>
                <a:endCxn id="11" idx="1"/>
              </p:cNvCxnSpPr>
              <p:nvPr/>
            </p:nvCxnSpPr>
            <p:spPr>
              <a:xfrm flipV="1">
                <a:off x="7618" y="3889"/>
                <a:ext cx="3429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6" name="直接箭头连接符 15"/>
              <p:cNvCxnSpPr>
                <a:stCxn id="2" idx="3"/>
                <a:endCxn id="12" idx="1"/>
              </p:cNvCxnSpPr>
              <p:nvPr/>
            </p:nvCxnSpPr>
            <p:spPr>
              <a:xfrm>
                <a:off x="7618" y="3279"/>
                <a:ext cx="3429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20" name="文本框 19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用户空间</a:t>
              </a:r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4466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内存空间</a:t>
              </a:r>
              <a:endParaRPr lang="zh-CN" altLang="en-US"/>
            </a:p>
          </p:txBody>
        </p:sp>
      </p:grpSp>
      <p:graphicFrame>
        <p:nvGraphicFramePr>
          <p:cNvPr id="23" name="表格 22"/>
          <p:cNvGraphicFramePr/>
          <p:nvPr/>
        </p:nvGraphicFramePr>
        <p:xfrm>
          <a:off x="2038350" y="4639310"/>
          <a:ext cx="853376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6565"/>
                <a:gridCol w="42665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虚拟页号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物理页号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...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5513070" y="418338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页表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697166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然而如果一个应用程序有</a:t>
            </a:r>
            <a:r>
              <a:rPr lang="en-US" altLang="zh-CN" sz="2400" dirty="0">
                <a:sym typeface="+mn-ea"/>
              </a:rPr>
              <a:t>100</a:t>
            </a:r>
            <a:r>
              <a:rPr lang="zh-CN" altLang="en-US" sz="2400" dirty="0">
                <a:sym typeface="+mn-ea"/>
              </a:rPr>
              <a:t>个虚拟页，那么当它需要查找某个虚拟页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如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号虚拟页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所对应的物理页时，它需要</a:t>
            </a:r>
            <a:r>
              <a:rPr lang="zh-CN" altLang="en-US" sz="2400" b="1" dirty="0">
                <a:sym typeface="+mn-ea"/>
              </a:rPr>
              <a:t>遍历整个页表</a:t>
            </a:r>
            <a:r>
              <a:rPr lang="zh-CN" altLang="en-US" sz="2400" dirty="0">
                <a:sym typeface="+mn-ea"/>
              </a:rPr>
              <a:t>，进行最多</a:t>
            </a:r>
            <a:r>
              <a:rPr lang="en-US" altLang="zh-CN" sz="2400" b="1" dirty="0">
                <a:sym typeface="+mn-ea"/>
              </a:rPr>
              <a:t>100</a:t>
            </a:r>
            <a:r>
              <a:rPr lang="zh-CN" altLang="en-US" sz="2400" b="1" dirty="0">
                <a:sym typeface="+mn-ea"/>
              </a:rPr>
              <a:t>次比对</a:t>
            </a:r>
            <a:r>
              <a:rPr lang="zh-CN" altLang="en-US" sz="2400" dirty="0">
                <a:sym typeface="+mn-ea"/>
              </a:rPr>
              <a:t>才能找到属于它的那一行数据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太慢了！！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有没有更加优化的方法呢？有！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我们将虚拟页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en-US" sz="2400" dirty="0">
                <a:sym typeface="+mn-ea"/>
              </a:rPr>
              <a:t>的映射信息放置在表格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页表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的第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en-US" sz="2400" dirty="0">
                <a:sym typeface="+mn-ea"/>
              </a:rPr>
              <a:t>行，查找某个虚拟页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如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号虚拟页</a:t>
            </a:r>
            <a:r>
              <a:rPr lang="en-US" altLang="zh-CN" sz="2400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，直接查找第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行即可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太快了！！</a:t>
            </a:r>
            <a:endParaRPr 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737475" y="838200"/>
            <a:ext cx="3971925" cy="2382520"/>
            <a:chOff x="9025" y="5627"/>
            <a:chExt cx="6255" cy="3752"/>
          </a:xfrm>
        </p:grpSpPr>
        <p:grpSp>
          <p:nvGrpSpPr>
            <p:cNvPr id="17" name="组合 16"/>
            <p:cNvGrpSpPr/>
            <p:nvPr/>
          </p:nvGrpSpPr>
          <p:grpSpPr>
            <a:xfrm>
              <a:off x="9025" y="6329"/>
              <a:ext cx="6255" cy="3050"/>
              <a:chOff x="5698" y="2974"/>
              <a:chExt cx="6255" cy="3050"/>
            </a:xfrm>
          </p:grpSpPr>
          <p:sp>
            <p:nvSpPr>
              <p:cNvPr id="2" name="矩形 1"/>
              <p:cNvSpPr/>
              <p:nvPr/>
            </p:nvSpPr>
            <p:spPr>
              <a:xfrm>
                <a:off x="5698" y="297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5698" y="358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5698" y="4194"/>
                <a:ext cx="1920" cy="610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5698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5698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虚拟页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0033" y="297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0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10033" y="358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0033" y="4194"/>
                <a:ext cx="1920" cy="61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2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10033" y="480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3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0033" y="5414"/>
                <a:ext cx="1920" cy="61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物理页</a:t>
                </a: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4</a:t>
                </a:r>
                <a:endPara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cxnSp>
            <p:nvCxnSpPr>
              <p:cNvPr id="15" name="直接箭头连接符 14"/>
              <p:cNvCxnSpPr>
                <a:stCxn id="5" idx="3"/>
                <a:endCxn id="11" idx="1"/>
              </p:cNvCxnSpPr>
              <p:nvPr/>
            </p:nvCxnSpPr>
            <p:spPr>
              <a:xfrm flipV="1">
                <a:off x="7618" y="3889"/>
                <a:ext cx="2415" cy="61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16" name="直接箭头连接符 15"/>
              <p:cNvCxnSpPr>
                <a:stCxn id="2" idx="3"/>
                <a:endCxn id="12" idx="1"/>
              </p:cNvCxnSpPr>
              <p:nvPr/>
            </p:nvCxnSpPr>
            <p:spPr>
              <a:xfrm>
                <a:off x="7618" y="3279"/>
                <a:ext cx="2415" cy="122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20" name="文本框 19"/>
            <p:cNvSpPr txBox="1"/>
            <p:nvPr/>
          </p:nvSpPr>
          <p:spPr>
            <a:xfrm>
              <a:off x="9098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用户空间</a:t>
              </a:r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3452" y="5627"/>
              <a:ext cx="17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内存空间</a:t>
              </a:r>
              <a:endParaRPr lang="zh-CN" altLang="en-US"/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1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/>
              </a:tblGrid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  <a:endParaRPr lang="zh-CN" altLang="en-US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6" name="文本框 25"/>
          <p:cNvSpPr txBox="1"/>
          <p:nvPr/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8" name="文本框 27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页表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可是随着现在的应用越来越大，页表中需要记录的数据太多了，如</a:t>
            </a:r>
            <a:r>
              <a:rPr lang="en-US" altLang="zh-CN" sz="2400" dirty="0">
                <a:sym typeface="+mn-ea"/>
              </a:rPr>
              <a:t>4G</a:t>
            </a:r>
            <a:r>
              <a:rPr lang="zh-CN" altLang="en-US" sz="2400" dirty="0">
                <a:sym typeface="+mn-ea"/>
              </a:rPr>
              <a:t>的虚拟空间，可以有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个页面，需要记录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行映射数据</a:t>
            </a:r>
            <a:r>
              <a:rPr lang="en-US" altLang="zh-CN" sz="2400" dirty="0">
                <a:sym typeface="+mn-ea"/>
              </a:rPr>
              <a:t>——</a:t>
            </a:r>
            <a:r>
              <a:rPr lang="zh-CN" altLang="en-US" sz="2400" dirty="0">
                <a:sym typeface="+mn-ea"/>
              </a:rPr>
              <a:t>太浪费空间了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有没有再优化一点的方法呢？有！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我们将这</a:t>
            </a:r>
            <a:r>
              <a:rPr lang="en-US" altLang="zh-CN" sz="2400" dirty="0">
                <a:sym typeface="+mn-ea"/>
              </a:rPr>
              <a:t>2</a:t>
            </a:r>
            <a:r>
              <a:rPr lang="en-US" altLang="zh-CN" sz="2400" baseline="30000" dirty="0">
                <a:sym typeface="+mn-ea"/>
              </a:rPr>
              <a:t>20</a:t>
            </a:r>
            <a:r>
              <a:rPr lang="zh-CN" altLang="en-US" sz="2400" dirty="0">
                <a:sym typeface="+mn-ea"/>
              </a:rPr>
              <a:t>行数据分别装在多个页面中，这样就可以按需导入页表</a:t>
            </a:r>
            <a:endParaRPr lang="zh-CN" altLang="en-US" sz="2400" dirty="0">
              <a:sym typeface="+mn-ea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2611120" y="4040505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/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/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/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7" name="矩形 36"/>
                <p:cNvSpPr/>
                <p:nvPr/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/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/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/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页表</a:t>
                </a:r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但我怎么知道这些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页表残片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放在哪里呢？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这时候就跟用户空间的映射很像了！我们只需要再建立一个</a:t>
            </a:r>
            <a:r>
              <a:rPr lang="en-US" altLang="zh-CN" sz="2400" dirty="0">
                <a:sym typeface="+mn-ea"/>
              </a:rPr>
              <a:t>“</a:t>
            </a:r>
            <a:r>
              <a:rPr lang="zh-CN" altLang="en-US" sz="2400" dirty="0">
                <a:sym typeface="+mn-ea"/>
              </a:rPr>
              <a:t>页表的页表</a:t>
            </a:r>
            <a:r>
              <a:rPr lang="en-US" altLang="zh-CN" sz="2400" dirty="0">
                <a:sym typeface="+mn-ea"/>
              </a:rPr>
              <a:t>”</a:t>
            </a:r>
            <a:r>
              <a:rPr lang="zh-CN" altLang="en-US" sz="2400" dirty="0">
                <a:sym typeface="+mn-ea"/>
              </a:rPr>
              <a:t>（页目录）就可以了嘛</a:t>
            </a:r>
            <a:r>
              <a:rPr lang="en-US" altLang="zh-CN" sz="2400" dirty="0">
                <a:sym typeface="+mn-ea"/>
              </a:rPr>
              <a:t>~</a:t>
            </a:r>
            <a:endParaRPr lang="en-US" altLang="zh-CN" sz="2400" dirty="0">
              <a:sym typeface="+mn-ea"/>
            </a:endParaRPr>
          </a:p>
        </p:txBody>
      </p:sp>
      <p:grpSp>
        <p:nvGrpSpPr>
          <p:cNvPr id="49" name="组合 48"/>
          <p:cNvGrpSpPr/>
          <p:nvPr>
            <p:custDataLst>
              <p:tags r:id="rId1"/>
            </p:custDataLst>
          </p:nvPr>
        </p:nvGrpSpPr>
        <p:grpSpPr>
          <a:xfrm>
            <a:off x="390525" y="3429000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7" name="矩形 3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>
                  <p:custDataLst>
                    <p:tags r:id="rId12"/>
                  </p:custDataLst>
                </p:nvPr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>
                  <p:custDataLst>
                    <p:tags r:id="rId13"/>
                  </p:custDataLst>
                </p:nvPr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页表</a:t>
                </a:r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14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/>
              </a:tblGrid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  <a:endParaRPr lang="zh-CN" altLang="en-US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6" name="文本框 25"/>
          <p:cNvSpPr txBox="1"/>
          <p:nvPr>
            <p:custDataLst>
              <p:tags r:id="rId18"/>
            </p:custDataLst>
          </p:nvPr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页目录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48397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那如果页目录还是很大怎么办？</a:t>
            </a:r>
            <a:r>
              <a:rPr lang="en-US" altLang="zh-CN" sz="2400" dirty="0">
                <a:sym typeface="+mn-ea"/>
              </a:rPr>
              <a:t>—</a:t>
            </a:r>
            <a:r>
              <a:rPr lang="zh-CN" sz="2400" dirty="0">
                <a:sym typeface="+mn-ea"/>
              </a:rPr>
              <a:t>套娃：分页存放、再给页目录再创建一个页表</a:t>
            </a:r>
            <a:endParaRPr 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如此套娃，我们便推出了多级页表的管理机制！</a:t>
            </a:r>
            <a:endParaRPr lang="zh-CN" sz="2400" dirty="0">
              <a:sym typeface="+mn-ea"/>
            </a:endParaRPr>
          </a:p>
        </p:txBody>
      </p:sp>
      <p:grpSp>
        <p:nvGrpSpPr>
          <p:cNvPr id="49" name="组合 48"/>
          <p:cNvGrpSpPr/>
          <p:nvPr>
            <p:custDataLst>
              <p:tags r:id="rId1"/>
            </p:custDataLst>
          </p:nvPr>
        </p:nvGrpSpPr>
        <p:grpSpPr>
          <a:xfrm>
            <a:off x="390525" y="3429000"/>
            <a:ext cx="6536055" cy="2382520"/>
            <a:chOff x="7800" y="6791"/>
            <a:chExt cx="10293" cy="3752"/>
          </a:xfrm>
        </p:grpSpPr>
        <p:grpSp>
          <p:nvGrpSpPr>
            <p:cNvPr id="28" name="组合 27"/>
            <p:cNvGrpSpPr/>
            <p:nvPr/>
          </p:nvGrpSpPr>
          <p:grpSpPr>
            <a:xfrm>
              <a:off x="12301" y="6791"/>
              <a:ext cx="5793" cy="3752"/>
              <a:chOff x="9025" y="5627"/>
              <a:chExt cx="5793" cy="3752"/>
            </a:xfrm>
          </p:grpSpPr>
          <p:grpSp>
            <p:nvGrpSpPr>
              <p:cNvPr id="29" name="组合 28"/>
              <p:cNvGrpSpPr/>
              <p:nvPr/>
            </p:nvGrpSpPr>
            <p:grpSpPr>
              <a:xfrm>
                <a:off x="9025" y="6329"/>
                <a:ext cx="5793" cy="3050"/>
                <a:chOff x="5698" y="2974"/>
                <a:chExt cx="5793" cy="3050"/>
              </a:xfrm>
            </p:grpSpPr>
            <p:sp>
              <p:nvSpPr>
                <p:cNvPr id="30" name="矩形 29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5698" y="297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1" name="矩形 30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5698" y="358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2" name="矩形 31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5698" y="4194"/>
                  <a:ext cx="1920" cy="610"/>
                </a:xfrm>
                <a:prstGeom prst="rect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3" name="矩形 3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5698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4" name="矩形 33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5698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5" name="矩形 3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9571" y="297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0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6" name="矩形 35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9571" y="358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1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7" name="矩形 36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9571" y="4194"/>
                  <a:ext cx="1920" cy="610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2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8" name="矩形 37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9571" y="480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3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sp>
              <p:nvSpPr>
                <p:cNvPr id="39" name="矩形 38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9571" y="5414"/>
                  <a:ext cx="1920" cy="61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kumimoji="0" lang="zh-CN" altLang="en-US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物理页</a:t>
                  </a:r>
                  <a:r>
                    <a:rPr kumimoji="0" lang="en-US" altLang="zh-CN" sz="1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anose="020B0604020202020204" pitchFamily="34" charset="0"/>
                      <a:ea typeface="宋体" panose="02010600030101010101" pitchFamily="2" charset="-122"/>
                      <a:sym typeface="宋体" panose="02010600030101010101" pitchFamily="2" charset="-122"/>
                    </a:rPr>
                    <a:t>4</a:t>
                  </a:r>
                  <a:endPara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endParaRPr>
                </a:p>
              </p:txBody>
            </p:sp>
            <p:cxnSp>
              <p:nvCxnSpPr>
                <p:cNvPr id="40" name="直接箭头连接符 39"/>
                <p:cNvCxnSpPr>
                  <a:stCxn id="32" idx="3"/>
                  <a:endCxn id="36" idx="1"/>
                </p:cNvCxnSpPr>
                <p:nvPr>
                  <p:custDataLst>
                    <p:tags r:id="rId12"/>
                  </p:custDataLst>
                </p:nvPr>
              </p:nvCxnSpPr>
              <p:spPr>
                <a:xfrm flipV="1">
                  <a:off x="7618" y="3889"/>
                  <a:ext cx="1953" cy="61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  <p:cxnSp>
              <p:nvCxnSpPr>
                <p:cNvPr id="41" name="直接箭头连接符 40"/>
                <p:cNvCxnSpPr>
                  <a:stCxn id="30" idx="3"/>
                  <a:endCxn id="37" idx="1"/>
                </p:cNvCxnSpPr>
                <p:nvPr>
                  <p:custDataLst>
                    <p:tags r:id="rId13"/>
                  </p:custDataLst>
                </p:nvPr>
              </p:nvCxnSpPr>
              <p:spPr>
                <a:xfrm>
                  <a:off x="7618" y="3279"/>
                  <a:ext cx="1953" cy="1220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arrow" w="med" len="med"/>
                </a:ln>
              </p:spPr>
            </p:cxnSp>
          </p:grpSp>
          <p:sp>
            <p:nvSpPr>
              <p:cNvPr id="42" name="文本框 41"/>
              <p:cNvSpPr txBox="1"/>
              <p:nvPr/>
            </p:nvSpPr>
            <p:spPr>
              <a:xfrm>
                <a:off x="9098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/>
                  <a:t>页目录</a:t>
                </a:r>
                <a:endParaRPr lang="zh-CN" altLang="en-US"/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2990" y="5627"/>
                <a:ext cx="173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内存空间</a:t>
                </a:r>
                <a:endParaRPr lang="zh-CN" altLang="en-US"/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9059" y="7493"/>
              <a:ext cx="2888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0-99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7800" y="8103"/>
              <a:ext cx="4147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100-199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7944" y="871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200-299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7944" y="9323"/>
              <a:ext cx="4003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300-399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595" y="9933"/>
              <a:ext cx="3352" cy="6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r"/>
              <a:r>
                <a:rPr lang="zh-CN" altLang="en-US"/>
                <a:t>第</a:t>
              </a:r>
              <a:r>
                <a:rPr lang="en-US" altLang="zh-CN"/>
                <a:t>400-499</a:t>
              </a:r>
              <a:r>
                <a:rPr lang="zh-CN" altLang="en-US"/>
                <a:t>行数据</a:t>
              </a:r>
              <a:endParaRPr lang="zh-CN" altLang="en-US"/>
            </a:p>
          </p:txBody>
        </p:sp>
      </p:grpSp>
      <p:graphicFrame>
        <p:nvGraphicFramePr>
          <p:cNvPr id="23" name="表格 22"/>
          <p:cNvGraphicFramePr/>
          <p:nvPr>
            <p:custDataLst>
              <p:tags r:id="rId14"/>
            </p:custDataLst>
          </p:nvPr>
        </p:nvGraphicFramePr>
        <p:xfrm>
          <a:off x="8335645" y="3298190"/>
          <a:ext cx="2993390" cy="3348990"/>
        </p:xfrm>
        <a:graphic>
          <a:graphicData uri="http://schemas.openxmlformats.org/drawingml/2006/table">
            <a:tbl>
              <a:tblPr firstRow="1" bandRow="1">
                <a:tableStyleId>{DA7717D3-5C5C-4A3E-888D-09C2BA5A4598}</a:tableStyleId>
              </a:tblPr>
              <a:tblGrid>
                <a:gridCol w="2993390"/>
              </a:tblGrid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物理页号</a:t>
                      </a:r>
                      <a:endParaRPr lang="zh-CN" altLang="en-US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  <a:tr h="5581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-1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463790" y="386842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0</a:t>
            </a:r>
            <a:endParaRPr lang="en-US" altLang="zh-CN"/>
          </a:p>
        </p:txBody>
      </p:sp>
      <p:sp>
        <p:nvSpPr>
          <p:cNvPr id="24" name="文本框 23"/>
          <p:cNvSpPr txBox="1"/>
          <p:nvPr>
            <p:custDataLst>
              <p:tags r:id="rId16"/>
            </p:custDataLst>
          </p:nvPr>
        </p:nvSpPr>
        <p:spPr>
          <a:xfrm>
            <a:off x="7463790" y="444119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5" name="文本框 24"/>
          <p:cNvSpPr txBox="1"/>
          <p:nvPr>
            <p:custDataLst>
              <p:tags r:id="rId17"/>
            </p:custDataLst>
          </p:nvPr>
        </p:nvSpPr>
        <p:spPr>
          <a:xfrm>
            <a:off x="7463790" y="501396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6" name="文本框 25"/>
          <p:cNvSpPr txBox="1"/>
          <p:nvPr>
            <p:custDataLst>
              <p:tags r:id="rId18"/>
            </p:custDataLst>
          </p:nvPr>
        </p:nvSpPr>
        <p:spPr>
          <a:xfrm>
            <a:off x="7463790" y="558673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7463790" y="6159500"/>
            <a:ext cx="760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9077325" y="2839720"/>
            <a:ext cx="1599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页目录的页表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以我们的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为例，我们设置每个页的大小为</a:t>
            </a:r>
            <a:r>
              <a:rPr lang="en-US" altLang="zh-CN" sz="2400" b="1" dirty="0">
                <a:sym typeface="+mn-ea"/>
              </a:rPr>
              <a:t>4KB(2</a:t>
            </a:r>
            <a:r>
              <a:rPr lang="en-US" altLang="zh-CN" sz="2400" b="1" baseline="30000" dirty="0">
                <a:sym typeface="+mn-ea"/>
              </a:rPr>
              <a:t>12</a:t>
            </a:r>
            <a:r>
              <a:rPr lang="en-US" altLang="zh-CN" sz="2400" b="1" dirty="0">
                <a:sym typeface="+mn-ea"/>
              </a:rPr>
              <a:t>)</a:t>
            </a:r>
            <a:r>
              <a:rPr lang="zh-CN" altLang="en-US" sz="2400" dirty="0">
                <a:sym typeface="+mn-ea"/>
              </a:rPr>
              <a:t>，一行映射数据需要占用</a:t>
            </a:r>
            <a:r>
              <a:rPr lang="en-US" altLang="zh-CN" sz="2400" b="1" dirty="0">
                <a:sym typeface="+mn-ea"/>
              </a:rPr>
              <a:t>8B</a:t>
            </a:r>
            <a:r>
              <a:rPr lang="zh-CN" altLang="en-US" sz="2400" dirty="0">
                <a:sym typeface="+mn-ea"/>
              </a:rPr>
              <a:t>空间，那么</a:t>
            </a:r>
            <a:r>
              <a:rPr lang="zh-CN" altLang="en-US" sz="2400" b="1" dirty="0">
                <a:sym typeface="+mn-ea"/>
              </a:rPr>
              <a:t>一个页表（页目录）页面中可以装下</a:t>
            </a:r>
            <a:r>
              <a:rPr lang="en-US" altLang="zh-CN" sz="2400" b="1" dirty="0">
                <a:sym typeface="+mn-ea"/>
              </a:rPr>
              <a:t>512(2</a:t>
            </a:r>
            <a:r>
              <a:rPr lang="en-US" altLang="zh-CN" sz="2400" b="1" baseline="30000" dirty="0">
                <a:sym typeface="+mn-ea"/>
              </a:rPr>
              <a:t>9</a:t>
            </a:r>
            <a:r>
              <a:rPr lang="en-US" altLang="zh-CN" sz="2400" b="1" dirty="0">
                <a:sym typeface="+mn-ea"/>
              </a:rPr>
              <a:t>)</a:t>
            </a:r>
            <a:r>
              <a:rPr lang="zh-CN" altLang="en-US" sz="2400" b="1" dirty="0">
                <a:sym typeface="+mn-ea"/>
              </a:rPr>
              <a:t>行映射数据</a:t>
            </a:r>
            <a:r>
              <a:rPr lang="zh-CN" altLang="en-US" sz="2400" dirty="0">
                <a:sym typeface="+mn-ea"/>
              </a:rPr>
              <a:t>，所以</a:t>
            </a:r>
            <a:r>
              <a:rPr lang="zh-CN" altLang="en-US" sz="2400" b="1" dirty="0">
                <a:sym typeface="+mn-ea"/>
              </a:rPr>
              <a:t>每个页目录只能管理</a:t>
            </a:r>
            <a:r>
              <a:rPr lang="en-US" altLang="zh-CN" sz="2400" b="1" dirty="0">
                <a:sym typeface="+mn-ea"/>
              </a:rPr>
              <a:t>512</a:t>
            </a:r>
            <a:r>
              <a:rPr lang="zh-CN" altLang="en-US" sz="2400" b="1" dirty="0">
                <a:sym typeface="+mn-ea"/>
              </a:rPr>
              <a:t>个下属页面的映射数据</a:t>
            </a:r>
            <a:endParaRPr lang="en-US" altLang="zh-CN" sz="2400" b="1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我们当前使用的</a:t>
            </a:r>
            <a:r>
              <a:rPr lang="en-US" altLang="zh-CN" sz="2400" dirty="0">
                <a:sym typeface="+mn-ea"/>
              </a:rPr>
              <a:t>xv6</a:t>
            </a:r>
            <a:r>
              <a:rPr lang="zh-CN" altLang="en-US" sz="2400" dirty="0">
                <a:sym typeface="+mn-ea"/>
              </a:rPr>
              <a:t>，可以使用的虚拟地址有</a:t>
            </a:r>
            <a:r>
              <a:rPr lang="en-US" altLang="zh-CN" sz="2400" dirty="0">
                <a:sym typeface="+mn-ea"/>
              </a:rPr>
              <a:t>39</a:t>
            </a:r>
            <a:r>
              <a:rPr lang="zh-CN" altLang="en-US" sz="2400" dirty="0">
                <a:sym typeface="+mn-ea"/>
              </a:rPr>
              <a:t>个</a:t>
            </a:r>
            <a:r>
              <a:rPr lang="en-US" altLang="zh-CN" sz="2400" dirty="0">
                <a:sym typeface="+mn-ea"/>
              </a:rPr>
              <a:t>bit(sv39)</a:t>
            </a:r>
            <a:r>
              <a:rPr lang="zh-CN" altLang="en-US" sz="2400" dirty="0">
                <a:sym typeface="+mn-ea"/>
              </a:rPr>
              <a:t>，所以我们将</a:t>
            </a:r>
            <a:r>
              <a:rPr lang="en-US" altLang="zh-CN" sz="2400" dirty="0">
                <a:sym typeface="+mn-ea"/>
              </a:rPr>
              <a:t>39 bit</a:t>
            </a:r>
            <a:r>
              <a:rPr lang="zh-CN" altLang="en-US" sz="2400" dirty="0">
                <a:sym typeface="+mn-ea"/>
              </a:rPr>
              <a:t>的地址结构分为以下几个部分</a:t>
            </a: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66725" y="4849495"/>
            <a:ext cx="11223625" cy="574040"/>
            <a:chOff x="735" y="7637"/>
            <a:chExt cx="17675" cy="904"/>
          </a:xfrm>
        </p:grpSpPr>
        <p:sp>
          <p:nvSpPr>
            <p:cNvPr id="10" name="矩形 9"/>
            <p:cNvSpPr/>
            <p:nvPr/>
          </p:nvSpPr>
          <p:spPr>
            <a:xfrm>
              <a:off x="735" y="7637"/>
              <a:ext cx="4245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25bit 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不可使用，全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4980" y="7637"/>
              <a:ext cx="13430" cy="904"/>
              <a:chOff x="4980" y="7637"/>
              <a:chExt cx="13430" cy="904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4520" y="7637"/>
                <a:ext cx="3890" cy="90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12bit </a:t>
                </a: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页内偏移量</a:t>
                </a: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498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高级页目录号</a:t>
                </a: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816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中级页目录号</a:t>
                </a: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11340" y="7637"/>
                <a:ext cx="3180" cy="905"/>
              </a:xfrm>
              <a:prstGeom prst="rect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0" lang="en-US" altLang="zh-CN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9bit </a:t>
                </a:r>
                <a:r>
                  <a:rPr kumimoji="0" lang="zh-CN" altLang="en-US" sz="18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ea typeface="宋体" panose="02010600030101010101" pitchFamily="2" charset="-122"/>
                    <a:sym typeface="宋体" panose="02010600030101010101" pitchFamily="2" charset="-122"/>
                  </a:rPr>
                  <a:t>低级页目录号</a:t>
                </a:r>
                <a:endPara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 rot="0">
            <a:off x="578485" y="1642110"/>
            <a:ext cx="8528050" cy="574040"/>
            <a:chOff x="4980" y="7637"/>
            <a:chExt cx="13430" cy="904"/>
          </a:xfrm>
        </p:grpSpPr>
        <p:sp>
          <p:nvSpPr>
            <p:cNvPr id="4" name="矩形 3"/>
            <p:cNvSpPr/>
            <p:nvPr/>
          </p:nvSpPr>
          <p:spPr>
            <a:xfrm>
              <a:off x="14520" y="7637"/>
              <a:ext cx="3890" cy="90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12bit 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页内偏移量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98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高级页目录号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16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中级页目录号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134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9bit </a:t>
              </a: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低级页目录号</a:t>
              </a: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 rot="0">
            <a:off x="2139950" y="2671445"/>
            <a:ext cx="8528050" cy="574040"/>
            <a:chOff x="4980" y="7637"/>
            <a:chExt cx="13430" cy="904"/>
          </a:xfrm>
        </p:grpSpPr>
        <p:sp>
          <p:nvSpPr>
            <p:cNvPr id="5" name="矩形 4"/>
            <p:cNvSpPr/>
            <p:nvPr/>
          </p:nvSpPr>
          <p:spPr>
            <a:xfrm>
              <a:off x="14520" y="7637"/>
              <a:ext cx="3890" cy="90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组内成员编号：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2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98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公司编号：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816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部门编号：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3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1340" y="7637"/>
              <a:ext cx="3180" cy="905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小组编号：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562100" y="2774315"/>
            <a:ext cx="566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例：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940560" y="39954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614805" y="3716020"/>
            <a:ext cx="1602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总页表（高级页目录）</a:t>
            </a:r>
            <a:endParaRPr lang="zh-CN" altLang="en-US" sz="1200"/>
          </a:p>
        </p:txBody>
      </p:sp>
      <p:sp>
        <p:nvSpPr>
          <p:cNvPr id="21" name="矩形 20"/>
          <p:cNvSpPr/>
          <p:nvPr/>
        </p:nvSpPr>
        <p:spPr>
          <a:xfrm>
            <a:off x="1940560" y="4189730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5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22" name="肘形连接符 21"/>
          <p:cNvCxnSpPr/>
          <p:nvPr/>
        </p:nvCxnSpPr>
        <p:spPr>
          <a:xfrm rot="5400000">
            <a:off x="2021205" y="3165475"/>
            <a:ext cx="1048385" cy="1209040"/>
          </a:xfrm>
          <a:prstGeom prst="bentConnector4">
            <a:avLst>
              <a:gd name="adj1" fmla="val 44973"/>
              <a:gd name="adj2" fmla="val 119722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3" name="矩形 22"/>
          <p:cNvSpPr/>
          <p:nvPr/>
        </p:nvSpPr>
        <p:spPr>
          <a:xfrm>
            <a:off x="3457575" y="39954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027680" y="3677285"/>
            <a:ext cx="27514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5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号公司的部门管理表</a:t>
            </a:r>
            <a:endParaRPr lang="zh-CN" altLang="en-US" sz="1200"/>
          </a:p>
        </p:txBody>
      </p:sp>
      <p:sp>
        <p:nvSpPr>
          <p:cNvPr id="25" name="矩形 24"/>
          <p:cNvSpPr/>
          <p:nvPr/>
        </p:nvSpPr>
        <p:spPr>
          <a:xfrm>
            <a:off x="3457575" y="4588510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7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26" name="肘形连接符 25"/>
          <p:cNvCxnSpPr>
            <a:stCxn id="15" idx="2"/>
            <a:endCxn id="25" idx="1"/>
          </p:cNvCxnSpPr>
          <p:nvPr/>
        </p:nvCxnSpPr>
        <p:spPr>
          <a:xfrm rot="5400000">
            <a:off x="3589655" y="3113405"/>
            <a:ext cx="1447165" cy="1711325"/>
          </a:xfrm>
          <a:prstGeom prst="bentConnector4">
            <a:avLst>
              <a:gd name="adj1" fmla="val 46380"/>
              <a:gd name="adj2" fmla="val 113915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7" name="直接箭头连接符 26"/>
          <p:cNvCxnSpPr>
            <a:stCxn id="18" idx="3"/>
            <a:endCxn id="23" idx="1"/>
          </p:cNvCxnSpPr>
          <p:nvPr/>
        </p:nvCxnSpPr>
        <p:spPr>
          <a:xfrm>
            <a:off x="3027680" y="5191760"/>
            <a:ext cx="42989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8" name="矩形 27"/>
          <p:cNvSpPr/>
          <p:nvPr/>
        </p:nvSpPr>
        <p:spPr>
          <a:xfrm>
            <a:off x="6125210" y="371602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409565" y="3391535"/>
            <a:ext cx="32334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7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</a:t>
            </a:r>
            <a:r>
              <a:rPr lang="en-US" altLang="zh-CN" sz="1200"/>
              <a:t>3</a:t>
            </a:r>
            <a:r>
              <a:rPr lang="zh-CN" altLang="en-US" sz="1200"/>
              <a:t>号部门的小组管理表</a:t>
            </a:r>
            <a:endParaRPr lang="zh-CN" altLang="en-US" sz="1200"/>
          </a:p>
        </p:txBody>
      </p:sp>
      <p:cxnSp>
        <p:nvCxnSpPr>
          <p:cNvPr id="30" name="直接箭头连接符 29"/>
          <p:cNvCxnSpPr>
            <a:stCxn id="23" idx="3"/>
            <a:endCxn id="28" idx="1"/>
          </p:cNvCxnSpPr>
          <p:nvPr/>
        </p:nvCxnSpPr>
        <p:spPr>
          <a:xfrm flipV="1">
            <a:off x="4544695" y="4912360"/>
            <a:ext cx="1580515" cy="279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1" name="矩形 30"/>
          <p:cNvSpPr/>
          <p:nvPr/>
        </p:nvSpPr>
        <p:spPr>
          <a:xfrm>
            <a:off x="6125210" y="3714115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8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号物理页</a:t>
            </a:r>
            <a:endParaRPr kumimoji="0" lang="zh-CN" altLang="en-US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2" name="肘形连接符 31"/>
          <p:cNvCxnSpPr>
            <a:stCxn id="16" idx="2"/>
            <a:endCxn id="31" idx="1"/>
          </p:cNvCxnSpPr>
          <p:nvPr/>
        </p:nvCxnSpPr>
        <p:spPr>
          <a:xfrm rot="5400000">
            <a:off x="6370320" y="3001010"/>
            <a:ext cx="572770" cy="1062990"/>
          </a:xfrm>
          <a:prstGeom prst="bentConnector4">
            <a:avLst>
              <a:gd name="adj1" fmla="val 40909"/>
              <a:gd name="adj2" fmla="val 122401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3" name="矩形 32"/>
          <p:cNvSpPr/>
          <p:nvPr/>
        </p:nvSpPr>
        <p:spPr>
          <a:xfrm>
            <a:off x="9106535" y="3991610"/>
            <a:ext cx="1087120" cy="23920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928610" y="3674110"/>
            <a:ext cx="38919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8</a:t>
            </a:r>
            <a:r>
              <a:rPr lang="zh-CN" altLang="en-US" sz="1200"/>
              <a:t>号物理页</a:t>
            </a:r>
            <a:r>
              <a:rPr lang="en-US" altLang="zh-CN" sz="1200"/>
              <a:t>——1</a:t>
            </a:r>
            <a:r>
              <a:rPr lang="zh-CN" altLang="en-US" sz="1200"/>
              <a:t>号公司</a:t>
            </a:r>
            <a:r>
              <a:rPr lang="en-US" altLang="zh-CN" sz="1200"/>
              <a:t>3</a:t>
            </a:r>
            <a:r>
              <a:rPr lang="zh-CN" altLang="en-US" sz="1200"/>
              <a:t>号部门</a:t>
            </a:r>
            <a:r>
              <a:rPr lang="en-US" altLang="zh-CN" sz="1200"/>
              <a:t>0</a:t>
            </a:r>
            <a:r>
              <a:rPr lang="zh-CN" altLang="en-US" sz="1200"/>
              <a:t>号小组的组员管理表</a:t>
            </a:r>
            <a:endParaRPr lang="zh-CN" altLang="en-US" sz="1200"/>
          </a:p>
        </p:txBody>
      </p:sp>
      <p:sp>
        <p:nvSpPr>
          <p:cNvPr id="35" name="矩形 34"/>
          <p:cNvSpPr/>
          <p:nvPr/>
        </p:nvSpPr>
        <p:spPr>
          <a:xfrm>
            <a:off x="9106535" y="4294505"/>
            <a:ext cx="1087120" cy="2095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</a:t>
            </a: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Data</a:t>
            </a:r>
            <a:endParaRPr kumimoji="0" lang="en-US" altLang="zh-CN" sz="1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6" name="直接箭头连接符 35"/>
          <p:cNvCxnSpPr>
            <a:stCxn id="28" idx="3"/>
            <a:endCxn id="33" idx="1"/>
          </p:cNvCxnSpPr>
          <p:nvPr/>
        </p:nvCxnSpPr>
        <p:spPr>
          <a:xfrm>
            <a:off x="7212330" y="4912360"/>
            <a:ext cx="1894205" cy="2755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7" name="肘形连接符 36"/>
          <p:cNvCxnSpPr>
            <a:stCxn id="5" idx="2"/>
            <a:endCxn id="35" idx="1"/>
          </p:cNvCxnSpPr>
          <p:nvPr/>
        </p:nvCxnSpPr>
        <p:spPr>
          <a:xfrm rot="5400000">
            <a:off x="8693150" y="3659505"/>
            <a:ext cx="1153160" cy="326390"/>
          </a:xfrm>
          <a:prstGeom prst="bentConnector4">
            <a:avLst>
              <a:gd name="adj1" fmla="val 45485"/>
              <a:gd name="adj2" fmla="val 451362"/>
            </a:avLst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8" name="文本框 37"/>
          <p:cNvSpPr txBox="1"/>
          <p:nvPr/>
        </p:nvSpPr>
        <p:spPr>
          <a:xfrm>
            <a:off x="2128520" y="3347720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①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4476750" y="330390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②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536690" y="314261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③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806180" y="3308985"/>
            <a:ext cx="675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④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1498600" y="5815330"/>
            <a:ext cx="8695055" cy="9156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zh-CN" altLang="en-US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三级页表</a:t>
            </a:r>
            <a:r>
              <a:rPr lang="en-US" altLang="zh-CN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—&gt;</a:t>
            </a:r>
            <a:r>
              <a:rPr lang="zh-CN" altLang="en-US" sz="4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四次访问内存</a:t>
            </a:r>
            <a:endParaRPr lang="zh-CN" altLang="en-US" sz="48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从代码的角度看页表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905" y="1400175"/>
            <a:ext cx="5759450" cy="309245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995" y="2266950"/>
            <a:ext cx="4057650" cy="34734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8785" y="3507105"/>
            <a:ext cx="4648200" cy="349250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095" y="1622425"/>
            <a:ext cx="5302250" cy="895350"/>
          </a:xfrm>
          <a:prstGeom prst="rect">
            <a:avLst/>
          </a:prstGeom>
        </p:spPr>
      </p:pic>
      <p:sp>
        <p:nvSpPr>
          <p:cNvPr id="47" name="环形箭头 46"/>
          <p:cNvSpPr/>
          <p:nvPr/>
        </p:nvSpPr>
        <p:spPr>
          <a:xfrm>
            <a:off x="2305685" y="1604010"/>
            <a:ext cx="1490980" cy="1025525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8" name="环形箭头 47"/>
          <p:cNvSpPr/>
          <p:nvPr/>
        </p:nvSpPr>
        <p:spPr>
          <a:xfrm>
            <a:off x="4893945" y="2856865"/>
            <a:ext cx="1490980" cy="1025525"/>
          </a:xfrm>
          <a:prstGeom prst="circular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" name="上箭头 50"/>
          <p:cNvSpPr/>
          <p:nvPr/>
        </p:nvSpPr>
        <p:spPr>
          <a:xfrm>
            <a:off x="8597265" y="2466340"/>
            <a:ext cx="792480" cy="1009650"/>
          </a:xfrm>
          <a:prstGeom prst="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3395" y="1471930"/>
            <a:ext cx="11141075" cy="13277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软件翻译在</a:t>
            </a:r>
            <a:r>
              <a:rPr lang="zh-CN" sz="2400" dirty="0">
                <a:sym typeface="+mn-ea"/>
              </a:rPr>
              <a:t>何处使用？copyin()或copyout()或copyinstr()。</a:t>
            </a:r>
            <a:endParaRPr lang="zh-CN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1-kernel/vm.c：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copyin()</a:t>
            </a:r>
            <a:r>
              <a:rPr lang="en-US" altLang="zh-CN" sz="2400" dirty="0">
                <a:sym typeface="+mn-ea"/>
              </a:rPr>
              <a:t>' </a:t>
            </a:r>
            <a:r>
              <a:rPr lang="zh-CN" altLang="en-US" sz="2400" dirty="0">
                <a:sym typeface="+mn-ea"/>
              </a:rPr>
              <a:t>或 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copyout()</a:t>
            </a:r>
            <a:r>
              <a:rPr lang="en-US" altLang="zh-CN" sz="2400" dirty="0">
                <a:sym typeface="+mn-ea"/>
              </a:rPr>
              <a:t>' </a:t>
            </a:r>
            <a:r>
              <a:rPr lang="zh-CN" altLang="en-US" sz="2400" dirty="0">
                <a:sym typeface="+mn-ea"/>
              </a:rPr>
              <a:t>或 </a:t>
            </a:r>
            <a:r>
              <a:rPr lang="en-US" altLang="zh-CN" sz="2400" dirty="0">
                <a:sym typeface="+mn-ea"/>
              </a:rPr>
              <a:t>'</a:t>
            </a:r>
            <a:r>
              <a:rPr lang="zh-CN" altLang="en-US" sz="2400" dirty="0">
                <a:sym typeface="+mn-ea"/>
              </a:rPr>
              <a:t>copyinstr()</a:t>
            </a:r>
            <a:r>
              <a:rPr lang="en-US" altLang="zh-CN" sz="2400" dirty="0">
                <a:sym typeface="+mn-ea"/>
              </a:rPr>
              <a:t>'</a:t>
            </a:r>
            <a:endParaRPr lang="en-US" altLang="zh-CN" sz="2400" dirty="0">
              <a:sym typeface="+mn-ea"/>
            </a:endParaRPr>
          </a:p>
        </p:txBody>
      </p:sp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33730"/>
          </a:xfrm>
        </p:spPr>
        <p:txBody>
          <a:bodyPr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一、使用walkaddr(pagetable,va)进行软件翻译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935" y="2708275"/>
            <a:ext cx="8610600" cy="40538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2-kernel/vm.c：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sz="2400" dirty="0">
                <a:sym typeface="+mn-ea"/>
              </a:rPr>
              <a:t>walkaddr()</a:t>
            </a:r>
            <a:r>
              <a:rPr lang="en-US" altLang="zh-CN" sz="2400" dirty="0">
                <a:sym typeface="+mn-ea"/>
              </a:rPr>
              <a:t>'</a:t>
            </a:r>
            <a:endParaRPr lang="en-US" altLang="zh-CN" sz="2400" dirty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2650" y="1543050"/>
            <a:ext cx="7207250" cy="4993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3360" y="1413510"/>
            <a:ext cx="7293610" cy="5464810"/>
          </a:xfrm>
          <a:prstGeom prst="rect">
            <a:avLst/>
          </a:prstGeom>
        </p:spPr>
      </p:pic>
      <p:sp>
        <p:nvSpPr>
          <p:cNvPr id="5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-kernel/vm.c：</a:t>
            </a:r>
            <a:r>
              <a:rPr lang="en-US" altLang="zh-CN" sz="2400" dirty="0">
                <a:sym typeface="+mn-ea"/>
              </a:rPr>
              <a:t>'</a:t>
            </a:r>
            <a:r>
              <a:rPr lang="zh-CN" sz="2400" dirty="0">
                <a:sym typeface="+mn-ea"/>
              </a:rPr>
              <a:t>walk()</a:t>
            </a:r>
            <a:r>
              <a:rPr lang="en-US" altLang="zh-CN" sz="2400" dirty="0">
                <a:sym typeface="+mn-ea"/>
              </a:rPr>
              <a:t>'</a:t>
            </a:r>
            <a:endParaRPr lang="en-US" altLang="zh-CN" sz="2400" dirty="0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619125" y="83820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</a:t>
            </a:r>
            <a:r>
              <a:rPr lang="en-US" altLang="zh-CN" sz="2400" dirty="0">
                <a:sym typeface="+mn-ea"/>
              </a:rPr>
              <a:t>1 </a:t>
            </a:r>
            <a:r>
              <a:rPr lang="zh-CN" sz="2400" dirty="0">
                <a:sym typeface="+mn-ea"/>
              </a:rPr>
              <a:t>kernel/riscv.h：</a:t>
            </a:r>
            <a:r>
              <a:rPr lang="en-US" altLang="zh-CN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PX()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和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PTE2PA()</a:t>
            </a:r>
            <a:r>
              <a:rPr lang="en-US" sz="2400" dirty="0">
                <a:sym typeface="+mn-ea"/>
              </a:rPr>
              <a:t>'</a:t>
            </a:r>
            <a:endParaRPr lang="en-US" sz="2400" dirty="0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065" y="1543050"/>
            <a:ext cx="862584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1"/>
          <p:cNvSpPr>
            <a:spLocks noGrp="1"/>
          </p:cNvSpPr>
          <p:nvPr/>
        </p:nvSpPr>
        <p:spPr>
          <a:xfrm>
            <a:off x="492125" y="1543050"/>
            <a:ext cx="11222355" cy="27692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5" name="内容占位符 1"/>
          <p:cNvSpPr>
            <a:spLocks noGrp="1"/>
          </p:cNvSpPr>
          <p:nvPr/>
        </p:nvSpPr>
        <p:spPr>
          <a:xfrm>
            <a:off x="899160" y="3891280"/>
            <a:ext cx="11141075" cy="79883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 dirty="0">
                <a:sym typeface="+mn-ea"/>
              </a:rPr>
              <a:t>3</a:t>
            </a:r>
            <a:r>
              <a:rPr lang="zh-CN" sz="2400" dirty="0">
                <a:sym typeface="+mn-ea"/>
              </a:rPr>
              <a:t>-</a:t>
            </a:r>
            <a:r>
              <a:rPr lang="en-US" altLang="zh-CN" sz="2400" dirty="0">
                <a:sym typeface="+mn-ea"/>
              </a:rPr>
              <a:t>1 </a:t>
            </a:r>
            <a:r>
              <a:rPr lang="zh-CN" sz="2400" dirty="0">
                <a:sym typeface="+mn-ea"/>
              </a:rPr>
              <a:t>kernel/riscv.h：</a:t>
            </a:r>
            <a:r>
              <a:rPr lang="en-US" altLang="zh-CN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PX()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和</a:t>
            </a:r>
            <a:r>
              <a:rPr lang="en-US" sz="2400" dirty="0">
                <a:sym typeface="+mn-ea"/>
              </a:rPr>
              <a:t>'</a:t>
            </a:r>
            <a:r>
              <a:rPr sz="2400" dirty="0">
                <a:sym typeface="+mn-ea"/>
              </a:rPr>
              <a:t>PTE2PA()</a:t>
            </a:r>
            <a:r>
              <a:rPr lang="en-US" sz="2400" dirty="0">
                <a:sym typeface="+mn-ea"/>
              </a:rPr>
              <a:t>'</a:t>
            </a:r>
            <a:endParaRPr lang="en-US" sz="2400" dirty="0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90" y="838200"/>
            <a:ext cx="8092440" cy="29108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345" y="4690110"/>
            <a:ext cx="8686800" cy="1127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页表是如何翻译地址的？(va-&gt;pa)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3395" y="1471930"/>
            <a:ext cx="11141075" cy="8489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sz="2400" dirty="0">
                <a:sym typeface="+mn-ea"/>
              </a:rPr>
              <a:t>何处使用？正常访问数据(va)时，硬件就会隐式工作，比软件翻译快很多！</a:t>
            </a:r>
            <a:endParaRPr lang="en-US" altLang="zh-CN" sz="2400" dirty="0">
              <a:sym typeface="+mn-ea"/>
            </a:endParaRPr>
          </a:p>
        </p:txBody>
      </p:sp>
      <p:sp>
        <p:nvSpPr>
          <p:cNvPr id="26" name="内容占位符 2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33730"/>
          </a:xfrm>
        </p:spPr>
        <p:txBody>
          <a:bodyPr/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、硬件翻译：MMU</a:t>
            </a: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2" name="内容占位符 25"/>
          <p:cNvSpPr>
            <a:spLocks noGrp="1"/>
          </p:cNvSpPr>
          <p:nvPr/>
        </p:nvSpPr>
        <p:spPr>
          <a:xfrm>
            <a:off x="278765" y="2870835"/>
            <a:ext cx="11634470" cy="238950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，在内核态使用copyin()、copyout()、copyinstr()等函数访问用户页面时，是通过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walkaddr()软件翻译用户页面的地址。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软件翻译速度很慢。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所以任务二、三需要为每个用户进程新增一个独享的内核页表，来缓解速度问题。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内核页表、用户页表是什么？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sz="2000" dirty="0">
              <a:solidFill>
                <a:schemeClr val="tx1"/>
              </a:solidFill>
              <a:latin typeface="+mn-lt"/>
              <a:ea typeface="+mn-lt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什么是页表，内核页表、用户页表是什么？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用户页表：当用户程序在</a:t>
            </a:r>
            <a:r>
              <a:rPr lang="zh-CN" altLang="en-US" sz="2400" b="1" dirty="0">
                <a:sym typeface="+mn-ea"/>
              </a:rPr>
              <a:t>用户态运行时使用的页表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b="1" dirty="0">
                <a:sym typeface="+mn-ea"/>
              </a:rPr>
              <a:t>用户程序自身的所有虚拟地址</a:t>
            </a:r>
            <a:r>
              <a:rPr lang="zh-CN" altLang="en-US" sz="2400" dirty="0">
                <a:sym typeface="+mn-ea"/>
              </a:rPr>
              <a:t>映射信息都写在用户页表上，而内核管理的数据、硬件数据等用户页表中是没有相关映射信息的，可以避免用户访问到内核、硬件的关键数据，保护系统。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内核页表：当用户需要一些特殊服务，如：</a:t>
            </a:r>
            <a:r>
              <a:rPr lang="zh-CN" altLang="en-US" sz="2400" b="1" dirty="0">
                <a:sym typeface="+mn-ea"/>
              </a:rPr>
              <a:t>系统调用</a:t>
            </a:r>
            <a:r>
              <a:rPr lang="zh-CN" altLang="en-US" sz="2400" dirty="0">
                <a:sym typeface="+mn-ea"/>
              </a:rPr>
              <a:t>时，系统会进入</a:t>
            </a:r>
            <a:r>
              <a:rPr lang="zh-CN" altLang="en-US" sz="2400" b="1" dirty="0">
                <a:sym typeface="+mn-ea"/>
              </a:rPr>
              <a:t>内核态</a:t>
            </a:r>
            <a:r>
              <a:rPr lang="zh-CN" altLang="en-US" sz="2400" dirty="0">
                <a:sym typeface="+mn-ea"/>
              </a:rPr>
              <a:t>，此时就会使用内核页表，跟</a:t>
            </a:r>
            <a:r>
              <a:rPr lang="zh-CN" altLang="en-US" sz="2400" b="1" dirty="0">
                <a:sym typeface="+mn-ea"/>
              </a:rPr>
              <a:t>内核数据、硬件相关的信息</a:t>
            </a:r>
            <a:r>
              <a:rPr lang="zh-CN" altLang="en-US" sz="2400" dirty="0">
                <a:sym typeface="+mn-ea"/>
              </a:rPr>
              <a:t>，在内核页表中都有映射，所以内核可以访问到这些关键数据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怎么改变使用的页表呢？</a:t>
            </a:r>
            <a:r>
              <a:rPr lang="en-US" altLang="zh-CN" sz="2400" dirty="0">
                <a:sym typeface="+mn-ea"/>
              </a:rPr>
              <a:t>RISC-V</a:t>
            </a:r>
            <a:r>
              <a:rPr lang="zh-CN" altLang="en-US" sz="2400" dirty="0">
                <a:sym typeface="+mn-ea"/>
              </a:rPr>
              <a:t>体系中有一个</a:t>
            </a:r>
            <a:r>
              <a:rPr lang="en-US" altLang="zh-CN" sz="2400" b="1" dirty="0">
                <a:sym typeface="+mn-ea"/>
              </a:rPr>
              <a:t>satp</a:t>
            </a:r>
            <a:r>
              <a:rPr lang="zh-CN" altLang="en-US" sz="2400" b="1" dirty="0">
                <a:sym typeface="+mn-ea"/>
              </a:rPr>
              <a:t>寄存器</a:t>
            </a: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+mn-ea"/>
              </a:rPr>
              <a:t>改变该寄存器的值就可改变使用的页表</a:t>
            </a:r>
            <a:r>
              <a:rPr lang="en-US" altLang="zh-CN" sz="2400" dirty="0">
                <a:sym typeface="+mn-ea"/>
              </a:rPr>
              <a:t>(</a:t>
            </a:r>
            <a:r>
              <a:rPr lang="zh-CN" altLang="en-US" sz="2400" dirty="0">
                <a:sym typeface="+mn-ea"/>
              </a:rPr>
              <a:t>硬件翻译用</a:t>
            </a:r>
            <a:r>
              <a:rPr lang="en-US" altLang="zh-CN" sz="2400" dirty="0">
                <a:sym typeface="+mn-ea"/>
              </a:rPr>
              <a:t>)</a:t>
            </a:r>
            <a:endParaRPr lang="zh-CN" altLang="en-US" sz="2400" dirty="0">
              <a:sym typeface="+mn-ea"/>
            </a:endParaRPr>
          </a:p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1"/>
            </p:custDataLst>
          </p:nvPr>
        </p:nvSpPr>
        <p:spPr>
          <a:xfrm>
            <a:off x="10552430" y="5005070"/>
            <a:ext cx="736600" cy="17316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用户页表地址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9121775" y="5005070"/>
            <a:ext cx="736600" cy="173164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内核页表地址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9481185" y="4387215"/>
            <a:ext cx="1483360" cy="34163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satp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寄存器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11" name="直接箭头连接符 10"/>
          <p:cNvCxnSpPr>
            <a:stCxn id="5" idx="0"/>
            <a:endCxn id="8" idx="2"/>
          </p:cNvCxnSpPr>
          <p:nvPr>
            <p:custDataLst>
              <p:tags r:id="rId3"/>
            </p:custDataLst>
          </p:nvPr>
        </p:nvCxnSpPr>
        <p:spPr>
          <a:xfrm flipH="1" flipV="1">
            <a:off x="10222865" y="4728845"/>
            <a:ext cx="697865" cy="27622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2" name="直接箭头连接符 11"/>
          <p:cNvCxnSpPr>
            <a:stCxn id="7" idx="0"/>
          </p:cNvCxnSpPr>
          <p:nvPr>
            <p:custDataLst>
              <p:tags r:id="rId4"/>
            </p:custDataLst>
          </p:nvPr>
        </p:nvCxnSpPr>
        <p:spPr>
          <a:xfrm flipV="1">
            <a:off x="9490075" y="4736465"/>
            <a:ext cx="751840" cy="2686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0964545" y="4636770"/>
            <a:ext cx="1148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用户态</a:t>
            </a:r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8823960" y="4636770"/>
            <a:ext cx="1148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内核态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内存、页表的布局：物理布局</a:t>
            </a:r>
            <a:endParaRPr kumimoji="1" lang="en-US" altLang="zh-CN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1366520" y="1142365"/>
            <a:ext cx="5528945" cy="5438775"/>
            <a:chOff x="892" y="1799"/>
            <a:chExt cx="8707" cy="8565"/>
          </a:xfrm>
        </p:grpSpPr>
        <p:sp>
          <p:nvSpPr>
            <p:cNvPr id="9" name="矩形 8"/>
            <p:cNvSpPr/>
            <p:nvPr/>
          </p:nvSpPr>
          <p:spPr>
            <a:xfrm>
              <a:off x="904" y="2733"/>
              <a:ext cx="3744" cy="763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904" y="2959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boot ROM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063" y="179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0000 0000</a:t>
              </a:r>
              <a:endParaRPr lang="en-US" altLang="zh-CN"/>
            </a:p>
          </p:txBody>
        </p:sp>
        <p:cxnSp>
          <p:nvCxnSpPr>
            <p:cNvPr id="17" name="直接连接符 16"/>
            <p:cNvCxnSpPr>
              <a:stCxn id="9" idx="0"/>
              <a:endCxn id="16" idx="1"/>
            </p:cNvCxnSpPr>
            <p:nvPr/>
          </p:nvCxnSpPr>
          <p:spPr>
            <a:xfrm flipV="1">
              <a:off x="2776" y="2089"/>
              <a:ext cx="2287" cy="64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文本框 17"/>
            <p:cNvSpPr txBox="1"/>
            <p:nvPr/>
          </p:nvSpPr>
          <p:spPr>
            <a:xfrm>
              <a:off x="5063" y="237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0000 1000</a:t>
              </a:r>
              <a:endParaRPr lang="en-US" altLang="zh-CN"/>
            </a:p>
          </p:txBody>
        </p:sp>
        <p:cxnSp>
          <p:nvCxnSpPr>
            <p:cNvPr id="20" name="直接连接符 19"/>
            <p:cNvCxnSpPr>
              <a:stCxn id="15" idx="0"/>
              <a:endCxn id="18" idx="1"/>
            </p:cNvCxnSpPr>
            <p:nvPr/>
          </p:nvCxnSpPr>
          <p:spPr>
            <a:xfrm flipV="1">
              <a:off x="2777" y="2669"/>
              <a:ext cx="2286" cy="2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" name="矩形 20"/>
            <p:cNvSpPr/>
            <p:nvPr/>
          </p:nvSpPr>
          <p:spPr>
            <a:xfrm>
              <a:off x="903" y="3676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CLINT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5063" y="3096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0200 0000</a:t>
              </a:r>
              <a:endParaRPr lang="en-US" altLang="zh-CN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1736" y="2153"/>
              <a:ext cx="30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/>
                <a:t>物理内存</a:t>
              </a:r>
              <a:endParaRPr lang="zh-CN" altLang="en-US"/>
            </a:p>
          </p:txBody>
        </p:sp>
        <p:cxnSp>
          <p:nvCxnSpPr>
            <p:cNvPr id="24" name="直接连接符 23"/>
            <p:cNvCxnSpPr>
              <a:stCxn id="21" idx="0"/>
              <a:endCxn id="22" idx="1"/>
            </p:cNvCxnSpPr>
            <p:nvPr/>
          </p:nvCxnSpPr>
          <p:spPr>
            <a:xfrm flipV="1">
              <a:off x="2776" y="3386"/>
              <a:ext cx="2287" cy="29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矩形 24"/>
            <p:cNvSpPr/>
            <p:nvPr/>
          </p:nvSpPr>
          <p:spPr>
            <a:xfrm>
              <a:off x="903" y="4426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PLIC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063" y="3814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0C00 0000</a:t>
              </a:r>
              <a:endParaRPr lang="en-US" altLang="zh-CN"/>
            </a:p>
          </p:txBody>
        </p:sp>
        <p:cxnSp>
          <p:nvCxnSpPr>
            <p:cNvPr id="27" name="直接连接符 26"/>
            <p:cNvCxnSpPr>
              <a:stCxn id="25" idx="0"/>
              <a:endCxn id="26" idx="1"/>
            </p:cNvCxnSpPr>
            <p:nvPr/>
          </p:nvCxnSpPr>
          <p:spPr>
            <a:xfrm flipV="1">
              <a:off x="2776" y="4104"/>
              <a:ext cx="2287" cy="322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矩形 27"/>
            <p:cNvSpPr/>
            <p:nvPr/>
          </p:nvSpPr>
          <p:spPr>
            <a:xfrm>
              <a:off x="904" y="5123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UART0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904" y="5809"/>
              <a:ext cx="3745" cy="58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VIRTIO0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063" y="4496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1000 0000</a:t>
              </a:r>
              <a:endParaRPr lang="en-US" altLang="zh-CN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5063" y="5249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1000 1000</a:t>
              </a:r>
              <a:endParaRPr lang="en-US" altLang="zh-CN"/>
            </a:p>
          </p:txBody>
        </p:sp>
        <p:cxnSp>
          <p:nvCxnSpPr>
            <p:cNvPr id="34" name="直接连接符 33"/>
            <p:cNvCxnSpPr>
              <a:stCxn id="28" idx="0"/>
              <a:endCxn id="32" idx="1"/>
            </p:cNvCxnSpPr>
            <p:nvPr/>
          </p:nvCxnSpPr>
          <p:spPr>
            <a:xfrm flipV="1">
              <a:off x="2777" y="4786"/>
              <a:ext cx="2286" cy="33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直接连接符 34"/>
            <p:cNvCxnSpPr>
              <a:stCxn id="29" idx="0"/>
              <a:endCxn id="33" idx="1"/>
            </p:cNvCxnSpPr>
            <p:nvPr/>
          </p:nvCxnSpPr>
          <p:spPr>
            <a:xfrm flipV="1">
              <a:off x="2777" y="5539"/>
              <a:ext cx="2286" cy="27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/>
            <p:nvPr/>
          </p:nvCxnSpPr>
          <p:spPr>
            <a:xfrm>
              <a:off x="892" y="7344"/>
              <a:ext cx="375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" name="文本框 36"/>
            <p:cNvSpPr txBox="1"/>
            <p:nvPr/>
          </p:nvSpPr>
          <p:spPr>
            <a:xfrm>
              <a:off x="5063" y="6888"/>
              <a:ext cx="26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</a:t>
              </a:r>
              <a:endParaRPr lang="en-US" altLang="zh-CN"/>
            </a:p>
          </p:txBody>
        </p:sp>
        <p:cxnSp>
          <p:nvCxnSpPr>
            <p:cNvPr id="38" name="直接连接符 37"/>
            <p:cNvCxnSpPr>
              <a:endCxn id="37" idx="1"/>
            </p:cNvCxnSpPr>
            <p:nvPr/>
          </p:nvCxnSpPr>
          <p:spPr>
            <a:xfrm flipV="1">
              <a:off x="4646" y="7178"/>
              <a:ext cx="417" cy="16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文本框 38"/>
            <p:cNvSpPr txBox="1"/>
            <p:nvPr/>
          </p:nvSpPr>
          <p:spPr>
            <a:xfrm>
              <a:off x="1185" y="6868"/>
              <a:ext cx="324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KERNEL BASE</a:t>
              </a:r>
              <a:endParaRPr lang="en-US" altLang="zh-CN"/>
            </a:p>
          </p:txBody>
        </p:sp>
        <p:sp>
          <p:nvSpPr>
            <p:cNvPr id="40" name="矩形 39"/>
            <p:cNvSpPr/>
            <p:nvPr/>
          </p:nvSpPr>
          <p:spPr>
            <a:xfrm>
              <a:off x="892" y="7332"/>
              <a:ext cx="3754" cy="1394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可用区域：</a:t>
              </a:r>
              <a:r>
                <a:rPr kumimoji="0" lang="en-US" altLang="zh-CN" sz="18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128MB</a:t>
              </a:r>
              <a:endPara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063" y="7968"/>
              <a:ext cx="45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 +128MB</a:t>
              </a:r>
              <a:endParaRPr lang="en-US" altLang="zh-CN"/>
            </a:p>
          </p:txBody>
        </p:sp>
        <p:cxnSp>
          <p:nvCxnSpPr>
            <p:cNvPr id="42" name="直接连接符 41"/>
            <p:cNvCxnSpPr>
              <a:endCxn id="41" idx="1"/>
            </p:cNvCxnSpPr>
            <p:nvPr/>
          </p:nvCxnSpPr>
          <p:spPr>
            <a:xfrm flipV="1">
              <a:off x="4634" y="8258"/>
              <a:ext cx="429" cy="46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文本框 1"/>
          <p:cNvSpPr txBox="1"/>
          <p:nvPr/>
        </p:nvSpPr>
        <p:spPr>
          <a:xfrm>
            <a:off x="1885950" y="5524500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PHYSTOP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16940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内存布局：kernel/memlayout.h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095" y="945515"/>
            <a:ext cx="8663940" cy="36347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4688205"/>
            <a:ext cx="8587740" cy="21107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xv6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的内存使用，可用区域</a:t>
            </a:r>
            <a:endParaRPr kumimoji="1" lang="zh-CN" altLang="en-US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276985" y="1339850"/>
            <a:ext cx="6625590" cy="5022850"/>
            <a:chOff x="2804" y="2110"/>
            <a:chExt cx="10434" cy="7910"/>
          </a:xfrm>
        </p:grpSpPr>
        <p:sp>
          <p:nvSpPr>
            <p:cNvPr id="9" name="矩形 8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KERNEL BASE 0X 8000 0000</a:t>
              </a:r>
              <a:endParaRPr lang="en-US" altLang="zh-CN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6800" y="9440"/>
              <a:ext cx="64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PHYSTOP  0X 8000 0000 + 128MB</a:t>
              </a:r>
              <a:endParaRPr lang="en-US" altLang="zh-CN"/>
            </a:p>
          </p:txBody>
        </p:sp>
      </p:grpSp>
      <p:sp>
        <p:nvSpPr>
          <p:cNvPr id="49" name="矩形 48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end/etext </a:t>
            </a:r>
            <a:r>
              <a:rPr lang="zh-CN" altLang="en-US"/>
              <a:t>内核数据、代码区的结束</a:t>
            </a:r>
            <a:endParaRPr lang="zh-CN" altLang="en-US"/>
          </a:p>
        </p:txBody>
      </p:sp>
      <p:cxnSp>
        <p:nvCxnSpPr>
          <p:cNvPr id="51" name="直接连接符 50"/>
          <p:cNvCxnSpPr>
            <a:stCxn id="49" idx="2"/>
            <a:endCxn id="50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矩形 51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374140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374140" y="187896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boot ROM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73505" y="233426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902460" y="136715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物理内存</a:t>
            </a:r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373505" y="281051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374140" y="325310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374140" y="368871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1366520" y="466344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文本框 36"/>
          <p:cNvSpPr txBox="1"/>
          <p:nvPr/>
        </p:nvSpPr>
        <p:spPr>
          <a:xfrm>
            <a:off x="4015105" y="4373880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</a:t>
            </a:r>
            <a:endParaRPr lang="en-US" altLang="zh-CN"/>
          </a:p>
        </p:txBody>
      </p:sp>
      <p:cxnSp>
        <p:nvCxnSpPr>
          <p:cNvPr id="38" name="直接连接符 37"/>
          <p:cNvCxnSpPr>
            <a:endCxn id="37" idx="1"/>
          </p:cNvCxnSpPr>
          <p:nvPr/>
        </p:nvCxnSpPr>
        <p:spPr>
          <a:xfrm flipV="1">
            <a:off x="3750310" y="4558030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文本框 38"/>
          <p:cNvSpPr txBox="1"/>
          <p:nvPr/>
        </p:nvSpPr>
        <p:spPr>
          <a:xfrm>
            <a:off x="1552575" y="4361180"/>
            <a:ext cx="205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KERNEL BASE</a:t>
            </a:r>
            <a:endParaRPr lang="en-US" altLang="zh-CN"/>
          </a:p>
        </p:txBody>
      </p:sp>
      <p:sp>
        <p:nvSpPr>
          <p:cNvPr id="40" name="矩形 39"/>
          <p:cNvSpPr/>
          <p:nvPr/>
        </p:nvSpPr>
        <p:spPr>
          <a:xfrm>
            <a:off x="1366520" y="4655820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4015105" y="5059680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 +128MB</a:t>
            </a:r>
            <a:endParaRPr lang="en-US" altLang="zh-CN"/>
          </a:p>
        </p:txBody>
      </p:sp>
      <p:cxnSp>
        <p:nvCxnSpPr>
          <p:cNvPr id="42" name="直接连接符 41"/>
          <p:cNvCxnSpPr>
            <a:endCxn id="41" idx="1"/>
          </p:cNvCxnSpPr>
          <p:nvPr/>
        </p:nvCxnSpPr>
        <p:spPr>
          <a:xfrm flipV="1">
            <a:off x="3742690" y="5243830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文本框 1"/>
          <p:cNvSpPr txBox="1"/>
          <p:nvPr/>
        </p:nvSpPr>
        <p:spPr>
          <a:xfrm>
            <a:off x="1856740" y="5583555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PHYSTOP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233426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6790" y="126492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10350" y="281051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10985" y="325310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10985" y="368871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66344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4373880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</a:t>
            </a:r>
            <a:endParaRPr lang="en-US" altLang="zh-CN"/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4558030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文本框 30"/>
          <p:cNvSpPr txBox="1"/>
          <p:nvPr/>
        </p:nvSpPr>
        <p:spPr>
          <a:xfrm>
            <a:off x="6789420" y="4361180"/>
            <a:ext cx="2058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KERNEL BASE</a:t>
            </a:r>
            <a:endParaRPr lang="en-US" altLang="zh-CN"/>
          </a:p>
        </p:txBody>
      </p:sp>
      <p:sp>
        <p:nvSpPr>
          <p:cNvPr id="44" name="矩形 43"/>
          <p:cNvSpPr/>
          <p:nvPr/>
        </p:nvSpPr>
        <p:spPr>
          <a:xfrm>
            <a:off x="6603365" y="4655820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251950" y="5059680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 +128MB</a:t>
            </a:r>
            <a:endParaRPr lang="en-US" altLang="zh-CN"/>
          </a:p>
        </p:txBody>
      </p:sp>
      <p:cxnSp>
        <p:nvCxnSpPr>
          <p:cNvPr id="46" name="直接连接符 45"/>
          <p:cNvCxnSpPr>
            <a:endCxn id="45" idx="1"/>
          </p:cNvCxnSpPr>
          <p:nvPr/>
        </p:nvCxnSpPr>
        <p:spPr>
          <a:xfrm flipV="1">
            <a:off x="8979535" y="5243830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文本框 46"/>
          <p:cNvSpPr txBox="1"/>
          <p:nvPr/>
        </p:nvSpPr>
        <p:spPr>
          <a:xfrm>
            <a:off x="7093585" y="5583555"/>
            <a:ext cx="1403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PHYSTOP</a:t>
            </a:r>
            <a:endParaRPr lang="en-US" altLang="zh-CN"/>
          </a:p>
        </p:txBody>
      </p:sp>
      <p:cxnSp>
        <p:nvCxnSpPr>
          <p:cNvPr id="51" name="直接连接符 50"/>
          <p:cNvCxnSpPr>
            <a:stCxn id="21" idx="0"/>
            <a:endCxn id="7" idx="0"/>
          </p:cNvCxnSpPr>
          <p:nvPr/>
        </p:nvCxnSpPr>
        <p:spPr>
          <a:xfrm>
            <a:off x="2562860" y="233426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直接连接符 51"/>
          <p:cNvCxnSpPr>
            <a:stCxn id="21" idx="2"/>
            <a:endCxn id="7" idx="2"/>
          </p:cNvCxnSpPr>
          <p:nvPr/>
        </p:nvCxnSpPr>
        <p:spPr>
          <a:xfrm>
            <a:off x="2562860" y="270764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直接连接符 52"/>
          <p:cNvCxnSpPr>
            <a:stCxn id="25" idx="0"/>
            <a:endCxn id="10" idx="0"/>
          </p:cNvCxnSpPr>
          <p:nvPr/>
        </p:nvCxnSpPr>
        <p:spPr>
          <a:xfrm>
            <a:off x="2562860" y="281051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" name="直接连接符 53"/>
          <p:cNvCxnSpPr>
            <a:stCxn id="25" idx="2"/>
            <a:endCxn id="10" idx="2"/>
          </p:cNvCxnSpPr>
          <p:nvPr/>
        </p:nvCxnSpPr>
        <p:spPr>
          <a:xfrm>
            <a:off x="2562860" y="318389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直接连接符 54"/>
          <p:cNvCxnSpPr>
            <a:stCxn id="28" idx="0"/>
            <a:endCxn id="11" idx="0"/>
          </p:cNvCxnSpPr>
          <p:nvPr/>
        </p:nvCxnSpPr>
        <p:spPr>
          <a:xfrm>
            <a:off x="2563495" y="325310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" name="直接连接符 55"/>
          <p:cNvCxnSpPr>
            <a:stCxn id="28" idx="2"/>
            <a:endCxn id="11" idx="2"/>
          </p:cNvCxnSpPr>
          <p:nvPr/>
        </p:nvCxnSpPr>
        <p:spPr>
          <a:xfrm>
            <a:off x="2563495" y="362648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" name="直接连接符 56"/>
          <p:cNvCxnSpPr>
            <a:stCxn id="29" idx="0"/>
            <a:endCxn id="12" idx="0"/>
          </p:cNvCxnSpPr>
          <p:nvPr/>
        </p:nvCxnSpPr>
        <p:spPr>
          <a:xfrm>
            <a:off x="2563495" y="368871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直接连接符 57"/>
          <p:cNvCxnSpPr>
            <a:stCxn id="29" idx="2"/>
            <a:endCxn id="12" idx="2"/>
          </p:cNvCxnSpPr>
          <p:nvPr/>
        </p:nvCxnSpPr>
        <p:spPr>
          <a:xfrm>
            <a:off x="2563495" y="4062095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直接连接符 58"/>
          <p:cNvCxnSpPr>
            <a:stCxn id="40" idx="0"/>
            <a:endCxn id="44" idx="0"/>
          </p:cNvCxnSpPr>
          <p:nvPr/>
        </p:nvCxnSpPr>
        <p:spPr>
          <a:xfrm>
            <a:off x="2558415" y="465582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直接连接符 62"/>
          <p:cNvCxnSpPr>
            <a:stCxn id="40" idx="2"/>
            <a:endCxn id="44" idx="2"/>
          </p:cNvCxnSpPr>
          <p:nvPr/>
        </p:nvCxnSpPr>
        <p:spPr>
          <a:xfrm>
            <a:off x="2558415" y="5541010"/>
            <a:ext cx="52368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194310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6790" y="130683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10350" y="241935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10985" y="286194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10985" y="329755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27228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3514725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</a:t>
            </a:r>
            <a:endParaRPr lang="en-US" altLang="zh-CN"/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3698875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矩形 43"/>
          <p:cNvSpPr/>
          <p:nvPr/>
        </p:nvSpPr>
        <p:spPr>
          <a:xfrm>
            <a:off x="6603365" y="3796665"/>
            <a:ext cx="2383790" cy="8851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251950" y="4200525"/>
            <a:ext cx="288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 +128MB</a:t>
            </a:r>
            <a:endParaRPr lang="en-US" altLang="zh-CN"/>
          </a:p>
        </p:txBody>
      </p:sp>
      <p:cxnSp>
        <p:nvCxnSpPr>
          <p:cNvPr id="46" name="直接连接符 45"/>
          <p:cNvCxnSpPr>
            <a:endCxn id="45" idx="1"/>
          </p:cNvCxnSpPr>
          <p:nvPr/>
        </p:nvCxnSpPr>
        <p:spPr>
          <a:xfrm flipV="1">
            <a:off x="8979535" y="4384675"/>
            <a:ext cx="272415" cy="2971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矩形 64"/>
          <p:cNvSpPr/>
          <p:nvPr/>
        </p:nvSpPr>
        <p:spPr>
          <a:xfrm>
            <a:off x="6610985" y="626999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276985" y="1339850"/>
            <a:ext cx="6143625" cy="4930140"/>
            <a:chOff x="2804" y="2110"/>
            <a:chExt cx="9675" cy="7764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KERNEL BASE 0X 8000 0000</a:t>
              </a:r>
              <a:endParaRPr lang="en-US" altLang="zh-CN"/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088005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650615" y="3080385"/>
            <a:ext cx="2962910" cy="31730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>
            <a:off x="3643630" y="3384550"/>
            <a:ext cx="2962910" cy="31877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直接连接符 34"/>
          <p:cNvCxnSpPr/>
          <p:nvPr/>
        </p:nvCxnSpPr>
        <p:spPr>
          <a:xfrm>
            <a:off x="3650615" y="1755140"/>
            <a:ext cx="2948305" cy="2028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直接连接符 42"/>
          <p:cNvCxnSpPr/>
          <p:nvPr/>
        </p:nvCxnSpPr>
        <p:spPr>
          <a:xfrm flipV="1">
            <a:off x="3657600" y="4674235"/>
            <a:ext cx="2948940" cy="15938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6598920" y="6565265"/>
            <a:ext cx="254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MAXVA</a:t>
            </a:r>
            <a:endParaRPr lang="en-US" alt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内存、页表的布局：内核页表的布局</a:t>
            </a:r>
            <a:r>
              <a:rPr kumimoji="1" lang="en-US" altLang="zh-CN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——</a:t>
            </a: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非直接映射区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610985" y="1735455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10350" y="194310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CLINT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66790" y="130683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610350" y="2419350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PLIC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610985" y="286194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UART0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10985" y="3297555"/>
            <a:ext cx="2378075" cy="3733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VIRTIO0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603365" y="4272280"/>
            <a:ext cx="23837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文本框 13"/>
          <p:cNvSpPr txBox="1"/>
          <p:nvPr/>
        </p:nvSpPr>
        <p:spPr>
          <a:xfrm>
            <a:off x="9251950" y="3514725"/>
            <a:ext cx="1677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0x 8000 0000</a:t>
            </a:r>
            <a:endParaRPr lang="en-US" altLang="zh-CN"/>
          </a:p>
        </p:txBody>
      </p:sp>
      <p:cxnSp>
        <p:nvCxnSpPr>
          <p:cNvPr id="30" name="直接连接符 29"/>
          <p:cNvCxnSpPr>
            <a:endCxn id="14" idx="1"/>
          </p:cNvCxnSpPr>
          <p:nvPr/>
        </p:nvCxnSpPr>
        <p:spPr>
          <a:xfrm flipV="1">
            <a:off x="8987155" y="3698875"/>
            <a:ext cx="264795" cy="1054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" name="矩形 43"/>
          <p:cNvSpPr/>
          <p:nvPr/>
        </p:nvSpPr>
        <p:spPr>
          <a:xfrm>
            <a:off x="6603365" y="3796665"/>
            <a:ext cx="2383790" cy="5143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610985" y="626999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196340" y="1339850"/>
            <a:ext cx="6224270" cy="5433695"/>
            <a:chOff x="2677" y="2110"/>
            <a:chExt cx="9802" cy="8557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</a:t>
              </a:r>
              <a:endParaRPr lang="en-US" altLang="zh-CN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677" y="10087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 + 128MB</a:t>
              </a:r>
              <a:endParaRPr lang="en-US" altLang="zh-CN"/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765300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778250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3956050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3949700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088005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3650615" y="1755140"/>
            <a:ext cx="2948305" cy="2028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直接连接符 42"/>
          <p:cNvCxnSpPr/>
          <p:nvPr/>
        </p:nvCxnSpPr>
        <p:spPr>
          <a:xfrm flipV="1">
            <a:off x="3657600" y="4299585"/>
            <a:ext cx="2948940" cy="19685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1271270" y="505968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14795" y="565467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09715" y="5354320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609715" y="504317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611620" y="4742815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93280" y="4237355"/>
            <a:ext cx="134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......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6598920" y="6565265"/>
            <a:ext cx="254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MAXVA</a:t>
            </a:r>
            <a:endParaRPr lang="en-US" altLang="zh-CN"/>
          </a:p>
        </p:txBody>
      </p:sp>
      <p:sp>
        <p:nvSpPr>
          <p:cNvPr id="25" name="矩形 24"/>
          <p:cNvSpPr/>
          <p:nvPr/>
        </p:nvSpPr>
        <p:spPr>
          <a:xfrm>
            <a:off x="1267460" y="536956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643630" y="5060315"/>
            <a:ext cx="2969895" cy="6153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/>
          <p:nvPr/>
        </p:nvCxnSpPr>
        <p:spPr>
          <a:xfrm>
            <a:off x="3643630" y="5379085"/>
            <a:ext cx="2969895" cy="5791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 flipV="1">
            <a:off x="3650615" y="5342890"/>
            <a:ext cx="2955925" cy="3327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直接连接符 36"/>
          <p:cNvCxnSpPr/>
          <p:nvPr/>
        </p:nvCxnSpPr>
        <p:spPr>
          <a:xfrm flipV="1">
            <a:off x="3657600" y="5067300"/>
            <a:ext cx="2955925" cy="31178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16940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内存布局：kernel/memlayout.h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8" name="内容占位符 1"/>
          <p:cNvSpPr>
            <a:spLocks noGrp="1"/>
          </p:cNvSpPr>
          <p:nvPr/>
        </p:nvSpPr>
        <p:spPr>
          <a:xfrm>
            <a:off x="492125" y="1542733"/>
            <a:ext cx="11268075" cy="55276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015" y="1252220"/>
            <a:ext cx="8580120" cy="4511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0" y="838200"/>
            <a:ext cx="11634470" cy="6019800"/>
          </a:xfrm>
        </p:spPr>
        <p:txBody>
          <a:bodyPr/>
          <a:lstStyle/>
          <a:p>
            <a:pPr marL="457200" lvl="1" algn="l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zh-CN" altLang="en-US" b="1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内存、页表的布局：用户页表的布局</a:t>
            </a:r>
            <a:endParaRPr kumimoji="1" lang="zh-CN" altLang="en-US" sz="20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lt"/>
              <a:sym typeface="Wingdings" panose="05000000000000000000" pitchFamily="2" charset="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968375" y="149225"/>
            <a:ext cx="9904730" cy="688975"/>
          </a:xfrm>
        </p:spPr>
        <p:txBody>
          <a:bodyPr anchor="ctr"/>
          <a:lstStyle/>
          <a:p>
            <a:pPr algn="l">
              <a:buClrTx/>
              <a:buSzTx/>
              <a:buFontTx/>
            </a:pP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XV6系统是如何启动的？</a:t>
            </a:r>
            <a:r>
              <a:rPr lang="zh-CN" altLang="en-US" dirty="0">
                <a:solidFill>
                  <a:srgbClr val="002060"/>
                </a:solidFill>
                <a:sym typeface="+mn-ea"/>
              </a:rPr>
              <a:t>XV6系统如何布置页表的？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19" name="内容占位符 1"/>
          <p:cNvSpPr>
            <a:spLocks noGrp="1"/>
          </p:cNvSpPr>
          <p:nvPr/>
        </p:nvSpPr>
        <p:spPr>
          <a:xfrm>
            <a:off x="492125" y="1442085"/>
            <a:ext cx="11483975" cy="18040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914400" indent="-28575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132270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•"/>
              <a:defRPr sz="24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730375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–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2138680" indent="-228600" algn="l" rtl="0" eaLnBrk="1" fontAlgn="base" latinLnBrk="1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8AC6CD"/>
              </a:buClr>
              <a:buSzPct val="120000"/>
              <a:buChar char="»"/>
              <a:defRPr sz="2000" kern="1200">
                <a:solidFill>
                  <a:srgbClr val="0000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50000"/>
              </a:lnSpc>
              <a:buNone/>
            </a:pPr>
            <a:endParaRPr lang="zh-CN" altLang="en-US" sz="2400" dirty="0"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96305" y="1798320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97830" y="1349375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用户页表</a:t>
            </a:r>
            <a:r>
              <a:rPr lang="en-US" altLang="zh-CN"/>
              <a:t>(pagetable)</a:t>
            </a:r>
            <a:endParaRPr lang="en-US" altLang="zh-CN"/>
          </a:p>
        </p:txBody>
      </p:sp>
      <p:sp>
        <p:nvSpPr>
          <p:cNvPr id="65" name="矩形 64"/>
          <p:cNvSpPr/>
          <p:nvPr/>
        </p:nvSpPr>
        <p:spPr>
          <a:xfrm>
            <a:off x="5996305" y="633285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196340" y="1402715"/>
            <a:ext cx="6224270" cy="5433695"/>
            <a:chOff x="2677" y="2110"/>
            <a:chExt cx="9802" cy="8557"/>
          </a:xfrm>
        </p:grpSpPr>
        <p:sp>
          <p:nvSpPr>
            <p:cNvPr id="16" name="矩形 15"/>
            <p:cNvSpPr/>
            <p:nvPr/>
          </p:nvSpPr>
          <p:spPr>
            <a:xfrm>
              <a:off x="2804" y="2793"/>
              <a:ext cx="3744" cy="708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316" y="2110"/>
              <a:ext cx="27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xv6</a:t>
              </a:r>
              <a:r>
                <a:rPr lang="zh-CN" altLang="en-US"/>
                <a:t>物理布局</a:t>
              </a:r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6800" y="2460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</a:t>
              </a:r>
              <a:endParaRPr lang="en-US" altLang="zh-CN"/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2677" y="10087"/>
              <a:ext cx="567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0X 8000 0000 + 128MB</a:t>
              </a:r>
              <a:endParaRPr lang="en-US" altLang="zh-CN"/>
            </a:p>
          </p:txBody>
        </p:sp>
      </p:grpSp>
      <p:sp>
        <p:nvSpPr>
          <p:cNvPr id="22" name="矩形 21"/>
          <p:cNvSpPr/>
          <p:nvPr/>
        </p:nvSpPr>
        <p:spPr>
          <a:xfrm>
            <a:off x="1274445" y="1828165"/>
            <a:ext cx="2374900" cy="2190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内核数据、代码区：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entry.S——0X 8000 0000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数据：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stack0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pcb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代码：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start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、</a:t>
            </a: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main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initcode.S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832225" y="3841115"/>
            <a:ext cx="4070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end/etext</a:t>
            </a:r>
            <a:endParaRPr lang="zh-CN" altLang="en-US"/>
          </a:p>
        </p:txBody>
      </p:sp>
      <p:cxnSp>
        <p:nvCxnSpPr>
          <p:cNvPr id="26" name="直接连接符 25"/>
          <p:cNvCxnSpPr>
            <a:stCxn id="22" idx="2"/>
            <a:endCxn id="24" idx="1"/>
          </p:cNvCxnSpPr>
          <p:nvPr/>
        </p:nvCxnSpPr>
        <p:spPr>
          <a:xfrm>
            <a:off x="2461895" y="4018915"/>
            <a:ext cx="1370330" cy="63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矩形 26"/>
          <p:cNvSpPr/>
          <p:nvPr/>
        </p:nvSpPr>
        <p:spPr>
          <a:xfrm>
            <a:off x="1268095" y="4012565"/>
            <a:ext cx="2381250" cy="2317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可自由分配区：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kernel_pagetable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pagetable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kumimoji="0" lang="zh-CN" altLang="en-US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...</a:t>
            </a: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274445" y="315087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trampoline.S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650615" y="3143250"/>
            <a:ext cx="2346960" cy="31902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>
            <a:off x="3643630" y="3447415"/>
            <a:ext cx="2361565" cy="316865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/>
        </p:nvSpPr>
        <p:spPr>
          <a:xfrm>
            <a:off x="1271270" y="521335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0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67460" y="552323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</a:t>
            </a:r>
            <a:r>
              <a:rPr lang="zh-CN" alt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r>
              <a:rPr lang="en-US" altLang="zh-CN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</a:t>
            </a:r>
            <a:endParaRPr lang="en-US" altLang="zh-CN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007100" y="602297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264285" y="4906010"/>
            <a:ext cx="2376170" cy="30960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>
            <a:noAutofit/>
          </a:bodyPr>
          <a:p>
            <a:pPr lvl="0" algn="ctr" fontAlgn="base">
              <a:buClrTx/>
              <a:buSzTx/>
              <a:buFontTx/>
            </a:pPr>
            <a:r>
              <a:rPr 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trapframe</a:t>
            </a:r>
            <a:r>
              <a:rPr lang="zh-CN" altLang="en-US" sz="140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页</a:t>
            </a:r>
            <a:endParaRPr lang="zh-CN" altLang="en-US" sz="140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9364345" y="1799590"/>
            <a:ext cx="2377440" cy="48456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820150" y="1308100"/>
            <a:ext cx="3515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内核页表</a:t>
            </a:r>
            <a:r>
              <a:rPr lang="en-US" altLang="zh-CN"/>
              <a:t>(kernel_pagetable)</a:t>
            </a:r>
            <a:endParaRPr lang="en-US" altLang="zh-CN"/>
          </a:p>
        </p:txBody>
      </p:sp>
      <p:sp>
        <p:nvSpPr>
          <p:cNvPr id="56" name="矩形 55"/>
          <p:cNvSpPr/>
          <p:nvPr/>
        </p:nvSpPr>
        <p:spPr>
          <a:xfrm>
            <a:off x="9348470" y="2726055"/>
            <a:ext cx="2378075" cy="87503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QEMU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物理占用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9348470" y="3733800"/>
            <a:ext cx="2383790" cy="5143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可用区域：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128MB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9364345" y="633412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TRAMPOLINE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9380855" y="5591810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0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375775" y="5291455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375775" y="4980305"/>
            <a:ext cx="2385060" cy="31115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kstack 1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9377680" y="4679950"/>
            <a:ext cx="2385060" cy="31115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guard page</a:t>
            </a:r>
            <a:endParaRPr kumimoji="0" lang="en-US" altLang="zh-CN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9819640" y="4174490"/>
            <a:ext cx="1347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......</a:t>
            </a:r>
            <a:endParaRPr lang="en-US" altLang="zh-CN"/>
          </a:p>
        </p:txBody>
      </p:sp>
      <p:cxnSp>
        <p:nvCxnSpPr>
          <p:cNvPr id="68" name="直接连接符 67"/>
          <p:cNvCxnSpPr/>
          <p:nvPr/>
        </p:nvCxnSpPr>
        <p:spPr>
          <a:xfrm>
            <a:off x="3643630" y="5217795"/>
            <a:ext cx="2368550" cy="111569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直接连接符 68"/>
          <p:cNvCxnSpPr/>
          <p:nvPr/>
        </p:nvCxnSpPr>
        <p:spPr>
          <a:xfrm>
            <a:off x="3650615" y="4913630"/>
            <a:ext cx="2354580" cy="11080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直接连接符 70"/>
          <p:cNvCxnSpPr>
            <a:stCxn id="65" idx="2"/>
            <a:endCxn id="60" idx="2"/>
          </p:cNvCxnSpPr>
          <p:nvPr/>
        </p:nvCxnSpPr>
        <p:spPr>
          <a:xfrm>
            <a:off x="7188835" y="6644005"/>
            <a:ext cx="3368040" cy="12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直接连接符 71"/>
          <p:cNvCxnSpPr>
            <a:stCxn id="49" idx="2"/>
            <a:endCxn id="60" idx="0"/>
          </p:cNvCxnSpPr>
          <p:nvPr/>
        </p:nvCxnSpPr>
        <p:spPr>
          <a:xfrm>
            <a:off x="7199630" y="6334125"/>
            <a:ext cx="335724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矩形 72"/>
          <p:cNvSpPr/>
          <p:nvPr/>
        </p:nvSpPr>
        <p:spPr>
          <a:xfrm>
            <a:off x="5999480" y="1781810"/>
            <a:ext cx="2369185" cy="36322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用户页面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2130" y="687705"/>
            <a:ext cx="11268075" cy="5847080"/>
          </a:xfrm>
        </p:spPr>
        <p:txBody>
          <a:bodyPr/>
          <a:lstStyle/>
          <a:p>
            <a:pPr lvl="1" indent="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任务一：打印页表</a:t>
            </a:r>
            <a:b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定义一个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vmprint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（pagetable_t pagetable）函数，可以打印出该页表中所有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（三级页目录都要遍历，参考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walk()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函数）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无效，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提示：与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PTE_V bit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，则不打印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exec.c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exec()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函数返回前增加一个条件：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if(p-&gt;pid==1)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，则调用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vmprint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p-&gt;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pagetable）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9530" y="5601335"/>
            <a:ext cx="6534150" cy="863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78915" y="1391920"/>
            <a:ext cx="8755380" cy="5067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/>
              <a:t>$ git checkout pgtbl</a:t>
            </a:r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-951865" y="728345"/>
            <a:ext cx="12071350" cy="5527675"/>
          </a:xfrm>
        </p:spPr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任务一：打印页表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输出要求如下：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(pte=page table entry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即页表条目、映射关系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pa=physical address)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第一行为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“page table ”+&lt;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页表地址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&gt;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后续行输出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“..”* &lt;level&gt;+&lt;index&gt;+“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”+“pte ”+&lt;pte&gt;+“pa”+&lt;pa&gt;	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level=1—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最高级页目录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index=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页目录号，参照前面的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“..”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间要有空格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使用深度优先遍历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执行./grade-lab-pgtbl pte printout</a:t>
            </a:r>
            <a:b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</a:br>
            <a:r>
              <a:rPr lang="zh-CN" altLang="en-US" sz="2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测试批分</a:t>
            </a:r>
            <a:endParaRPr lang="zh-CN" altLang="en-US" sz="23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0113" b="3585"/>
          <a:stretch>
            <a:fillRect/>
          </a:stretch>
        </p:blipFill>
        <p:spPr>
          <a:xfrm>
            <a:off x="6193790" y="3696335"/>
            <a:ext cx="5915025" cy="24593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任务背景说明：由于内核页表为所有进程共享的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公共资源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，所以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不可能保存用户进程的用户页面映射信息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，这就导致在内核态使用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copyin()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copyout()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copyinstr()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等函数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访问用户页面时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，需要通过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walkaddr()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软件翻译用户页面的地址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速度很慢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466"/>
          <a:stretch>
            <a:fillRect/>
          </a:stretch>
        </p:blipFill>
        <p:spPr>
          <a:xfrm>
            <a:off x="2173605" y="2910205"/>
            <a:ext cx="757555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任务背景说明：若是为每个用户进程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创建一个独享的内核页表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，这个内核页表中</a:t>
            </a:r>
            <a:r>
              <a:rPr 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记录了用户页面的映射信息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，并在进入内核态时将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satp(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页表寄存器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页表换为独享内核页表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(instead of </a:t>
            </a: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共享内核页表</a:t>
            </a:r>
            <a:r>
              <a:rPr lang="en-US" altLang="zh-CN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则内核在访问用户页面的时，可以直接访问用户页面地址（自动触发硬件翻译，很快）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9455" y="2879725"/>
            <a:ext cx="8213090" cy="388937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61645" y="926148"/>
            <a:ext cx="11268075" cy="5527675"/>
          </a:xfrm>
        </p:spPr>
        <p:txBody>
          <a:bodyPr/>
          <a:lstStyle/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任务二、三：</a:t>
            </a: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为每个用户进程新增一个独享的内核页表并应用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执行./grade-lab-pgtbl 测试批分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任务要求：</a:t>
            </a:r>
            <a:endParaRPr 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proc.h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中为每个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pcb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增加一个独享内核页表变量，也可以叫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kernel_pagetable</a:t>
            </a:r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将所有的copyin()和copyinstr()替换为vmcopyin.c中的copyin_new()、copyinstr_new()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828800" lvl="2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以合适的方式维护该独享内核页表，如：</a:t>
            </a: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alloc_proc()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时创建、初始化它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只映射自己的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kstack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，别把别人的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kstack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映射到你的独享内核页表中（参考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procinit()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函数）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在修改用户页表时，同步该改动，如：释放用户页表（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）时、父进程复制数据给子进程时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(fork())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修改页表时，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growproc()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，userinit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等等，大家自己搜索相关的操作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在内核态时都要使用内核页表，但内核态分为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有程序运行状态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无程序状态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无程序在运行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，则用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的内核页表，若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有程序在运行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，则使用</a:t>
            </a: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用户程序独享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的内核页表（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函数处见分晓）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虚拟地址不能无限增长，不然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物理内存所占用的条目就被刷新掉了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限制为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PLIC)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growproc()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函数中要判断</a:t>
            </a:r>
            <a:r>
              <a:rPr lang="en-US" altLang="zh-CN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</a:t>
            </a:r>
            <a:r>
              <a:rPr lang="zh-CN" altLang="en-US" sz="1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是否越界</a:t>
            </a: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0" lvl="3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1" indent="-457200" algn="l" defTabSz="914400" fontAlgn="auto" latinLnBrk="0">
              <a:lnSpc>
                <a:spcPct val="150000"/>
              </a:lnSpc>
              <a:spcBef>
                <a:spcPts val="500"/>
              </a:spcBef>
              <a:buClrTx/>
              <a:buSzTx/>
              <a:buFont typeface="Wingdings" panose="05000000000000000000" pitchFamily="2" charset="2"/>
              <a:buChar char="q"/>
            </a:pPr>
            <a:endParaRPr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8375" y="149225"/>
            <a:ext cx="7442200" cy="688975"/>
          </a:xfrm>
        </p:spPr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  <a:sym typeface="+mn-ea"/>
              </a:rPr>
              <a:t>实验内容</a:t>
            </a:r>
            <a:endParaRPr lang="zh-CN" altLang="en-US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221615" y="910590"/>
            <a:ext cx="11296015" cy="5601335"/>
          </a:xfrm>
        </p:spPr>
        <p:txBody>
          <a:bodyPr/>
          <a:lstStyle/>
          <a:p>
            <a:pPr lvl="0" indent="0" algn="l">
              <a:lnSpc>
                <a:spcPct val="150000"/>
              </a:lnSpc>
              <a:buNone/>
            </a:pPr>
            <a:r>
              <a:rPr lang="zh-CN" altLang="en-US" sz="2400" b="1" dirty="0">
                <a:solidFill>
                  <a:srgbClr val="990000"/>
                </a:solidFill>
              </a:rPr>
              <a:t>回答问题</a:t>
            </a:r>
            <a:endParaRPr lang="en-US" altLang="zh-CN" sz="2400" b="1" dirty="0">
              <a:solidFill>
                <a:srgbClr val="990000"/>
              </a:solidFill>
            </a:endParaRPr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2000" dirty="0"/>
              <a:t>(1)</a:t>
            </a:r>
            <a:r>
              <a:rPr sz="2000" dirty="0"/>
              <a:t>阅读`kernel/</a:t>
            </a:r>
            <a:r>
              <a:rPr lang="en-US" sz="2000" dirty="0"/>
              <a:t>proc.h</a:t>
            </a:r>
            <a:r>
              <a:rPr sz="2000" dirty="0"/>
              <a:t>`，</a:t>
            </a:r>
            <a:r>
              <a:rPr lang="zh-CN" sz="2000" dirty="0"/>
              <a:t>解释一下</a:t>
            </a:r>
            <a:r>
              <a:rPr lang="en-US" altLang="zh-CN" sz="2000" dirty="0"/>
              <a:t>PTE2PA()</a:t>
            </a:r>
            <a:r>
              <a:rPr lang="zh-CN" altLang="en-US" sz="2000" dirty="0"/>
              <a:t>和</a:t>
            </a:r>
            <a:r>
              <a:rPr lang="en-US" altLang="zh-CN" sz="2000" dirty="0"/>
              <a:t>PA2PTE()</a:t>
            </a:r>
            <a:r>
              <a:rPr lang="zh-CN" altLang="en-US" sz="2000" dirty="0"/>
              <a:t>中的左右移操作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(2) 阅读`kernel/</a:t>
            </a:r>
            <a:r>
              <a:rPr lang="en-US" sz="2000" dirty="0"/>
              <a:t>proc.h</a:t>
            </a:r>
            <a:r>
              <a:rPr sz="2000" dirty="0"/>
              <a:t>`，</a:t>
            </a:r>
            <a:r>
              <a:rPr lang="zh-CN" sz="2000" dirty="0"/>
              <a:t>介绍一下</a:t>
            </a:r>
            <a:r>
              <a:rPr lang="en-US" altLang="zh-CN" sz="2000" dirty="0"/>
              <a:t>PTE</a:t>
            </a:r>
            <a:r>
              <a:rPr lang="zh-CN" altLang="en-US" sz="2000" dirty="0"/>
              <a:t>中的各个</a:t>
            </a:r>
            <a:r>
              <a:rPr lang="en-US" altLang="zh-CN" sz="2000" dirty="0"/>
              <a:t>flag</a:t>
            </a:r>
            <a:r>
              <a:rPr lang="zh-CN" altLang="en-US" sz="2000" dirty="0"/>
              <a:t>代表什么含义，分别在什么时候被设置，用户的</a:t>
            </a:r>
            <a:r>
              <a:rPr lang="en-US" altLang="zh-CN" sz="2000" dirty="0"/>
              <a:t>kernel_pagetable</a:t>
            </a:r>
            <a:r>
              <a:rPr lang="zh-CN" altLang="en-US" sz="2000" dirty="0"/>
              <a:t>一定不能有哪一个</a:t>
            </a:r>
            <a:r>
              <a:rPr lang="en-US" altLang="zh-CN" sz="2000" dirty="0"/>
              <a:t>flag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(3) 阅读</a:t>
            </a:r>
            <a:r>
              <a:rPr lang="zh-CN" sz="2000" dirty="0"/>
              <a:t>实验指导书</a:t>
            </a:r>
            <a:r>
              <a:rPr sz="2000" dirty="0"/>
              <a:t>，</a:t>
            </a:r>
            <a:r>
              <a:rPr lang="zh-CN" sz="2000" dirty="0"/>
              <a:t>介绍一下跟</a:t>
            </a:r>
            <a:r>
              <a:rPr lang="en-US" altLang="zh-CN" sz="2000" dirty="0"/>
              <a:t>pc</a:t>
            </a:r>
            <a:r>
              <a:rPr lang="zh-CN" altLang="en-US" sz="2000" dirty="0"/>
              <a:t>相关的寄存器，如</a:t>
            </a:r>
            <a:r>
              <a:rPr lang="en-US" altLang="zh-CN" sz="2000" dirty="0"/>
              <a:t>sepc,mepc,epc,ra</a:t>
            </a:r>
            <a:endParaRPr sz="2000" dirty="0"/>
          </a:p>
          <a:p>
            <a:pPr lvl="0" algn="l">
              <a:lnSpc>
                <a:spcPct val="200000"/>
              </a:lnSpc>
              <a:buFont typeface="Wingdings" panose="05000000000000000000" charset="0"/>
              <a:buChar char="q"/>
            </a:pPr>
            <a:r>
              <a:rPr sz="2000" dirty="0"/>
              <a:t>(4) 阅读`kernel/</a:t>
            </a:r>
            <a:r>
              <a:rPr lang="en-US" sz="2000" dirty="0"/>
              <a:t>vmcopyin</a:t>
            </a:r>
            <a:r>
              <a:rPr sz="2000" dirty="0"/>
              <a:t>.c`，</a:t>
            </a:r>
            <a:r>
              <a:rPr lang="zh-CN" sz="2000" dirty="0"/>
              <a:t>解释一下</a:t>
            </a:r>
            <a:r>
              <a:rPr lang="en-US" altLang="zh-CN" sz="2000" dirty="0"/>
              <a:t>copyin_new()</a:t>
            </a:r>
            <a:r>
              <a:rPr lang="zh-CN" altLang="en-US" sz="2000" dirty="0"/>
              <a:t>中的</a:t>
            </a:r>
            <a:r>
              <a:rPr lang="en-US" altLang="zh-CN" sz="2000" dirty="0"/>
              <a:t>if</a:t>
            </a:r>
            <a:r>
              <a:rPr lang="zh-CN" altLang="en-US" sz="2000" dirty="0"/>
              <a:t>中各个条件的含义，它们为什么不合法</a:t>
            </a:r>
            <a:endParaRPr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66240" y="-8878"/>
            <a:ext cx="8859520" cy="98012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重要提醒：学术诚信问题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8422" y="1213902"/>
            <a:ext cx="10555155" cy="5573077"/>
          </a:xfrm>
        </p:spPr>
        <p:txBody>
          <a:bodyPr>
            <a:normAutofit/>
          </a:bodyPr>
          <a:lstStyle/>
          <a:p>
            <a:pPr algn="l">
              <a:lnSpc>
                <a:spcPct val="160000"/>
              </a:lnSpc>
            </a:pPr>
            <a:r>
              <a:rPr lang="en-US" altLang="zh-CN" sz="2000" b="1" dirty="0"/>
              <a:t>1. </a:t>
            </a:r>
            <a:r>
              <a:rPr lang="zh-CN" altLang="en-US" sz="2000" b="1" dirty="0"/>
              <a:t>关于实验</a:t>
            </a:r>
            <a:endParaRPr lang="en-US" altLang="zh-CN" sz="2000" b="1" dirty="0"/>
          </a:p>
          <a:p>
            <a:pPr algn="l">
              <a:lnSpc>
                <a:spcPct val="160000"/>
              </a:lnSpc>
            </a:pPr>
            <a:r>
              <a:rPr lang="en-US" altLang="zh-CN" sz="2000" dirty="0"/>
              <a:t>       xv6</a:t>
            </a:r>
            <a:r>
              <a:rPr lang="zh-CN" altLang="en-US" sz="2000" dirty="0"/>
              <a:t>是一套非常成熟的实验，网上可以找到很多参考，但是请不要直接</a:t>
            </a:r>
            <a:r>
              <a:rPr lang="en-US" altLang="zh-CN" sz="2000" dirty="0"/>
              <a:t>copy</a:t>
            </a:r>
            <a:r>
              <a:rPr lang="zh-CN" altLang="en-US" sz="2000" dirty="0"/>
              <a:t>网上的代码或者同学的代码。正确的做法是先按照实验指导尝试独立解决，如果遇到实在解决不了的问题再搜索他人的代码，只可借鉴思路或关键步骤，不可整段复制粘贴。假设你这次实验的某一分支没有做完，可以只提交文档（文档中做说明），代码在下一次实验中一块提交，不会影响最终成绩，但是抄袭会影响最终成绩。我们需要的是真诚的尽力而为，而不是虚假的尽善尽美。</a:t>
            </a:r>
            <a:endParaRPr lang="en-US" altLang="zh-CN" sz="2000" dirty="0"/>
          </a:p>
          <a:p>
            <a:pPr algn="l">
              <a:lnSpc>
                <a:spcPct val="160000"/>
              </a:lnSpc>
            </a:pPr>
            <a:r>
              <a:rPr lang="en-US" altLang="zh-CN" sz="2000" b="1" dirty="0"/>
              <a:t>2. </a:t>
            </a:r>
            <a:r>
              <a:rPr lang="zh-CN" altLang="en-US" sz="2000" b="1" dirty="0"/>
              <a:t>关于作业</a:t>
            </a:r>
            <a:endParaRPr lang="en-US" altLang="zh-CN" sz="2000" b="1" dirty="0"/>
          </a:p>
          <a:p>
            <a:pPr algn="l">
              <a:lnSpc>
                <a:spcPct val="160000"/>
              </a:lnSpc>
            </a:pPr>
            <a:r>
              <a:rPr lang="en-US" altLang="zh-CN" sz="2000" dirty="0"/>
              <a:t>       </a:t>
            </a:r>
            <a:r>
              <a:rPr lang="zh-CN" altLang="en-US" sz="2000" dirty="0"/>
              <a:t>目前的作业很多都是宽泛的问题，但是不建议直接用</a:t>
            </a:r>
            <a:r>
              <a:rPr lang="en-US" altLang="zh-CN" sz="2000" dirty="0"/>
              <a:t>AI</a:t>
            </a:r>
            <a:r>
              <a:rPr lang="zh-CN" altLang="en-US" sz="2000" dirty="0"/>
              <a:t>的回答作为答案，只能作为参考，你应该在广泛调研后自己总结，直接</a:t>
            </a:r>
            <a:r>
              <a:rPr lang="en-US" altLang="zh-CN" sz="2000" dirty="0"/>
              <a:t>copy</a:t>
            </a:r>
            <a:r>
              <a:rPr lang="zh-CN" altLang="en-US" sz="2000" dirty="0"/>
              <a:t>是不可取的。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4731" y="256254"/>
            <a:ext cx="5725324" cy="660174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29" y="1266045"/>
            <a:ext cx="5649113" cy="559195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18820" y="0"/>
            <a:ext cx="523557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一个值得学习的作业示例：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用自己的话总结网上搜到的资料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4" name="矩形 3"/>
          <p:cNvSpPr>
            <a:spLocks noChangeArrowheads="1"/>
          </p:cNvSpPr>
          <p:nvPr/>
        </p:nvSpPr>
        <p:spPr bwMode="auto">
          <a:xfrm>
            <a:off x="0" y="1840062"/>
            <a:ext cx="12192000" cy="2046288"/>
          </a:xfrm>
          <a:prstGeom prst="rect">
            <a:avLst/>
          </a:prstGeom>
          <a:solidFill>
            <a:srgbClr val="004070">
              <a:alpha val="89803"/>
            </a:srgbClr>
          </a:solidFill>
          <a:ln>
            <a:noFill/>
          </a:ln>
        </p:spPr>
        <p:txBody>
          <a:bodyPr anchor="ctr"/>
          <a:lstStyle>
            <a:lvl1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1pPr>
            <a:lvl2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2pPr>
            <a:lvl3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3pPr>
            <a:lvl4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4pPr>
            <a:lvl5pPr eaLnBrk="0" hangingPunct="0"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Thank</a:t>
            </a: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Arial" panose="020B0604020202020204" pitchFamily="34" charset="0"/>
              </a:rPr>
              <a:t>You</a:t>
            </a:r>
            <a:endParaRPr lang="zh-CN" alt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147" name="标题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807085" y="0"/>
            <a:ext cx="3253105" cy="933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1" compatLnSpc="1"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rgbClr val="16388A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16388A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pPr algn="l" eaLnBrk="1" latinLnBrk="0" hangingPunct="1">
              <a:lnSpc>
                <a:spcPct val="150000"/>
              </a:lnSpc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操作系统实验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4821" y="117457"/>
            <a:ext cx="905011" cy="81599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TABLE_ENDDRAG_ORIGIN_RECT" val="235*175"/>
  <p:tag name="TABLE_ENDDRAG_RECT" val="690*330*235*175"/>
</p:tagLst>
</file>

<file path=ppt/tags/tag2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4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5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6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7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8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9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0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1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2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3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4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5.xml><?xml version="1.0" encoding="utf-8"?>
<p:tagLst xmlns:p="http://schemas.openxmlformats.org/presentationml/2006/main">
  <p:tag name="TABLE_ENDDRAG_ORIGIN_RECT" val="235*175"/>
  <p:tag name="TABLE_ENDDRAG_RECT" val="690*330*235*175"/>
</p:tagLst>
</file>

<file path=ppt/tags/tag16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7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8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19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0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1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2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3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4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5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6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7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8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29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0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1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2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3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4.xml><?xml version="1.0" encoding="utf-8"?>
<p:tagLst xmlns:p="http://schemas.openxmlformats.org/presentationml/2006/main">
  <p:tag name="TABLE_ENDDRAG_ORIGIN_RECT" val="235*175"/>
  <p:tag name="TABLE_ENDDRAG_RECT" val="690*330*235*175"/>
</p:tagLst>
</file>

<file path=ppt/tags/tag35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6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7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8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39.xml><?xml version="1.0" encoding="utf-8"?>
<p:tagLst xmlns:p="http://schemas.openxmlformats.org/presentationml/2006/main">
  <p:tag name="KSO_WM_DIAGRAM_VIRTUALLY_FRAME" val="{&quot;height&quot;:244,&quot;left&quot;:30.75,&quot;top&quot;:270,&quot;width&quot;:616.85}"/>
</p:tagLst>
</file>

<file path=ppt/tags/tag40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1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2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3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4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5.xml><?xml version="1.0" encoding="utf-8"?>
<p:tagLst xmlns:p="http://schemas.openxmlformats.org/presentationml/2006/main">
  <p:tag name="KSO_WM_DIAGRAM_VIRTUALLY_FRAME" val="{&quot;height&quot;:165.35,&quot;left&quot;:694.8,&quot;top&quot;:365.1,&quot;width&quot;:259}"/>
</p:tagLst>
</file>

<file path=ppt/tags/tag4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anose="020B0604020202020204" pitchFamily="34" charset="0"/>
            <a:ea typeface="宋体" panose="02010600030101010101" pitchFamily="2" charset="-122"/>
            <a:sym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6398</Words>
  <Application>WPS 演示</Application>
  <PresentationFormat>宽屏</PresentationFormat>
  <Paragraphs>828</Paragraphs>
  <Slides>34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6" baseType="lpstr">
      <vt:lpstr>Arial</vt:lpstr>
      <vt:lpstr>宋体</vt:lpstr>
      <vt:lpstr>Wingdings</vt:lpstr>
      <vt:lpstr>Calibri</vt:lpstr>
      <vt:lpstr>微软雅黑</vt:lpstr>
      <vt:lpstr>Times New Roman</vt:lpstr>
      <vt:lpstr>Arial Unicode MS</vt:lpstr>
      <vt:lpstr>等线</vt:lpstr>
      <vt:lpstr>Wingdings</vt:lpstr>
      <vt:lpstr>黑体</vt:lpstr>
      <vt:lpstr>主题1</vt:lpstr>
      <vt:lpstr>1_主题1</vt:lpstr>
      <vt:lpstr>操作系统实验</vt:lpstr>
      <vt:lpstr>实验目录——页表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什么是页表，内核页表、用户页表是什么？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页表是如何翻译地址的？(va-&gt;pa)</vt:lpstr>
      <vt:lpstr>什么是页表，内核页表、用户页表是什么？</vt:lpstr>
      <vt:lpstr>XV6系统是如何启动的？XV6系统如何布置页表的？</vt:lpstr>
      <vt:lpstr>内存布局：kernel/memlayout.h(结合原PPT)</vt:lpstr>
      <vt:lpstr>XV6系统是如何启动的？XV6系统如何布置页表的？</vt:lpstr>
      <vt:lpstr>XV6系统是如何启动的？XV6系统如何布置页表的？</vt:lpstr>
      <vt:lpstr>XV6系统是如何启动的？XV6系统如何布置页表的？</vt:lpstr>
      <vt:lpstr>XV6系统是如何启动的？XV6系统如何布置页表的？</vt:lpstr>
      <vt:lpstr>内存布局：kernel/memlayout.h(结合原PPT)</vt:lpstr>
      <vt:lpstr>XV6系统是如何启动的？XV6系统如何布置页表的？</vt:lpstr>
      <vt:lpstr>实验内容</vt:lpstr>
      <vt:lpstr>实验内容</vt:lpstr>
      <vt:lpstr>实验内容</vt:lpstr>
      <vt:lpstr>实验内容</vt:lpstr>
      <vt:lpstr>实验内容</vt:lpstr>
      <vt:lpstr>实验内容</vt:lpstr>
      <vt:lpstr>重要提醒：学术诚信问题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LWT</dc:creator>
  <cp:lastModifiedBy>时时.</cp:lastModifiedBy>
  <cp:revision>2018</cp:revision>
  <dcterms:created xsi:type="dcterms:W3CDTF">2024-03-22T09:23:00Z</dcterms:created>
  <dcterms:modified xsi:type="dcterms:W3CDTF">2025-10-27T03:08:03Z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E920F76B14DB45AD8C7B52BE9AAB98F8_13</vt:lpwstr>
  </property>
  <property fmtid="{D5CDD505-2E9C-101B-9397-08002B2CF9AE}" pid="3" name="KSOProductBuildVer">
    <vt:lpwstr>2052-12.1.0.23125</vt:lpwstr>
  </property>
</Properties>
</file>