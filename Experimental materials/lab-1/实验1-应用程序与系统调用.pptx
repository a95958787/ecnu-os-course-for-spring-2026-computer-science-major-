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Lst>
  <p:notesMasterIdLst>
    <p:notesMasterId r:id="rId5"/>
  </p:notesMasterIdLst>
  <p:handoutMasterIdLst>
    <p:handoutMasterId r:id="rId34"/>
  </p:handoutMasterIdLst>
  <p:sldIdLst>
    <p:sldId id="522" r:id="rId4"/>
    <p:sldId id="527" r:id="rId6"/>
    <p:sldId id="547" r:id="rId7"/>
    <p:sldId id="733" r:id="rId8"/>
    <p:sldId id="743" r:id="rId9"/>
    <p:sldId id="744" r:id="rId10"/>
    <p:sldId id="745" r:id="rId11"/>
    <p:sldId id="746" r:id="rId12"/>
    <p:sldId id="747" r:id="rId13"/>
    <p:sldId id="748" r:id="rId14"/>
    <p:sldId id="749" r:id="rId15"/>
    <p:sldId id="779" r:id="rId16"/>
    <p:sldId id="734" r:id="rId17"/>
    <p:sldId id="735" r:id="rId18"/>
    <p:sldId id="739" r:id="rId19"/>
    <p:sldId id="740" r:id="rId20"/>
    <p:sldId id="741" r:id="rId21"/>
    <p:sldId id="798" r:id="rId22"/>
    <p:sldId id="736" r:id="rId23"/>
    <p:sldId id="742" r:id="rId24"/>
    <p:sldId id="799" r:id="rId25"/>
    <p:sldId id="800" r:id="rId26"/>
    <p:sldId id="801" r:id="rId27"/>
    <p:sldId id="802" r:id="rId28"/>
    <p:sldId id="803" r:id="rId29"/>
    <p:sldId id="804" r:id="rId30"/>
    <p:sldId id="718" r:id="rId31"/>
    <p:sldId id="615" r:id="rId32"/>
    <p:sldId id="478"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FBAC4761-0095-4685-B9DA-229890EFEBB0}">
          <p14:sldIdLst>
            <p14:sldId id="522"/>
            <p14:sldId id="527"/>
            <p14:sldId id="547"/>
            <p14:sldId id="733"/>
            <p14:sldId id="743"/>
            <p14:sldId id="744"/>
            <p14:sldId id="745"/>
            <p14:sldId id="746"/>
            <p14:sldId id="747"/>
            <p14:sldId id="748"/>
            <p14:sldId id="749"/>
            <p14:sldId id="779"/>
            <p14:sldId id="734"/>
            <p14:sldId id="735"/>
            <p14:sldId id="739"/>
            <p14:sldId id="740"/>
            <p14:sldId id="741"/>
            <p14:sldId id="798"/>
            <p14:sldId id="736"/>
            <p14:sldId id="742"/>
            <p14:sldId id="799"/>
            <p14:sldId id="800"/>
            <p14:sldId id="801"/>
            <p14:sldId id="802"/>
            <p14:sldId id="803"/>
            <p14:sldId id="804"/>
            <p14:sldId id="718"/>
            <p14:sldId id="615"/>
            <p14:sldId id="47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4E4E4"/>
    <a:srgbClr val="4D9BD3"/>
    <a:srgbClr val="003E7A"/>
    <a:srgbClr val="990000"/>
    <a:srgbClr val="9F1010"/>
    <a:srgbClr val="A96D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93214" autoAdjust="0"/>
  </p:normalViewPr>
  <p:slideViewPr>
    <p:cSldViewPr snapToGrid="0">
      <p:cViewPr varScale="1">
        <p:scale>
          <a:sx n="89" d="100"/>
          <a:sy n="89" d="100"/>
        </p:scale>
        <p:origin x="860" y="6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F644E5-6B83-484E-B06E-5269D044D46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45C01-8370-4DA3-8DA5-A0AE7AECFD7E}"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编号占位符 6"/>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marL="742950" indent="-28575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marL="11430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marL="16002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marL="20574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marL="25146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marL="29718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marL="34290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marL="38862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fld id="{DF76A47F-F381-4BF3-83E2-34D85D44A2FE}" type="slidenum">
              <a:rPr lang="zh-CN" altLang="en-US"/>
            </a:fld>
            <a:endParaRPr lang="zh-CN" altLang="en-US"/>
          </a:p>
        </p:txBody>
      </p:sp>
      <p:sp>
        <p:nvSpPr>
          <p:cNvPr id="7171" name="幻灯片图像占位符 1"/>
          <p:cNvSpPr>
            <a:spLocks noGrp="1" noRot="1" noChangeAspect="1" noTextEdit="1"/>
          </p:cNvSpPr>
          <p:nvPr>
            <p:ph type="sldImg"/>
          </p:nvPr>
        </p:nvSpPr>
        <p:spPr>
          <a:noFill/>
        </p:spPr>
      </p:sp>
      <p:sp>
        <p:nvSpPr>
          <p:cNvPr id="717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
        <p:nvSpPr>
          <p:cNvPr id="7173" name="幻灯片编号占位符 3"/>
          <p:cNvSpPr>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1pPr>
            <a:lvl2pPr marL="742950" indent="-28575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2pPr>
            <a:lvl3pPr marL="11430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3pPr>
            <a:lvl4pPr marL="16002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4pPr>
            <a:lvl5pPr marL="20574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5pPr>
            <a:lvl6pPr marL="25146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6pPr>
            <a:lvl7pPr marL="29718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7pPr>
            <a:lvl8pPr marL="34290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8pPr>
            <a:lvl9pPr marL="38862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9pPr>
          </a:lstStyle>
          <a:p>
            <a:pPr algn="r" eaLnBrk="1" hangingPunct="1">
              <a:spcBef>
                <a:spcPct val="0"/>
              </a:spcBef>
            </a:pPr>
            <a:fld id="{814E5873-95F7-4515-96EC-B7B5D7E1AB66}" type="slidenum">
              <a:rPr lang="zh-CN" altLang="en-US">
                <a:sym typeface="宋体" panose="02010600030101010101" pitchFamily="2" charset="-122"/>
              </a:rPr>
            </a:fld>
            <a:endParaRPr lang="zh-CN" altLang="en-US">
              <a:sym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a typeface="+mn-lt"/>
                <a:cs typeface="+mn-lt"/>
                <a:sym typeface="Wingdings" panose="05000000000000000000" pitchFamily="2" charset="2"/>
              </a:rPr>
              <a:t>接下来我们简要介绍xv6是怎样封装的。</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1" indent="-457200">
              <a:lnSpc>
                <a:spcPct val="150000"/>
              </a:lnSpc>
              <a:buFont typeface="Wingdings" panose="05000000000000000000" pitchFamily="2" charset="2"/>
              <a:buChar char="q"/>
            </a:pPr>
            <a:r>
              <a:rPr lang="zh-CN" altLang="en-US" dirty="0">
                <a:ea typeface="+mn-lt"/>
                <a:cs typeface="+mn-lt"/>
                <a:sym typeface="Wingdings" panose="05000000000000000000" pitchFamily="2" charset="2"/>
              </a:rPr>
              <a:t>系统调用步骤包括以下几步：</a:t>
            </a:r>
            <a:endParaRPr lang="zh-CN" altLang="en-US" dirty="0">
              <a:latin typeface="+mn-lt"/>
              <a:ea typeface="+mn-lt"/>
              <a:cs typeface="+mn-lt"/>
              <a:sym typeface="Wingdings" panose="05000000000000000000" pitchFamily="2" charset="2"/>
            </a:endParaRPr>
          </a:p>
          <a:p>
            <a:pPr marL="1371600" lvl="2" indent="-457200">
              <a:lnSpc>
                <a:spcPct val="150000"/>
              </a:lnSpc>
              <a:buFont typeface="Wingdings" panose="05000000000000000000" charset="0"/>
              <a:buChar char="Ø"/>
            </a:pPr>
            <a:r>
              <a:rPr lang="zh-CN" altLang="en-US" dirty="0">
                <a:ea typeface="+mn-lt"/>
                <a:cs typeface="+mn-lt"/>
                <a:sym typeface="Wingdings" panose="05000000000000000000" pitchFamily="2" charset="2"/>
              </a:rPr>
              <a:t>li a7, SYS_${name}\n：将系统调用号 SYS_${name}（来自kernel/syscall.h）传给RISC-V CPU上的a7寄存器，这样内核就可以通过a7寄存器知道现在要处理的是什么系统调用。</a:t>
            </a:r>
            <a:endParaRPr lang="zh-CN" altLang="en-US" dirty="0">
              <a:latin typeface="+mn-lt"/>
              <a:ea typeface="+mn-lt"/>
              <a:cs typeface="+mn-lt"/>
              <a:sym typeface="Wingdings" panose="05000000000000000000" pitchFamily="2" charset="2"/>
            </a:endParaRPr>
          </a:p>
          <a:p>
            <a:pPr marL="1371600" lvl="2" indent="-457200">
              <a:lnSpc>
                <a:spcPct val="150000"/>
              </a:lnSpc>
              <a:buFont typeface="Wingdings" panose="05000000000000000000" charset="0"/>
              <a:buChar char="Ø"/>
            </a:pPr>
            <a:r>
              <a:rPr lang="zh-CN" altLang="en-US" dirty="0">
                <a:ea typeface="+mn-lt"/>
                <a:cs typeface="+mn-lt"/>
                <a:sym typeface="Wingdings" panose="05000000000000000000" pitchFamily="2" charset="2"/>
              </a:rPr>
              <a:t>ecall：特殊指令，用来转入操作系统内核（ 关键 指令）。</a:t>
            </a:r>
            <a:endParaRPr lang="zh-CN" altLang="en-US" dirty="0">
              <a:latin typeface="+mn-lt"/>
              <a:ea typeface="+mn-lt"/>
              <a:cs typeface="+mn-lt"/>
              <a:sym typeface="Wingdings" panose="05000000000000000000" pitchFamily="2" charset="2"/>
            </a:endParaRPr>
          </a:p>
          <a:p>
            <a:pPr marL="1371600" lvl="2" indent="-457200">
              <a:lnSpc>
                <a:spcPct val="150000"/>
              </a:lnSpc>
              <a:buFont typeface="Wingdings" panose="05000000000000000000" charset="0"/>
              <a:buChar char="Ø"/>
            </a:pPr>
            <a:r>
              <a:rPr lang="zh-CN" altLang="en-US" dirty="0">
                <a:ea typeface="+mn-lt"/>
                <a:cs typeface="+mn-lt"/>
                <a:sym typeface="Wingdings" panose="05000000000000000000" pitchFamily="2" charset="2"/>
              </a:rPr>
              <a:t>ret：操作系统内核执行完后会返回到这里，执行ret就结束了用户看到的系统调用，返回至用户程序。</a:t>
            </a:r>
            <a:endParaRPr lang="zh-CN" altLang="en-US" dirty="0">
              <a:latin typeface="+mn-lt"/>
              <a:ea typeface="+mn-lt"/>
              <a:cs typeface="+mn-lt"/>
              <a:sym typeface="Wingdings" panose="05000000000000000000" pitchFamily="2" charset="2"/>
            </a:endParaRPr>
          </a:p>
          <a:p>
            <a:pPr marL="1371600" lvl="2" indent="-457200">
              <a:lnSpc>
                <a:spcPct val="150000"/>
              </a:lnSpc>
              <a:buFont typeface="Wingdings" panose="05000000000000000000" charset="0"/>
              <a:buChar char="Ø"/>
            </a:pPr>
            <a:r>
              <a:rPr lang="zh-CN" altLang="en-US" dirty="0">
                <a:ea typeface="+mn-lt"/>
                <a:cs typeface="+mn-lt"/>
                <a:sym typeface="Wingdings" panose="05000000000000000000" pitchFamily="2" charset="2"/>
              </a:rPr>
              <a:t>可以在编译后阅读user/usys.S，将其与上述脚本对应以便更好地理解。</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根据RISC-V标准规定，函数调用通过寄存器传递参数。在内核中可以通过argint、argaddr等函数获取系统调用的参数，分别对应整数和指针，它们都调用argraw来读取已保存的寄存器。比如，kernel/sycall.c中 argraw函数所描述的就是取出参数的过程。</a:t>
            </a:r>
            <a:endParaRPr lang="zh-CN" altLang="en-US" dirty="0"/>
          </a:p>
          <a:p>
            <a:r>
              <a:rPr lang="zh-CN" altLang="en-US" dirty="0"/>
              <a:t>其中 trapframe就是用户进程的寄存器状态。</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数组下标就是系统调用号，这样我们在分辨不同系统调用的时候就可以很方便地用数组来进行操作了。将两者合起来使用，可以使得系统调用的 实现 和系统调用的 分发 彼此 分离。</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chemeClr val="tx1"/>
                </a:solidFill>
                <a:latin typeface="+mn-lt"/>
                <a:ea typeface="+mn-lt"/>
                <a:cs typeface="+mn-lt"/>
                <a:sym typeface="Wingdings" panose="05000000000000000000" pitchFamily="2" charset="2"/>
              </a:rPr>
              <a:t>supervisor mode即</a:t>
            </a:r>
            <a:r>
              <a:rPr lang="en-US" altLang="zh-CN" sz="1200" dirty="0">
                <a:solidFill>
                  <a:schemeClr val="tx1"/>
                </a:solidFill>
                <a:latin typeface="+mn-lt"/>
                <a:ea typeface="+mn-lt"/>
                <a:cs typeface="+mn-lt"/>
                <a:sym typeface="Wingdings" panose="05000000000000000000" pitchFamily="2" charset="2"/>
              </a:rPr>
              <a:t>xv6</a:t>
            </a:r>
            <a:r>
              <a:rPr lang="zh-CN" altLang="en-US" sz="1200" dirty="0">
                <a:solidFill>
                  <a:schemeClr val="tx1"/>
                </a:solidFill>
                <a:latin typeface="+mn-lt"/>
                <a:ea typeface="+mn-lt"/>
                <a:cs typeface="+mn-lt"/>
                <a:sym typeface="Wingdings" panose="05000000000000000000" pitchFamily="2" charset="2"/>
              </a:rPr>
              <a:t>的内核态</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参数：系统调用sleep有一个参数，用来告知操作系统sleep的持续时间。但是这里怎么是void？</a:t>
            </a:r>
            <a:endParaRPr lang="zh-CN" altLang="en-US" dirty="0"/>
          </a:p>
          <a:p>
            <a:r>
              <a:rPr lang="zh-CN" altLang="en-US" dirty="0"/>
              <a:t>这是因为xv6又进行了一次解耦合，通过一个额外的函数获取参数，他们以arg开头，具体见kernel/syscall.c。</a:t>
            </a:r>
            <a:endParaRPr lang="zh-CN" altLang="en-US" dirty="0"/>
          </a:p>
          <a:p>
            <a:r>
              <a:rPr lang="zh-CN" altLang="en-US" dirty="0"/>
              <a:t>获得进程的状态：执行系统调用的时候，参数不会告诉xv6自己到底是什么程序。因此，xv6需要额外的调用来弄清楚，现在到底是什么程序正在运行？</a:t>
            </a:r>
            <a:endParaRPr lang="zh-CN" altLang="en-US" dirty="0"/>
          </a:p>
          <a:p>
            <a:r>
              <a:rPr lang="zh-CN" altLang="en-US" dirty="0"/>
              <a:t>关键的函数是 myproc() ，这个函数将返回指向当前进程的PCB（也就是进程控制块）的指针（struct proc *），里面有程序的各种信息。</a:t>
            </a:r>
            <a:endParaRPr lang="zh-CN" altLang="en-US" dirty="0"/>
          </a:p>
          <a:p>
            <a:r>
              <a:rPr lang="zh-CN" altLang="en-US" dirty="0"/>
              <a:t>sleep的实现逻辑：这里，主要就是根据各个不同的系统调用，实现自身应的逻辑即可。</a:t>
            </a:r>
            <a:endParaRPr lang="zh-CN" altLang="en-US" dirty="0"/>
          </a:p>
          <a:p>
            <a:r>
              <a:rPr lang="zh-CN" altLang="en-US" dirty="0"/>
              <a:t>sleep逻辑：</a:t>
            </a:r>
            <a:endParaRPr lang="zh-CN" altLang="en-US" dirty="0"/>
          </a:p>
          <a:p>
            <a:r>
              <a:rPr lang="zh-CN" altLang="en-US" dirty="0"/>
              <a:t>line </a:t>
            </a:r>
            <a:r>
              <a:rPr lang="en-US" altLang="zh-CN" dirty="0"/>
              <a:t>49</a:t>
            </a:r>
            <a:r>
              <a:rPr lang="zh-CN" altLang="en-US" dirty="0"/>
              <a:t>：获取参数</a:t>
            </a:r>
            <a:endParaRPr lang="zh-CN" altLang="en-US" dirty="0"/>
          </a:p>
          <a:p>
            <a:r>
              <a:rPr lang="zh-CN" altLang="en-US" dirty="0"/>
              <a:t>line </a:t>
            </a:r>
            <a:r>
              <a:rPr lang="en-US" altLang="zh-CN" dirty="0"/>
              <a:t>50</a:t>
            </a:r>
            <a:r>
              <a:rPr lang="zh-CN" altLang="en-US" dirty="0"/>
              <a:t>：给时钟加锁，获取当前的时间</a:t>
            </a:r>
            <a:endParaRPr lang="zh-CN" altLang="en-US" dirty="0"/>
          </a:p>
          <a:p>
            <a:r>
              <a:rPr lang="zh-CN" altLang="en-US" dirty="0"/>
              <a:t>line </a:t>
            </a:r>
            <a:r>
              <a:rPr lang="en-US" altLang="zh-CN" dirty="0"/>
              <a:t>52</a:t>
            </a:r>
            <a:r>
              <a:rPr lang="zh-CN" altLang="en-US" dirty="0"/>
              <a:t>：比较是否到了sleep结束的时间</a:t>
            </a:r>
            <a:endParaRPr lang="zh-CN" altLang="en-US" dirty="0"/>
          </a:p>
          <a:p>
            <a:r>
              <a:rPr lang="zh-CN" altLang="en-US" dirty="0"/>
              <a:t>line </a:t>
            </a:r>
            <a:r>
              <a:rPr lang="en-US" altLang="zh-CN" dirty="0"/>
              <a:t>53</a:t>
            </a:r>
            <a:r>
              <a:rPr lang="zh-CN" altLang="en-US" dirty="0"/>
              <a:t>-</a:t>
            </a:r>
            <a:r>
              <a:rPr lang="en-US" altLang="zh-CN" dirty="0"/>
              <a:t>56</a:t>
            </a:r>
            <a:r>
              <a:rPr lang="zh-CN" altLang="en-US" dirty="0"/>
              <a:t>：进程结束了就退出，什么也不做</a:t>
            </a:r>
            <a:endParaRPr lang="zh-CN" altLang="en-US" dirty="0"/>
          </a:p>
          <a:p>
            <a:r>
              <a:rPr lang="zh-CN" altLang="en-US" dirty="0"/>
              <a:t>line </a:t>
            </a:r>
            <a:r>
              <a:rPr lang="en-US" altLang="zh-CN" dirty="0"/>
              <a:t>57</a:t>
            </a:r>
            <a:r>
              <a:rPr lang="zh-CN" altLang="en-US" dirty="0"/>
              <a:t>：否则继续睡眠</a:t>
            </a:r>
            <a:endParaRPr lang="zh-CN" altLang="en-US" dirty="0"/>
          </a:p>
          <a:p>
            <a:r>
              <a:rPr lang="zh-CN" altLang="en-US" dirty="0"/>
              <a:t>line </a:t>
            </a:r>
            <a:r>
              <a:rPr lang="en-US" altLang="zh-CN" dirty="0"/>
              <a:t>59</a:t>
            </a:r>
            <a:r>
              <a:rPr lang="zh-CN" altLang="en-US" dirty="0"/>
              <a:t>-</a:t>
            </a:r>
            <a:r>
              <a:rPr lang="en-US" altLang="zh-CN" dirty="0"/>
              <a:t>60</a:t>
            </a:r>
            <a:r>
              <a:rPr lang="zh-CN" altLang="en-US" dirty="0"/>
              <a:t>：到时间了则释放时间的锁，返回程序，sleep结束。</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a typeface="+mn-lt"/>
                <a:cs typeface="+mn-lt"/>
                <a:sym typeface="Wingdings" panose="05000000000000000000" pitchFamily="2" charset="2"/>
              </a:rPr>
              <a:t>接下来我们简要介绍xv6是怎样封装的。</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编号占位符 6"/>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marL="742950" indent="-28575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marL="11430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marL="16002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marL="20574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marL="25146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marL="29718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marL="34290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marL="38862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fld id="{DF76A47F-F381-4BF3-83E2-34D85D44A2FE}" type="slidenum">
              <a:rPr lang="zh-CN" altLang="en-US"/>
            </a:fld>
            <a:endParaRPr lang="zh-CN" altLang="en-US"/>
          </a:p>
        </p:txBody>
      </p:sp>
      <p:sp>
        <p:nvSpPr>
          <p:cNvPr id="7171" name="幻灯片图像占位符 1"/>
          <p:cNvSpPr>
            <a:spLocks noGrp="1" noRot="1" noChangeAspect="1" noTextEdit="1"/>
          </p:cNvSpPr>
          <p:nvPr>
            <p:ph type="sldImg"/>
          </p:nvPr>
        </p:nvSpPr>
        <p:spPr>
          <a:noFill/>
        </p:spPr>
      </p:sp>
      <p:sp>
        <p:nvSpPr>
          <p:cNvPr id="717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
        <p:nvSpPr>
          <p:cNvPr id="7173" name="幻灯片编号占位符 3"/>
          <p:cNvSpPr>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1pPr>
            <a:lvl2pPr marL="742950" indent="-28575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2pPr>
            <a:lvl3pPr marL="11430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3pPr>
            <a:lvl4pPr marL="16002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4pPr>
            <a:lvl5pPr marL="20574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5pPr>
            <a:lvl6pPr marL="25146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6pPr>
            <a:lvl7pPr marL="29718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7pPr>
            <a:lvl8pPr marL="34290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8pPr>
            <a:lvl9pPr marL="38862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9pPr>
          </a:lstStyle>
          <a:p>
            <a:pPr algn="r" eaLnBrk="1" hangingPunct="1">
              <a:spcBef>
                <a:spcPct val="0"/>
              </a:spcBef>
            </a:pPr>
            <a:fld id="{814E5873-95F7-4515-96EC-B7B5D7E1AB66}" type="slidenum">
              <a:rPr lang="zh-CN" altLang="en-US">
                <a:sym typeface="宋体" panose="02010600030101010101" pitchFamily="2" charset="-122"/>
              </a:rPr>
            </a:fld>
            <a:endParaRPr lang="zh-CN" altLang="en-US">
              <a:sym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492125" y="1125538"/>
            <a:ext cx="5557838" cy="5527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202363" y="1125538"/>
            <a:ext cx="5557837" cy="5527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3975" y="149225"/>
            <a:ext cx="2816225" cy="65039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492125" y="149225"/>
            <a:ext cx="8299450" cy="650398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492125" y="1125538"/>
            <a:ext cx="5557838" cy="5527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202363" y="1125538"/>
            <a:ext cx="5557837" cy="5527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3975" y="149225"/>
            <a:ext cx="2816225" cy="65039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492125" y="149225"/>
            <a:ext cx="8299450" cy="650398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F"/>
        </a:solidFill>
        <a:effectLst/>
      </p:bgPr>
    </p:bg>
    <p:spTree>
      <p:nvGrpSpPr>
        <p:cNvPr id="1" name=""/>
        <p:cNvGrpSpPr/>
        <p:nvPr/>
      </p:nvGrpSpPr>
      <p:grpSpPr>
        <a:xfrm>
          <a:off x="0" y="0"/>
          <a:ext cx="0" cy="0"/>
          <a:chOff x="0" y="0"/>
          <a:chExt cx="0" cy="0"/>
        </a:xfrm>
      </p:grpSpPr>
      <p:sp>
        <p:nvSpPr>
          <p:cNvPr id="1026" name="Rectangle 9"/>
          <p:cNvSpPr>
            <a:spLocks noGrp="1" noChangeArrowheads="1"/>
          </p:cNvSpPr>
          <p:nvPr>
            <p:ph type="title"/>
          </p:nvPr>
        </p:nvSpPr>
        <p:spPr bwMode="auto">
          <a:xfrm>
            <a:off x="968375" y="149225"/>
            <a:ext cx="83915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en-US" altLang="en-US"/>
          </a:p>
        </p:txBody>
      </p:sp>
      <p:sp>
        <p:nvSpPr>
          <p:cNvPr id="1027" name="Rectangle 10"/>
          <p:cNvSpPr>
            <a:spLocks noGrp="1" noChangeArrowheads="1"/>
          </p:cNvSpPr>
          <p:nvPr>
            <p:ph type="body" idx="1"/>
          </p:nvPr>
        </p:nvSpPr>
        <p:spPr bwMode="auto">
          <a:xfrm>
            <a:off x="492125" y="1125538"/>
            <a:ext cx="11268075"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endParaRPr lang="en-US" altLang="zh-CN"/>
          </a:p>
        </p:txBody>
      </p:sp>
      <p:grpSp>
        <p:nvGrpSpPr>
          <p:cNvPr id="1028" name="Group -1006"/>
          <p:cNvGrpSpPr/>
          <p:nvPr/>
        </p:nvGrpSpPr>
        <p:grpSpPr bwMode="auto">
          <a:xfrm>
            <a:off x="0" y="141288"/>
            <a:ext cx="885825" cy="679450"/>
            <a:chOff x="0" y="142043"/>
            <a:chExt cx="354475" cy="347582"/>
          </a:xfrm>
        </p:grpSpPr>
        <p:sp>
          <p:nvSpPr>
            <p:cNvPr id="1048578" name="矩形 1"/>
            <p:cNvSpPr>
              <a:spLocks noChangeArrowheads="1"/>
            </p:cNvSpPr>
            <p:nvPr/>
          </p:nvSpPr>
          <p:spPr bwMode="auto">
            <a:xfrm>
              <a:off x="0" y="142043"/>
              <a:ext cx="196931" cy="347582"/>
            </a:xfrm>
            <a:prstGeom prst="rect">
              <a:avLst/>
            </a:prstGeom>
            <a:solidFill>
              <a:srgbClr val="003E7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79" name="矩形 1"/>
            <p:cNvSpPr>
              <a:spLocks noChangeArrowheads="1"/>
            </p:cNvSpPr>
            <p:nvPr/>
          </p:nvSpPr>
          <p:spPr bwMode="auto">
            <a:xfrm>
              <a:off x="229964" y="142043"/>
              <a:ext cx="62255"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80" name="矩形 1"/>
            <p:cNvSpPr>
              <a:spLocks noChangeArrowheads="1"/>
            </p:cNvSpPr>
            <p:nvPr/>
          </p:nvSpPr>
          <p:spPr bwMode="auto">
            <a:xfrm>
              <a:off x="325253" y="142043"/>
              <a:ext cx="29222"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grpSp>
      <p:pic>
        <p:nvPicPr>
          <p:cNvPr id="1029" name="图片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06150" y="152400"/>
            <a:ext cx="750888"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p:titleStyle>
    <p:body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F"/>
        </a:solidFill>
        <a:effectLst/>
      </p:bgPr>
    </p:bg>
    <p:spTree>
      <p:nvGrpSpPr>
        <p:cNvPr id="1" name=""/>
        <p:cNvGrpSpPr/>
        <p:nvPr/>
      </p:nvGrpSpPr>
      <p:grpSpPr>
        <a:xfrm>
          <a:off x="0" y="0"/>
          <a:ext cx="0" cy="0"/>
          <a:chOff x="0" y="0"/>
          <a:chExt cx="0" cy="0"/>
        </a:xfrm>
      </p:grpSpPr>
      <p:sp>
        <p:nvSpPr>
          <p:cNvPr id="1026" name="Rectangle 9"/>
          <p:cNvSpPr>
            <a:spLocks noGrp="1" noChangeArrowheads="1"/>
          </p:cNvSpPr>
          <p:nvPr>
            <p:ph type="title"/>
          </p:nvPr>
        </p:nvSpPr>
        <p:spPr bwMode="auto">
          <a:xfrm>
            <a:off x="968375" y="149225"/>
            <a:ext cx="83915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en-US" altLang="en-US"/>
          </a:p>
        </p:txBody>
      </p:sp>
      <p:sp>
        <p:nvSpPr>
          <p:cNvPr id="1027" name="Rectangle 10"/>
          <p:cNvSpPr>
            <a:spLocks noGrp="1" noChangeArrowheads="1"/>
          </p:cNvSpPr>
          <p:nvPr>
            <p:ph type="body" idx="1"/>
          </p:nvPr>
        </p:nvSpPr>
        <p:spPr bwMode="auto">
          <a:xfrm>
            <a:off x="492125" y="1125538"/>
            <a:ext cx="11268075"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endParaRPr lang="en-US" altLang="zh-CN"/>
          </a:p>
        </p:txBody>
      </p:sp>
      <p:grpSp>
        <p:nvGrpSpPr>
          <p:cNvPr id="1028" name="Group -1006"/>
          <p:cNvGrpSpPr/>
          <p:nvPr/>
        </p:nvGrpSpPr>
        <p:grpSpPr bwMode="auto">
          <a:xfrm>
            <a:off x="0" y="141288"/>
            <a:ext cx="885825" cy="679450"/>
            <a:chOff x="0" y="142043"/>
            <a:chExt cx="354475" cy="347582"/>
          </a:xfrm>
        </p:grpSpPr>
        <p:sp>
          <p:nvSpPr>
            <p:cNvPr id="1048578" name="矩形 1"/>
            <p:cNvSpPr>
              <a:spLocks noChangeArrowheads="1"/>
            </p:cNvSpPr>
            <p:nvPr/>
          </p:nvSpPr>
          <p:spPr bwMode="auto">
            <a:xfrm>
              <a:off x="0" y="142043"/>
              <a:ext cx="196931" cy="347582"/>
            </a:xfrm>
            <a:prstGeom prst="rect">
              <a:avLst/>
            </a:prstGeom>
            <a:solidFill>
              <a:srgbClr val="003E7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79" name="矩形 1"/>
            <p:cNvSpPr>
              <a:spLocks noChangeArrowheads="1"/>
            </p:cNvSpPr>
            <p:nvPr/>
          </p:nvSpPr>
          <p:spPr bwMode="auto">
            <a:xfrm>
              <a:off x="229964" y="142043"/>
              <a:ext cx="62255"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80" name="矩形 1"/>
            <p:cNvSpPr>
              <a:spLocks noChangeArrowheads="1"/>
            </p:cNvSpPr>
            <p:nvPr/>
          </p:nvSpPr>
          <p:spPr bwMode="auto">
            <a:xfrm>
              <a:off x="325253" y="142043"/>
              <a:ext cx="29222"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grpSp>
      <p:pic>
        <p:nvPicPr>
          <p:cNvPr id="1029" name="图片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06150" y="152400"/>
            <a:ext cx="750888"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p:titleStyle>
    <p:body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7.xml"/><Relationship Id="rId3" Type="http://schemas.openxmlformats.org/officeDocument/2006/relationships/image" Target="../media/image38.png"/><Relationship Id="rId2" Type="http://schemas.openxmlformats.org/officeDocument/2006/relationships/slide" Target="slide1.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4" name="矩形 3"/>
          <p:cNvSpPr>
            <a:spLocks noChangeArrowheads="1"/>
          </p:cNvSpPr>
          <p:nvPr/>
        </p:nvSpPr>
        <p:spPr bwMode="auto">
          <a:xfrm>
            <a:off x="-1" y="1869090"/>
            <a:ext cx="12192000" cy="2046288"/>
          </a:xfrm>
          <a:prstGeom prst="rect">
            <a:avLst/>
          </a:prstGeom>
          <a:solidFill>
            <a:srgbClr val="004070">
              <a:alpha val="89803"/>
            </a:srgbClr>
          </a:solidFill>
          <a:ln>
            <a:noFill/>
          </a:ln>
        </p:spPr>
        <p:txBody>
          <a:bodyPr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r>
              <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实验</a:t>
            </a: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1 </a:t>
            </a:r>
            <a:r>
              <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应用程序与系统调用</a:t>
            </a:r>
            <a:endPar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endParaRPr>
          </a:p>
        </p:txBody>
      </p:sp>
      <p:sp>
        <p:nvSpPr>
          <p:cNvPr id="6147" name="标题 2"/>
          <p:cNvSpPr>
            <a:spLocks noGrp="1" noChangeArrowheads="1"/>
          </p:cNvSpPr>
          <p:nvPr>
            <p:ph type="ctrTitle" idx="4294967295"/>
          </p:nvPr>
        </p:nvSpPr>
        <p:spPr>
          <a:xfrm>
            <a:off x="807085" y="0"/>
            <a:ext cx="3253105" cy="933450"/>
          </a:xfrm>
        </p:spPr>
        <p:txBody>
          <a:bodyPr anchor="ctr" anchorCtr="1"/>
          <a:lstStyle/>
          <a:p>
            <a:pPr algn="l" eaLnBrk="1" latinLnBrk="0" hangingPunct="1">
              <a:lnSpc>
                <a:spcPct val="150000"/>
              </a:lnSpc>
            </a:pPr>
            <a:r>
              <a:rPr lang="zh-CN" altLang="en-US" dirty="0">
                <a:latin typeface="Arial" panose="020B0604020202020204" pitchFamily="34" charset="0"/>
                <a:cs typeface="Arial" panose="020B0604020202020204" pitchFamily="34" charset="0"/>
              </a:rPr>
              <a:t>操作系统实验</a:t>
            </a:r>
            <a:endParaRPr lang="zh-CN" altLang="en-US" dirty="0">
              <a:latin typeface="Arial" panose="020B0604020202020204" pitchFamily="34" charset="0"/>
              <a:cs typeface="Arial" panose="020B0604020202020204" pitchFamily="34" charset="0"/>
            </a:endParaRPr>
          </a:p>
        </p:txBody>
      </p:sp>
      <p:graphicFrame>
        <p:nvGraphicFramePr>
          <p:cNvPr id="4" name="Group 8"/>
          <p:cNvGraphicFramePr>
            <a:graphicFrameLocks noGrp="1"/>
          </p:cNvGraphicFramePr>
          <p:nvPr/>
        </p:nvGraphicFramePr>
        <p:xfrm>
          <a:off x="2586037" y="4422504"/>
          <a:ext cx="7019925" cy="1704975"/>
        </p:xfrm>
        <a:graphic>
          <a:graphicData uri="http://schemas.openxmlformats.org/drawingml/2006/table">
            <a:tbl>
              <a:tblPr/>
              <a:tblGrid>
                <a:gridCol w="7019925"/>
              </a:tblGrid>
              <a:tr h="1704975">
                <a:tc>
                  <a:txBody>
                    <a:bodyPr/>
                    <a:lstStyle>
                      <a:lvl1pPr latinLnBrk="1">
                        <a:lnSpc>
                          <a:spcPct val="110000"/>
                        </a:lnSpc>
                        <a:spcBef>
                          <a:spcPct val="20000"/>
                        </a:spcBef>
                        <a:buClr>
                          <a:srgbClr val="8AC6CD"/>
                        </a:buClr>
                        <a:buSzPct val="120000"/>
                        <a:defRPr sz="2400">
                          <a:solidFill>
                            <a:srgbClr val="000000"/>
                          </a:solidFill>
                          <a:latin typeface="微软雅黑" panose="020B0503020204020204" pitchFamily="34" charset="-122"/>
                          <a:ea typeface="微软雅黑" panose="020B0503020204020204" pitchFamily="34" charset="-122"/>
                        </a:defRPr>
                      </a:lvl1pPr>
                      <a:lvl2pPr latinLnBrk="1">
                        <a:lnSpc>
                          <a:spcPct val="110000"/>
                        </a:lnSpc>
                        <a:spcBef>
                          <a:spcPct val="20000"/>
                        </a:spcBef>
                        <a:buClr>
                          <a:srgbClr val="8AC6CD"/>
                        </a:buClr>
                        <a:buSzPct val="120000"/>
                        <a:defRPr sz="2000">
                          <a:solidFill>
                            <a:srgbClr val="000000"/>
                          </a:solidFill>
                          <a:latin typeface="Calibri" panose="020F0502020204030204" pitchFamily="34" charset="0"/>
                          <a:ea typeface="宋体" panose="02010600030101010101" pitchFamily="2" charset="-122"/>
                        </a:defRPr>
                      </a:lvl2pPr>
                      <a:lvl3pPr latinLnBrk="1">
                        <a:lnSpc>
                          <a:spcPct val="110000"/>
                        </a:lnSpc>
                        <a:spcBef>
                          <a:spcPct val="20000"/>
                        </a:spcBef>
                        <a:buClr>
                          <a:srgbClr val="8AC6CD"/>
                        </a:buClr>
                        <a:buSzPct val="120000"/>
                        <a:defRPr sz="2000">
                          <a:solidFill>
                            <a:srgbClr val="000000"/>
                          </a:solidFill>
                          <a:latin typeface="Calibri" panose="020F0502020204030204" pitchFamily="34" charset="0"/>
                          <a:ea typeface="宋体" panose="02010600030101010101" pitchFamily="2" charset="-122"/>
                        </a:defRPr>
                      </a:lvl3pPr>
                      <a:lvl4pPr latinLnBrk="1">
                        <a:lnSpc>
                          <a:spcPct val="110000"/>
                        </a:lnSpc>
                        <a:spcBef>
                          <a:spcPct val="20000"/>
                        </a:spcBef>
                        <a:buClr>
                          <a:srgbClr val="8AC6CD"/>
                        </a:buClr>
                        <a:buSzPct val="120000"/>
                        <a:defRPr>
                          <a:solidFill>
                            <a:srgbClr val="000000"/>
                          </a:solidFill>
                          <a:latin typeface="Calibri" panose="020F0502020204030204" pitchFamily="34" charset="0"/>
                          <a:ea typeface="宋体" panose="02010600030101010101" pitchFamily="2" charset="-122"/>
                        </a:defRPr>
                      </a:lvl4pPr>
                      <a:lvl5pPr latinLnBrk="1">
                        <a:lnSpc>
                          <a:spcPct val="110000"/>
                        </a:lnSpc>
                        <a:spcBef>
                          <a:spcPct val="20000"/>
                        </a:spcBef>
                        <a:buClr>
                          <a:srgbClr val="8AC6CD"/>
                        </a:buClr>
                        <a:buSzPct val="120000"/>
                        <a:defRPr>
                          <a:solidFill>
                            <a:srgbClr val="000000"/>
                          </a:solidFill>
                          <a:latin typeface="Calibri" panose="020F0502020204030204" pitchFamily="34" charset="0"/>
                          <a:ea typeface="宋体" panose="02010600030101010101" pitchFamily="2" charset="-122"/>
                        </a:defRPr>
                      </a:lvl5pPr>
                      <a:lvl6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6pPr>
                      <a:lvl7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7pPr>
                      <a:lvl8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8pPr>
                      <a:lvl9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200000"/>
                        </a:lnSpc>
                        <a:spcBef>
                          <a:spcPct val="0"/>
                        </a:spcBef>
                        <a:spcAft>
                          <a:spcPct val="0"/>
                        </a:spcAft>
                        <a:buClrTx/>
                        <a:buSzTx/>
                        <a:buFontTx/>
                        <a:buNone/>
                      </a:pPr>
                      <a:r>
                        <a:rPr kumimoji="0" lang="en-US" altLang="en-US" sz="28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宋体" panose="02010600030101010101" pitchFamily="2" charset="-122"/>
                        </a:rPr>
                        <a:t>2025.10.13</a:t>
                      </a:r>
                      <a:endParaRPr kumimoji="0" lang="en-US" altLang="en-US" sz="28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宋体" panose="02010600030101010101" pitchFamily="2" charset="-122"/>
                      </a:endParaRPr>
                    </a:p>
                  </a:txBody>
                  <a:tcPr marL="91459" marR="91459" marT="45664" marB="45664" horzOverflow="overflow">
                    <a:lnL>
                      <a:noFill/>
                    </a:lnL>
                    <a:lnR>
                      <a:noFill/>
                    </a:lnR>
                    <a:lnT>
                      <a:noFill/>
                    </a:lnT>
                    <a:lnB>
                      <a:noFill/>
                    </a:lnB>
                    <a:lnTlToBr>
                      <a:noFill/>
                    </a:lnTlToBr>
                    <a:lnBlToTr>
                      <a:noFill/>
                    </a:lnBlToTr>
                    <a:noFill/>
                  </a:tcPr>
                </a:tc>
              </a:tr>
            </a:tbl>
          </a:graphicData>
        </a:graphic>
      </p:graphicFrame>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506730" y="641350"/>
            <a:ext cx="11177905" cy="6138545"/>
          </a:xfrm>
        </p:spPr>
        <p:txBody>
          <a:bodyPr/>
          <a:lstStyle/>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一、实验基础知识</a:t>
            </a:r>
            <a:endPar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二、实验背景</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&amp;</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原理</a:t>
            </a:r>
            <a:endParaRPr lang="en-US" altLang="zh-CN" dirty="0">
              <a:solidFill>
                <a:schemeClr val="tx1"/>
              </a:solidFill>
              <a:latin typeface="+mn-lt"/>
              <a:ea typeface="微软雅黑" panose="020B0503020204020204" pitchFamily="34" charset="-122"/>
              <a:cs typeface="Times New Roman" panose="02020603050405020304" pitchFamily="18" charset="0"/>
              <a:sym typeface="Wingdings" panose="05000000000000000000" pitchFamily="2" charset="2"/>
            </a:endParaRPr>
          </a:p>
          <a:p>
            <a:pPr marL="1371600" lvl="1" indent="-457200">
              <a:lnSpc>
                <a:spcPct val="150000"/>
              </a:lnSpc>
              <a:spcBef>
                <a:spcPts val="500"/>
              </a:spcBef>
              <a:buFont typeface="Wingdings" panose="05000000000000000000" pitchFamily="2" charset="2"/>
              <a:buChar char="q"/>
            </a:pPr>
            <a:r>
              <a:rPr lang="zh-CN" altLang="en-US" sz="2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系统调用基本概念</a:t>
            </a:r>
            <a:endParaRPr lang="zh-CN" altLang="en-US" sz="2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1371600" lvl="1" indent="-457200">
              <a:lnSpc>
                <a:spcPct val="150000"/>
              </a:lnSpc>
              <a:spcBef>
                <a:spcPts val="500"/>
              </a:spcBef>
              <a:buFont typeface="Wingdings" panose="05000000000000000000" pitchFamily="2" charset="2"/>
              <a:buChar char="q"/>
            </a:pPr>
            <a:r>
              <a:rPr lang="en-US" altLang="zh-CN" sz="2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XV6</a:t>
            </a:r>
            <a:r>
              <a:rPr lang="zh-CN" altLang="en-US" sz="2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系统调用实例</a:t>
            </a:r>
            <a:r>
              <a:rPr lang="en-US" altLang="zh-CN" sz="2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(sleep)</a:t>
            </a:r>
            <a:endParaRPr lang="zh-CN" altLang="en-US" sz="2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三、实验内容</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1371600" lvl="1" indent="-457200">
              <a:lnSpc>
                <a:spcPct val="150000"/>
              </a:lnSpc>
              <a:spcBef>
                <a:spcPts val="500"/>
              </a:spcBef>
              <a:buFont typeface="Wingdings" panose="05000000000000000000" pitchFamily="2" charset="2"/>
              <a:buChar char="q"/>
            </a:pPr>
            <a:r>
              <a:rPr lang="zh-CN" altLang="en-US" sz="2200" dirty="0">
                <a:solidFill>
                  <a:schemeClr val="tx1"/>
                </a:solidFill>
                <a:latin typeface="微软雅黑" panose="020B0503020204020204" pitchFamily="34" charset="-122"/>
                <a:ea typeface="微软雅黑" panose="020B0503020204020204" pitchFamily="34" charset="-122"/>
              </a:rPr>
              <a:t>任务一（</a:t>
            </a:r>
            <a:r>
              <a:rPr lang="zh-CN" altLang="en-US" sz="2200" dirty="0">
                <a:solidFill>
                  <a:schemeClr val="tx1"/>
                </a:solidFill>
                <a:latin typeface="微软雅黑" panose="020B0503020204020204" pitchFamily="34" charset="-122"/>
                <a:ea typeface="微软雅黑" panose="020B0503020204020204" pitchFamily="34" charset="-122"/>
                <a:sym typeface="+mn-ea"/>
              </a:rPr>
              <a:t>编写</a:t>
            </a:r>
            <a:r>
              <a:rPr lang="zh-CN" altLang="en-US" sz="2200" dirty="0">
                <a:solidFill>
                  <a:schemeClr val="tx1"/>
                </a:solidFill>
                <a:latin typeface="微软雅黑" panose="020B0503020204020204" pitchFamily="34" charset="-122"/>
                <a:ea typeface="微软雅黑" panose="020B0503020204020204" pitchFamily="34" charset="-122"/>
              </a:rPr>
              <a:t>系统调用</a:t>
            </a:r>
            <a:r>
              <a:rPr lang="zh-CN" altLang="en-US" sz="2200" dirty="0">
                <a:solidFill>
                  <a:schemeClr val="tx1"/>
                </a:solidFill>
                <a:latin typeface="微软雅黑" panose="020B0503020204020204" pitchFamily="34" charset="-122"/>
                <a:ea typeface="微软雅黑" panose="020B0503020204020204" pitchFamily="34" charset="-122"/>
                <a:sym typeface="+mn-ea"/>
              </a:rPr>
              <a:t>应用</a:t>
            </a:r>
            <a:r>
              <a:rPr lang="zh-CN" altLang="en-US" sz="2200" dirty="0">
                <a:solidFill>
                  <a:schemeClr val="tx1"/>
                </a:solidFill>
                <a:latin typeface="微软雅黑" panose="020B0503020204020204" pitchFamily="34" charset="-122"/>
                <a:ea typeface="微软雅黑" panose="020B0503020204020204" pitchFamily="34" charset="-122"/>
              </a:rPr>
              <a:t>程序）：</a:t>
            </a:r>
            <a:r>
              <a:rPr sz="2200" dirty="0">
                <a:solidFill>
                  <a:schemeClr val="tx1"/>
                </a:solidFill>
                <a:latin typeface="微软雅黑" panose="020B0503020204020204" pitchFamily="34" charset="-122"/>
                <a:ea typeface="微软雅黑" panose="020B0503020204020204" pitchFamily="34" charset="-122"/>
              </a:rPr>
              <a:t>实现sleep，pingpong、primes、find、xargs五个应用程序</a:t>
            </a:r>
            <a:endParaRPr sz="2200" dirty="0">
              <a:solidFill>
                <a:schemeClr val="tx1"/>
              </a:solidFill>
              <a:latin typeface="微软雅黑" panose="020B0503020204020204" pitchFamily="34" charset="-122"/>
              <a:ea typeface="微软雅黑" panose="020B0503020204020204" pitchFamily="34" charset="-122"/>
            </a:endParaRPr>
          </a:p>
          <a:p>
            <a:pPr marL="1371600" lvl="1" indent="-457200">
              <a:lnSpc>
                <a:spcPct val="150000"/>
              </a:lnSpc>
              <a:spcBef>
                <a:spcPts val="500"/>
              </a:spcBef>
              <a:buFont typeface="Wingdings" panose="05000000000000000000" pitchFamily="2" charset="2"/>
              <a:buChar char="q"/>
            </a:pPr>
            <a:r>
              <a:rPr lang="zh-CN" altLang="en-US" sz="2200" dirty="0">
                <a:solidFill>
                  <a:schemeClr val="tx1"/>
                </a:solidFill>
                <a:latin typeface="微软雅黑" panose="020B0503020204020204" pitchFamily="34" charset="-122"/>
                <a:ea typeface="微软雅黑" panose="020B0503020204020204" pitchFamily="34" charset="-122"/>
              </a:rPr>
              <a:t>任务二（添加系统调用）：</a:t>
            </a:r>
            <a:r>
              <a:rPr sz="2200" dirty="0">
                <a:solidFill>
                  <a:schemeClr val="tx1"/>
                </a:solidFill>
                <a:latin typeface="微软雅黑" panose="020B0503020204020204" pitchFamily="34" charset="-122"/>
                <a:ea typeface="微软雅黑" panose="020B0503020204020204" pitchFamily="34" charset="-122"/>
              </a:rPr>
              <a:t>具体的实现两个系统调用：trace，sysinfo</a:t>
            </a:r>
            <a:endParaRPr sz="2200" dirty="0">
              <a:solidFill>
                <a:schemeClr val="tx1"/>
              </a:solidFill>
              <a:latin typeface="微软雅黑" panose="020B0503020204020204" pitchFamily="34" charset="-122"/>
              <a:ea typeface="微软雅黑" panose="020B0503020204020204" pitchFamily="34" charset="-122"/>
            </a:endParaRPr>
          </a:p>
          <a:p>
            <a:pPr marL="1371600" lvl="1" indent="-457200">
              <a:lnSpc>
                <a:spcPct val="150000"/>
              </a:lnSpc>
              <a:spcBef>
                <a:spcPts val="500"/>
              </a:spcBef>
              <a:buFont typeface="Wingdings" panose="05000000000000000000" pitchFamily="2" charset="2"/>
              <a:buChar char="q"/>
            </a:pPr>
            <a:r>
              <a:rPr lang="zh-CN" sz="2200" dirty="0">
                <a:solidFill>
                  <a:schemeClr val="tx1"/>
                </a:solidFill>
                <a:latin typeface="微软雅黑" panose="020B0503020204020204" pitchFamily="34" charset="-122"/>
                <a:ea typeface="微软雅黑" panose="020B0503020204020204" pitchFamily="34" charset="-122"/>
              </a:rPr>
              <a:t>任务三：回答问题</a:t>
            </a:r>
            <a:endParaRPr sz="2200" dirty="0">
              <a:solidFill>
                <a:schemeClr val="tx1"/>
              </a:solidFill>
              <a:latin typeface="微软雅黑" panose="020B0503020204020204" pitchFamily="34" charset="-122"/>
              <a:ea typeface="微软雅黑" panose="020B0503020204020204" pitchFamily="34" charset="-122"/>
            </a:endParaRPr>
          </a:p>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四、实验报告要求</a:t>
            </a:r>
            <a:endPar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标题 2"/>
          <p:cNvSpPr>
            <a:spLocks noGrp="1"/>
          </p:cNvSpPr>
          <p:nvPr>
            <p:ph type="title"/>
          </p:nvPr>
        </p:nvSpPr>
        <p:spPr/>
        <p:txBody>
          <a:bodyPr anchor="ctr"/>
          <a:lstStyle/>
          <a:p>
            <a:r>
              <a:rPr lang="zh-CN" altLang="en-US" dirty="0">
                <a:solidFill>
                  <a:srgbClr val="002060"/>
                </a:solidFill>
              </a:rPr>
              <a:t>目录</a:t>
            </a:r>
            <a:endParaRPr lang="zh-CN" altLang="en-US" dirty="0">
              <a:solidFill>
                <a:srgbClr val="002060"/>
              </a:solidFill>
            </a:endParaRPr>
          </a:p>
        </p:txBody>
      </p:sp>
      <p:sp>
        <p:nvSpPr>
          <p:cNvPr id="2" name="灯片编号占位符 4"/>
          <p:cNvSpPr>
            <a:spLocks noGrp="1"/>
          </p:cNvSpPr>
          <p:nvPr/>
        </p:nvSpPr>
        <p:spPr>
          <a:xfrm>
            <a:off x="9622970" y="6091238"/>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400" kern="1200">
                <a:solidFill>
                  <a:schemeClr val="tx1">
                    <a:tint val="75000"/>
                  </a:schemeClr>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F8B8DA-3D2E-8C43-91D1-4E8AEA96D1B2}" type="slidenum">
              <a:rPr kumimoji="1" lang="zh-CN" altLang="en-US" smtClean="0"/>
            </a:fld>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634470" cy="704215"/>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常用命令</a:t>
            </a:r>
            <a:endParaRPr kumimoji="1" lang="zh-CN" altLang="en-US" b="1" dirty="0">
              <a:solidFill>
                <a:srgbClr val="990000"/>
              </a:solidFill>
              <a:latin typeface="微软雅黑" panose="020B0503020204020204" pitchFamily="34" charset="-122"/>
              <a:ea typeface="微软雅黑" panose="020B0503020204020204" pitchFamily="34" charset="-122"/>
            </a:endParaRPr>
          </a:p>
          <a:p>
            <a:pPr marL="914400" lvl="1" indent="-457200">
              <a:lnSpc>
                <a:spcPct val="150000"/>
              </a:lnSpc>
              <a:buFont typeface="Wingdings" panose="05000000000000000000" pitchFamily="2" charset="2"/>
              <a:buChar char="q"/>
            </a:pPr>
            <a:endParaRPr lang="zh-CN" altLang="en-US" sz="2000"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r>
              <a:rPr lang="zh-CN" altLang="en-US" dirty="0">
                <a:solidFill>
                  <a:srgbClr val="002060"/>
                </a:solidFill>
                <a:sym typeface="+mn-ea"/>
              </a:rPr>
              <a:t>实验基础知识</a:t>
            </a:r>
            <a:endParaRPr lang="zh-CN" altLang="en-US" dirty="0">
              <a:solidFill>
                <a:srgbClr val="002060"/>
              </a:solidFill>
              <a:sym typeface="+mn-ea"/>
            </a:endParaRPr>
          </a:p>
        </p:txBody>
      </p:sp>
      <p:sp>
        <p:nvSpPr>
          <p:cNvPr id="8" name="内容占位符 1"/>
          <p:cNvSpPr>
            <a:spLocks noGrp="1"/>
          </p:cNvSpPr>
          <p:nvPr/>
        </p:nvSpPr>
        <p:spPr>
          <a:xfrm>
            <a:off x="492125" y="1543050"/>
            <a:ext cx="11268075" cy="4648835"/>
          </a:xfrm>
          <a:prstGeom prst="rect">
            <a:avLst/>
          </a:prstGeom>
          <a:noFill/>
          <a:ln>
            <a:noFill/>
          </a:ln>
        </p:spPr>
        <p:txBody>
          <a:bodyPr vert="horz" wrap="square" lIns="91440" tIns="45720" rIns="91440" bIns="45720" numCol="1" anchor="t" anchorCtr="0" compatLnSpc="1"/>
          <a:lst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400" b="1" dirty="0"/>
              <a:t>git clone git://g.csail.mit.edu/xv6-labs-2020</a:t>
            </a:r>
            <a:endParaRPr lang="en-US" altLang="zh-CN" sz="2400" dirty="0"/>
          </a:p>
          <a:p>
            <a:pPr>
              <a:lnSpc>
                <a:spcPct val="150000"/>
              </a:lnSpc>
            </a:pPr>
            <a:r>
              <a:rPr lang="en-US" altLang="zh-CN" sz="2400" b="1" dirty="0"/>
              <a:t>git checkout util </a:t>
            </a:r>
            <a:r>
              <a:rPr lang="zh-CN" altLang="en-US" sz="2400" dirty="0"/>
              <a:t>切换分支</a:t>
            </a:r>
            <a:endParaRPr lang="zh-CN" altLang="en-US" sz="2400" dirty="0"/>
          </a:p>
          <a:p>
            <a:pPr>
              <a:lnSpc>
                <a:spcPct val="150000"/>
              </a:lnSpc>
            </a:pPr>
            <a:r>
              <a:rPr lang="en-US" altLang="zh-CN" sz="2400" b="1" dirty="0"/>
              <a:t>make </a:t>
            </a:r>
            <a:r>
              <a:rPr lang="en-US" altLang="zh-CN" sz="2400" b="1" dirty="0" err="1"/>
              <a:t>qemu </a:t>
            </a:r>
            <a:r>
              <a:rPr lang="zh-CN" altLang="en-US" sz="2400" dirty="0"/>
              <a:t>运行项目，运行后就是一个终端，可用输入类似</a:t>
            </a:r>
            <a:r>
              <a:rPr lang="en-US" altLang="zh-CN" sz="2400" dirty="0"/>
              <a:t>ls</a:t>
            </a:r>
            <a:r>
              <a:rPr lang="zh-CN" altLang="en-US" sz="2400" dirty="0"/>
              <a:t>命令</a:t>
            </a:r>
            <a:endParaRPr lang="zh-CN" altLang="en-US" sz="2400" dirty="0"/>
          </a:p>
          <a:p>
            <a:pPr>
              <a:lnSpc>
                <a:spcPct val="150000"/>
              </a:lnSpc>
            </a:pPr>
            <a:r>
              <a:rPr lang="zh-CN" altLang="en-US" sz="2400" b="1" dirty="0"/>
              <a:t>./grade-lab-util sleep</a:t>
            </a:r>
            <a:r>
              <a:rPr lang="en-US" altLang="zh-CN" sz="2400" dirty="0"/>
              <a:t> </a:t>
            </a:r>
            <a:r>
              <a:rPr lang="zh-CN" altLang="en-US" sz="2400" dirty="0"/>
              <a:t>运行测试程序，测试</a:t>
            </a:r>
            <a:r>
              <a:rPr lang="en-US" altLang="zh-CN" sz="2400" dirty="0"/>
              <a:t>sleep</a:t>
            </a:r>
            <a:r>
              <a:rPr lang="zh-CN" altLang="en-US" sz="2400" dirty="0"/>
              <a:t>程序设计是否正确</a:t>
            </a:r>
            <a:endParaRPr lang="zh-CN" altLang="en-US" sz="2400" dirty="0"/>
          </a:p>
          <a:p>
            <a:pPr>
              <a:lnSpc>
                <a:spcPct val="150000"/>
              </a:lnSpc>
            </a:pPr>
            <a:endParaRPr lang="zh-CN" altLang="en-US" sz="2400" dirty="0"/>
          </a:p>
          <a:p>
            <a:pPr indent="0">
              <a:lnSpc>
                <a:spcPct val="150000"/>
              </a:lnSpc>
              <a:buNone/>
            </a:pPr>
            <a:r>
              <a:rPr lang="zh-CN" altLang="en-US" sz="2200" dirty="0"/>
              <a:t>      解决方法：sudo chmod 777 ./grade-lab-util</a:t>
            </a:r>
            <a:endParaRPr lang="zh-CN" altLang="en-US" sz="2400" dirty="0"/>
          </a:p>
          <a:p>
            <a:pPr>
              <a:lnSpc>
                <a:spcPct val="150000"/>
              </a:lnSpc>
            </a:pPr>
            <a:r>
              <a:rPr lang="zh-CN" altLang="en-US" sz="2400" b="1" dirty="0">
                <a:sym typeface="+mn-ea"/>
              </a:rPr>
              <a:t>./grade-lab-util</a:t>
            </a:r>
            <a:r>
              <a:rPr lang="zh-CN" altLang="en-US" sz="2400" dirty="0">
                <a:sym typeface="+mn-ea"/>
              </a:rPr>
              <a:t> 测试整个实验的正确性</a:t>
            </a:r>
            <a:endParaRPr lang="zh-CN" altLang="en-US" sz="2400" dirty="0"/>
          </a:p>
        </p:txBody>
      </p:sp>
      <p:pic>
        <p:nvPicPr>
          <p:cNvPr id="2" name="图片 1"/>
          <p:cNvPicPr>
            <a:picLocks noChangeAspect="1"/>
          </p:cNvPicPr>
          <p:nvPr/>
        </p:nvPicPr>
        <p:blipFill>
          <a:blip r:embed="rId1"/>
          <a:stretch>
            <a:fillRect/>
          </a:stretch>
        </p:blipFill>
        <p:spPr>
          <a:xfrm>
            <a:off x="1109980" y="4217035"/>
            <a:ext cx="7620000" cy="3905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实验基础知识</a:t>
            </a:r>
            <a:endParaRPr lang="zh-CN" altLang="en-US" dirty="0">
              <a:solidFill>
                <a:srgbClr val="002060"/>
              </a:solidFill>
            </a:endParaRPr>
          </a:p>
        </p:txBody>
      </p:sp>
      <p:sp>
        <p:nvSpPr>
          <p:cNvPr id="2" name="内容占位符 1"/>
          <p:cNvSpPr>
            <a:spLocks noGrp="1"/>
          </p:cNvSpPr>
          <p:nvPr>
            <p:ph idx="1"/>
          </p:nvPr>
        </p:nvSpPr>
        <p:spPr/>
        <p:txBody>
          <a:bodyPr/>
          <a:lstStyle/>
          <a:p>
            <a:pPr>
              <a:lnSpc>
                <a:spcPct val="150000"/>
              </a:lnSpc>
            </a:pPr>
            <a:r>
              <a:rPr lang="en-US" altLang="zh-CN" sz="2400" b="1" dirty="0" err="1"/>
              <a:t>MakeFile</a:t>
            </a:r>
            <a:r>
              <a:rPr lang="zh-CN" altLang="en-US" sz="2400" dirty="0"/>
              <a:t>主要负责编译工作，新增文件需要修改</a:t>
            </a:r>
            <a:r>
              <a:rPr lang="en-US" altLang="zh-CN" sz="2400" dirty="0" err="1">
                <a:sym typeface="+mn-ea"/>
              </a:rPr>
              <a:t>MakeFile</a:t>
            </a:r>
            <a:endParaRPr lang="en-US" altLang="zh-CN" sz="2400" dirty="0" err="1">
              <a:sym typeface="+mn-ea"/>
            </a:endParaRPr>
          </a:p>
          <a:p>
            <a:pPr indent="0">
              <a:lnSpc>
                <a:spcPct val="150000"/>
              </a:lnSpc>
              <a:buNone/>
            </a:pPr>
            <a:r>
              <a:rPr lang="zh-CN" altLang="en-US" sz="2400" dirty="0">
                <a:sym typeface="+mn-ea"/>
              </a:rPr>
              <a:t>使得该文件可以被正常编译</a:t>
            </a:r>
            <a:endParaRPr lang="zh-CN" altLang="en-US" sz="2400" dirty="0">
              <a:sym typeface="+mn-ea"/>
            </a:endParaRPr>
          </a:p>
          <a:p>
            <a:pPr>
              <a:lnSpc>
                <a:spcPct val="150000"/>
              </a:lnSpc>
            </a:pPr>
            <a:r>
              <a:rPr lang="en-US" altLang="zh-CN" sz="2400" b="1" dirty="0">
                <a:sym typeface="+mn-ea"/>
              </a:rPr>
              <a:t>user</a:t>
            </a:r>
            <a:r>
              <a:rPr lang="zh-CN" altLang="en-US" sz="2400" dirty="0">
                <a:sym typeface="+mn-ea"/>
              </a:rPr>
              <a:t>是用户程序目录，</a:t>
            </a:r>
            <a:r>
              <a:rPr lang="en-US" altLang="zh-CN" sz="2400" dirty="0">
                <a:sym typeface="+mn-ea"/>
              </a:rPr>
              <a:t>make qemu</a:t>
            </a:r>
            <a:r>
              <a:rPr lang="zh-CN" altLang="en-US" sz="2400" dirty="0">
                <a:sym typeface="+mn-ea"/>
              </a:rPr>
              <a:t>后，用户能看到的东西</a:t>
            </a:r>
            <a:endParaRPr lang="zh-CN" altLang="en-US" sz="2400" dirty="0">
              <a:sym typeface="+mn-ea"/>
            </a:endParaRPr>
          </a:p>
          <a:p>
            <a:pPr indent="0">
              <a:lnSpc>
                <a:spcPct val="150000"/>
              </a:lnSpc>
              <a:buNone/>
            </a:pPr>
            <a:r>
              <a:rPr lang="zh-CN" altLang="en-US" sz="2400" dirty="0">
                <a:sym typeface="+mn-ea"/>
              </a:rPr>
              <a:t>都得放在这里面</a:t>
            </a:r>
            <a:endParaRPr lang="zh-CN" altLang="en-US" sz="2400" dirty="0">
              <a:sym typeface="+mn-ea"/>
            </a:endParaRPr>
          </a:p>
          <a:p>
            <a:pPr>
              <a:lnSpc>
                <a:spcPct val="150000"/>
              </a:lnSpc>
            </a:pPr>
            <a:r>
              <a:rPr lang="en-US" altLang="zh-CN" sz="2400" dirty="0">
                <a:sym typeface="+mn-ea"/>
              </a:rPr>
              <a:t>kernel</a:t>
            </a:r>
            <a:r>
              <a:rPr lang="zh-CN" altLang="en-US" sz="2400" dirty="0">
                <a:sym typeface="+mn-ea"/>
              </a:rPr>
              <a:t>是内核文件目录</a:t>
            </a:r>
            <a:endParaRPr lang="zh-CN" altLang="en-US" sz="2400" dirty="0">
              <a:sym typeface="+mn-ea"/>
            </a:endParaRPr>
          </a:p>
          <a:p>
            <a:pPr>
              <a:lnSpc>
                <a:spcPct val="150000"/>
              </a:lnSpc>
            </a:pPr>
            <a:r>
              <a:rPr lang="en-US" altLang="zh-CN" sz="2400" dirty="0">
                <a:sym typeface="+mn-ea"/>
              </a:rPr>
              <a:t>conf</a:t>
            </a:r>
            <a:r>
              <a:rPr lang="zh-CN" altLang="en-US" sz="2400" dirty="0">
                <a:sym typeface="+mn-ea"/>
              </a:rPr>
              <a:t>是配置目录</a:t>
            </a:r>
            <a:endParaRPr lang="zh-CN" altLang="en-US" sz="2400" dirty="0">
              <a:sym typeface="+mn-ea"/>
            </a:endParaRPr>
          </a:p>
          <a:p>
            <a:pPr>
              <a:lnSpc>
                <a:spcPct val="150000"/>
              </a:lnSpc>
            </a:pPr>
            <a:r>
              <a:rPr lang="en-US" altLang="zh-CN" sz="2400" dirty="0" err="1">
                <a:sym typeface="+mn-ea"/>
              </a:rPr>
              <a:t>mkfs</a:t>
            </a:r>
            <a:r>
              <a:rPr lang="zh-CN" altLang="en-US" sz="2400" dirty="0">
                <a:sym typeface="+mn-ea"/>
              </a:rPr>
              <a:t>是文件系统相关目录</a:t>
            </a:r>
            <a:endParaRPr lang="en-US" altLang="zh-CN" sz="2400" dirty="0">
              <a:sym typeface="+mn-ea"/>
            </a:endParaRPr>
          </a:p>
          <a:p>
            <a:pPr>
              <a:lnSpc>
                <a:spcPct val="150000"/>
              </a:lnSpc>
            </a:pPr>
            <a:r>
              <a:rPr lang="en-US" altLang="zh-CN" sz="2400" b="1" dirty="0">
                <a:sym typeface="+mn-ea"/>
              </a:rPr>
              <a:t>grade-lab-util </a:t>
            </a:r>
            <a:r>
              <a:rPr lang="zh-CN" altLang="en-US" sz="2400" dirty="0">
                <a:sym typeface="+mn-ea"/>
              </a:rPr>
              <a:t>是测试程序</a:t>
            </a:r>
            <a:endParaRPr lang="zh-CN" altLang="en-US" sz="2400" dirty="0">
              <a:sym typeface="+mn-ea"/>
            </a:endParaRPr>
          </a:p>
          <a:p>
            <a:pPr>
              <a:lnSpc>
                <a:spcPct val="150000"/>
              </a:lnSpc>
            </a:pPr>
            <a:endParaRPr lang="zh-CN" altLang="en-US" sz="2400" dirty="0">
              <a:sym typeface="+mn-ea"/>
            </a:endParaRPr>
          </a:p>
        </p:txBody>
      </p:sp>
      <p:pic>
        <p:nvPicPr>
          <p:cNvPr id="4" name="图片 3"/>
          <p:cNvPicPr>
            <a:picLocks noChangeAspect="1"/>
          </p:cNvPicPr>
          <p:nvPr/>
        </p:nvPicPr>
        <p:blipFill>
          <a:blip r:embed="rId1"/>
          <a:stretch>
            <a:fillRect/>
          </a:stretch>
        </p:blipFill>
        <p:spPr>
          <a:xfrm>
            <a:off x="8782050" y="583565"/>
            <a:ext cx="2418715" cy="56908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634470"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系统调用的基本概念</a:t>
            </a:r>
            <a:endParaRPr kumimoji="1" lang="zh-CN" altLang="en-US" b="1" dirty="0">
              <a:solidFill>
                <a:srgbClr val="990000"/>
              </a:solidFill>
              <a:latin typeface="微软雅黑" panose="020B0503020204020204" pitchFamily="34" charset="-122"/>
              <a:ea typeface="微软雅黑" panose="020B0503020204020204" pitchFamily="34" charset="-122"/>
            </a:endParaRPr>
          </a:p>
          <a:p>
            <a:pPr marL="914400" lvl="1" indent="-457200">
              <a:lnSpc>
                <a:spcPct val="150000"/>
              </a:lnSpc>
              <a:buFont typeface="Wingdings" panose="05000000000000000000" pitchFamily="2" charset="2"/>
              <a:buChar char="q"/>
            </a:pPr>
            <a:r>
              <a:rPr lang="zh-CN" altLang="en-US" sz="2000" b="1" dirty="0">
                <a:latin typeface="+mn-lt"/>
                <a:ea typeface="+mn-lt"/>
                <a:cs typeface="+mn-lt"/>
                <a:sym typeface="Wingdings" panose="05000000000000000000" pitchFamily="2" charset="2"/>
              </a:rPr>
              <a:t>系统调用</a:t>
            </a:r>
            <a:r>
              <a:rPr lang="zh-CN" altLang="en-US" sz="2000" dirty="0">
                <a:latin typeface="+mn-lt"/>
                <a:ea typeface="+mn-lt"/>
                <a:cs typeface="+mn-lt"/>
                <a:sym typeface="Wingdings" panose="05000000000000000000" pitchFamily="2" charset="2"/>
              </a:rPr>
              <a:t>就是调用操作系统提供的</a:t>
            </a:r>
            <a:r>
              <a:rPr lang="zh-CN" altLang="en-US" sz="2000" b="1" dirty="0">
                <a:latin typeface="+mn-lt"/>
                <a:ea typeface="+mn-lt"/>
                <a:cs typeface="+mn-lt"/>
                <a:sym typeface="Wingdings" panose="05000000000000000000" pitchFamily="2" charset="2"/>
              </a:rPr>
              <a:t>一系列内核函数</a:t>
            </a:r>
            <a:r>
              <a:rPr lang="zh-CN" altLang="en-US" sz="2000" dirty="0">
                <a:latin typeface="+mn-lt"/>
                <a:ea typeface="+mn-lt"/>
                <a:cs typeface="+mn-lt"/>
                <a:sym typeface="Wingdings" panose="05000000000000000000" pitchFamily="2" charset="2"/>
              </a:rPr>
              <a:t>。由于</a:t>
            </a:r>
            <a:r>
              <a:rPr lang="zh-CN" altLang="en-US" sz="2000" b="1" dirty="0">
                <a:latin typeface="+mn-lt"/>
                <a:ea typeface="+mn-lt"/>
                <a:cs typeface="+mn-lt"/>
                <a:sym typeface="Wingdings" panose="05000000000000000000" pitchFamily="2" charset="2"/>
              </a:rPr>
              <a:t>用户程序</a:t>
            </a:r>
            <a:r>
              <a:rPr lang="zh-CN" altLang="en-US" sz="2000" dirty="0">
                <a:latin typeface="+mn-lt"/>
                <a:ea typeface="+mn-lt"/>
                <a:cs typeface="+mn-lt"/>
                <a:sym typeface="Wingdings" panose="05000000000000000000" pitchFamily="2" charset="2"/>
              </a:rPr>
              <a:t>运行在CPU的</a:t>
            </a:r>
            <a:r>
              <a:rPr lang="zh-CN" altLang="en-US" sz="2000" b="1" dirty="0">
                <a:latin typeface="+mn-lt"/>
                <a:ea typeface="+mn-lt"/>
                <a:cs typeface="+mn-lt"/>
                <a:sym typeface="Wingdings" panose="05000000000000000000" pitchFamily="2" charset="2"/>
              </a:rPr>
              <a:t>用户态</a:t>
            </a:r>
            <a:r>
              <a:rPr lang="zh-CN" altLang="en-US" sz="2000" dirty="0">
                <a:latin typeface="+mn-lt"/>
                <a:ea typeface="+mn-lt"/>
                <a:cs typeface="+mn-lt"/>
                <a:sym typeface="Wingdings" panose="05000000000000000000" pitchFamily="2" charset="2"/>
              </a:rPr>
              <a:t>（又称非特权模式，用户模式），</a:t>
            </a:r>
            <a:r>
              <a:rPr lang="zh-CN" altLang="en-US" sz="2000" b="1" dirty="0">
                <a:latin typeface="+mn-lt"/>
                <a:ea typeface="+mn-lt"/>
                <a:cs typeface="+mn-lt"/>
                <a:sym typeface="Wingdings" panose="05000000000000000000" pitchFamily="2" charset="2"/>
              </a:rPr>
              <a:t>无法直接访问系统硬件和操作系统中的系统数据</a:t>
            </a:r>
            <a:r>
              <a:rPr lang="zh-CN" altLang="en-US" sz="2000" dirty="0">
                <a:latin typeface="+mn-lt"/>
                <a:ea typeface="+mn-lt"/>
                <a:cs typeface="+mn-lt"/>
                <a:sym typeface="Wingdings" panose="05000000000000000000" pitchFamily="2" charset="2"/>
              </a:rPr>
              <a:t>，用户程序只能发出请求，然后由内核调用相应的</a:t>
            </a:r>
            <a:r>
              <a:rPr lang="zh-CN" altLang="en-US" sz="2000" b="1" dirty="0">
                <a:latin typeface="+mn-lt"/>
                <a:ea typeface="+mn-lt"/>
                <a:cs typeface="+mn-lt"/>
                <a:sym typeface="Wingdings" panose="05000000000000000000" pitchFamily="2" charset="2"/>
              </a:rPr>
              <a:t>内核函数</a:t>
            </a:r>
            <a:r>
              <a:rPr lang="zh-CN" altLang="en-US" sz="2000" dirty="0">
                <a:latin typeface="+mn-lt"/>
                <a:ea typeface="+mn-lt"/>
                <a:cs typeface="+mn-lt"/>
                <a:sym typeface="Wingdings" panose="05000000000000000000" pitchFamily="2" charset="2"/>
              </a:rPr>
              <a:t>来帮着</a:t>
            </a:r>
            <a:r>
              <a:rPr lang="zh-CN" altLang="en-US" sz="2000" b="1" dirty="0">
                <a:latin typeface="+mn-lt"/>
                <a:ea typeface="+mn-lt"/>
                <a:cs typeface="+mn-lt"/>
                <a:sym typeface="Wingdings" panose="05000000000000000000" pitchFamily="2" charset="2"/>
              </a:rPr>
              <a:t>处理</a:t>
            </a:r>
            <a:r>
              <a:rPr lang="zh-CN" altLang="en-US" sz="2000" dirty="0">
                <a:latin typeface="+mn-lt"/>
                <a:ea typeface="+mn-lt"/>
                <a:cs typeface="+mn-lt"/>
                <a:sym typeface="Wingdings" panose="05000000000000000000" pitchFamily="2" charset="2"/>
              </a:rPr>
              <a:t>，最后将结果</a:t>
            </a:r>
            <a:r>
              <a:rPr lang="zh-CN" altLang="en-US" sz="2000" b="1" dirty="0">
                <a:latin typeface="+mn-lt"/>
                <a:ea typeface="+mn-lt"/>
                <a:cs typeface="+mn-lt"/>
                <a:sym typeface="Wingdings" panose="05000000000000000000" pitchFamily="2" charset="2"/>
              </a:rPr>
              <a:t>返回给应用程序</a:t>
            </a:r>
            <a:r>
              <a:rPr lang="zh-CN" altLang="en-US" sz="2000" dirty="0">
                <a:latin typeface="+mn-lt"/>
                <a:ea typeface="+mn-lt"/>
                <a:cs typeface="+mn-lt"/>
                <a:sym typeface="Wingdings" panose="05000000000000000000" pitchFamily="2" charset="2"/>
              </a:rPr>
              <a:t>。</a:t>
            </a:r>
            <a:endParaRPr lang="zh-CN" altLang="en-US" sz="2000" dirty="0">
              <a:latin typeface="+mn-lt"/>
              <a:ea typeface="+mn-lt"/>
              <a:cs typeface="+mn-lt"/>
              <a:sym typeface="Wingdings" panose="05000000000000000000" pitchFamily="2" charset="2"/>
            </a:endParaRPr>
          </a:p>
          <a:p>
            <a:pPr marL="0" lvl="1" indent="457200">
              <a:lnSpc>
                <a:spcPct val="150000"/>
              </a:lnSpc>
              <a:buFont typeface="Wingdings" panose="05000000000000000000" pitchFamily="2" charset="2"/>
              <a:buNone/>
            </a:pPr>
            <a:r>
              <a:rPr lang="zh-CN" altLang="en-US" b="1" dirty="0">
                <a:solidFill>
                  <a:srgbClr val="9F1010"/>
                </a:solidFill>
                <a:latin typeface="+mn-lt"/>
                <a:ea typeface="+mn-lt"/>
                <a:cs typeface="+mn-lt"/>
                <a:sym typeface="Wingdings" panose="05000000000000000000" pitchFamily="2" charset="2"/>
              </a:rPr>
              <a:t>系统调用的使用：用户的权力</a:t>
            </a:r>
            <a:endParaRPr lang="zh-CN" altLang="en-US" b="1" dirty="0">
              <a:solidFill>
                <a:srgbClr val="9F1010"/>
              </a:solidFill>
              <a:latin typeface="+mn-lt"/>
              <a:ea typeface="+mn-lt"/>
              <a:cs typeface="+mn-lt"/>
              <a:sym typeface="Wingdings" panose="05000000000000000000" pitchFamily="2" charset="2"/>
            </a:endParaRPr>
          </a:p>
          <a:p>
            <a:pPr marL="914400" lvl="1" indent="-457200">
              <a:lnSpc>
                <a:spcPct val="150000"/>
              </a:lnSpc>
              <a:buFont typeface="Wingdings" panose="05000000000000000000" pitchFamily="2" charset="2"/>
              <a:buChar char="q"/>
            </a:pPr>
            <a:r>
              <a:rPr lang="zh-CN" altLang="en-US" sz="2000" dirty="0">
                <a:solidFill>
                  <a:schemeClr val="tx1"/>
                </a:solidFill>
                <a:latin typeface="+mn-lt"/>
                <a:ea typeface="+mn-lt"/>
                <a:cs typeface="+mn-lt"/>
                <a:sym typeface="Wingdings" panose="05000000000000000000" pitchFamily="2" charset="2"/>
              </a:rPr>
              <a:t>系统调用被</a:t>
            </a:r>
            <a:r>
              <a:rPr lang="zh-CN" altLang="en-US" sz="2000" b="1" dirty="0">
                <a:solidFill>
                  <a:schemeClr val="tx1"/>
                </a:solidFill>
                <a:latin typeface="+mn-lt"/>
                <a:ea typeface="+mn-lt"/>
                <a:cs typeface="+mn-lt"/>
                <a:sym typeface="Wingdings" panose="05000000000000000000" pitchFamily="2" charset="2"/>
              </a:rPr>
              <a:t>封装</a:t>
            </a:r>
            <a:r>
              <a:rPr lang="zh-CN" altLang="en-US" sz="2000" dirty="0">
                <a:solidFill>
                  <a:schemeClr val="tx1"/>
                </a:solidFill>
                <a:latin typeface="+mn-lt"/>
                <a:ea typeface="+mn-lt"/>
                <a:cs typeface="+mn-lt"/>
                <a:sym typeface="Wingdings" panose="05000000000000000000" pitchFamily="2" charset="2"/>
              </a:rPr>
              <a:t>为函数以向用户提供接口，用户程序可以通</a:t>
            </a:r>
            <a:endParaRPr lang="zh-CN" altLang="en-US" sz="2000" dirty="0">
              <a:solidFill>
                <a:schemeClr val="tx1"/>
              </a:solidFill>
              <a:latin typeface="+mn-lt"/>
              <a:ea typeface="+mn-lt"/>
              <a:cs typeface="+mn-lt"/>
              <a:sym typeface="Wingdings" panose="05000000000000000000" pitchFamily="2" charset="2"/>
            </a:endParaRPr>
          </a:p>
          <a:p>
            <a:pPr marL="457200" lvl="1" indent="457200">
              <a:lnSpc>
                <a:spcPct val="150000"/>
              </a:lnSpc>
              <a:buFont typeface="Wingdings" panose="05000000000000000000" pitchFamily="2" charset="2"/>
              <a:buNone/>
            </a:pPr>
            <a:r>
              <a:rPr lang="zh-CN" altLang="en-US" sz="2000" dirty="0">
                <a:solidFill>
                  <a:schemeClr val="tx1"/>
                </a:solidFill>
                <a:latin typeface="+mn-lt"/>
                <a:ea typeface="+mn-lt"/>
                <a:cs typeface="+mn-lt"/>
                <a:sym typeface="Wingdings" panose="05000000000000000000" pitchFamily="2" charset="2"/>
              </a:rPr>
              <a:t>过函数调用的方式请求操作系统的服务。虽然两者看起来一</a:t>
            </a:r>
            <a:endParaRPr lang="zh-CN" altLang="en-US" sz="2000" dirty="0">
              <a:solidFill>
                <a:schemeClr val="tx1"/>
              </a:solidFill>
              <a:latin typeface="+mn-lt"/>
              <a:ea typeface="+mn-lt"/>
              <a:cs typeface="+mn-lt"/>
              <a:sym typeface="Wingdings" panose="05000000000000000000" pitchFamily="2" charset="2"/>
            </a:endParaRPr>
          </a:p>
          <a:p>
            <a:pPr marL="457200" lvl="1" indent="457200">
              <a:lnSpc>
                <a:spcPct val="150000"/>
              </a:lnSpc>
              <a:buFont typeface="Wingdings" panose="05000000000000000000" pitchFamily="2" charset="2"/>
              <a:buNone/>
            </a:pPr>
            <a:r>
              <a:rPr lang="zh-CN" altLang="en-US" sz="2000" dirty="0">
                <a:solidFill>
                  <a:schemeClr val="tx1"/>
                </a:solidFill>
                <a:latin typeface="+mn-lt"/>
                <a:ea typeface="+mn-lt"/>
                <a:cs typeface="+mn-lt"/>
                <a:sym typeface="Wingdings" panose="05000000000000000000" pitchFamily="2" charset="2"/>
              </a:rPr>
              <a:t>样，但是这是因为封装的结果。</a:t>
            </a:r>
            <a:endParaRPr lang="zh-CN" altLang="en-US" sz="2000" dirty="0">
              <a:solidFill>
                <a:schemeClr val="tx1"/>
              </a:solidFill>
              <a:latin typeface="+mn-lt"/>
              <a:ea typeface="+mn-lt"/>
              <a:cs typeface="+mn-lt"/>
              <a:sym typeface="Wingdings" panose="05000000000000000000" pitchFamily="2" charset="2"/>
            </a:endParaRPr>
          </a:p>
          <a:p>
            <a:pPr marL="914400" lvl="1" indent="-457200">
              <a:lnSpc>
                <a:spcPct val="150000"/>
              </a:lnSpc>
              <a:buFont typeface="Wingdings" panose="05000000000000000000" pitchFamily="2" charset="2"/>
              <a:buChar char="q"/>
            </a:pPr>
            <a:r>
              <a:rPr lang="zh-CN" altLang="en-US" sz="2000" dirty="0">
                <a:solidFill>
                  <a:schemeClr val="tx1"/>
                </a:solidFill>
                <a:latin typeface="+mn-lt"/>
                <a:ea typeface="+mn-lt"/>
                <a:cs typeface="+mn-lt"/>
                <a:sym typeface="Wingdings" panose="05000000000000000000" pitchFamily="2" charset="2"/>
              </a:rPr>
              <a:t>在user/user.h文件中我们可以看到对应有许多的函数接口，</a:t>
            </a:r>
            <a:endParaRPr lang="zh-CN" altLang="en-US" sz="2000" dirty="0">
              <a:solidFill>
                <a:schemeClr val="tx1"/>
              </a:solidFill>
              <a:latin typeface="+mn-lt"/>
              <a:ea typeface="+mn-lt"/>
              <a:cs typeface="+mn-lt"/>
              <a:sym typeface="Wingdings" panose="05000000000000000000" pitchFamily="2" charset="2"/>
            </a:endParaRPr>
          </a:p>
          <a:p>
            <a:pPr marL="457200" lvl="1" indent="457200">
              <a:lnSpc>
                <a:spcPct val="150000"/>
              </a:lnSpc>
              <a:buFont typeface="Wingdings" panose="05000000000000000000" pitchFamily="2" charset="2"/>
              <a:buNone/>
            </a:pPr>
            <a:r>
              <a:rPr lang="zh-CN" altLang="en-US" sz="2000" dirty="0">
                <a:solidFill>
                  <a:schemeClr val="tx1"/>
                </a:solidFill>
                <a:latin typeface="+mn-lt"/>
                <a:ea typeface="+mn-lt"/>
                <a:cs typeface="+mn-lt"/>
                <a:sym typeface="Wingdings" panose="05000000000000000000" pitchFamily="2" charset="2"/>
              </a:rPr>
              <a:t>其中标识了</a:t>
            </a:r>
            <a:r>
              <a:rPr lang="zh-CN" altLang="en-US" sz="2000" b="1" dirty="0">
                <a:solidFill>
                  <a:schemeClr val="tx1"/>
                </a:solidFill>
                <a:latin typeface="+mn-lt"/>
                <a:ea typeface="+mn-lt"/>
                <a:cs typeface="+mn-lt"/>
                <a:sym typeface="Wingdings" panose="05000000000000000000" pitchFamily="2" charset="2"/>
              </a:rPr>
              <a:t>系统调用</a:t>
            </a:r>
            <a:r>
              <a:rPr lang="zh-CN" altLang="en-US" sz="2000" dirty="0">
                <a:solidFill>
                  <a:schemeClr val="tx1"/>
                </a:solidFill>
                <a:latin typeface="+mn-lt"/>
                <a:ea typeface="+mn-lt"/>
                <a:cs typeface="+mn-lt"/>
                <a:sym typeface="Wingdings" panose="05000000000000000000" pitchFamily="2" charset="2"/>
              </a:rPr>
              <a:t>和</a:t>
            </a:r>
            <a:r>
              <a:rPr lang="zh-CN" altLang="en-US" sz="2000" b="1" dirty="0">
                <a:solidFill>
                  <a:schemeClr val="tx1"/>
                </a:solidFill>
                <a:latin typeface="+mn-lt"/>
                <a:ea typeface="+mn-lt"/>
                <a:cs typeface="+mn-lt"/>
                <a:sym typeface="Wingdings" panose="05000000000000000000" pitchFamily="2" charset="2"/>
              </a:rPr>
              <a:t>用户库</a:t>
            </a:r>
            <a:r>
              <a:rPr lang="zh-CN" altLang="en-US" sz="2000" dirty="0">
                <a:solidFill>
                  <a:schemeClr val="tx1"/>
                </a:solidFill>
                <a:latin typeface="+mn-lt"/>
                <a:ea typeface="+mn-lt"/>
                <a:cs typeface="+mn-lt"/>
                <a:sym typeface="Wingdings" panose="05000000000000000000" pitchFamily="2" charset="2"/>
              </a:rPr>
              <a:t>（ulib）。</a:t>
            </a:r>
            <a:endParaRPr lang="zh-CN" altLang="en-US" sz="2000"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sym typeface="+mn-ea"/>
            </a:endParaRPr>
          </a:p>
        </p:txBody>
      </p:sp>
      <p:sp>
        <p:nvSpPr>
          <p:cNvPr id="16" name="文本框 15"/>
          <p:cNvSpPr txBox="1"/>
          <p:nvPr/>
        </p:nvSpPr>
        <p:spPr>
          <a:xfrm>
            <a:off x="8540115" y="5840730"/>
            <a:ext cx="2470785"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1</a:t>
            </a:r>
            <a:r>
              <a:rPr lang="zh-CN" altLang="en-US" sz="1400" b="1" dirty="0">
                <a:latin typeface="Times New Roman" panose="02020603050405020304" pitchFamily="18" charset="0"/>
                <a:ea typeface="微软雅黑" panose="020B0503020204020204" pitchFamily="34" charset="-122"/>
              </a:rPr>
              <a:t>：</a:t>
            </a:r>
            <a:r>
              <a:rPr lang="en-US" altLang="zh-CN" sz="1400" dirty="0">
                <a:latin typeface="Times New Roman" panose="02020603050405020304" pitchFamily="18" charset="0"/>
                <a:ea typeface="微软雅黑" panose="020B0503020204020204" pitchFamily="34" charset="-122"/>
              </a:rPr>
              <a:t>user/user.h</a:t>
            </a:r>
            <a:r>
              <a:rPr lang="zh-CN" altLang="en-US" sz="1400" dirty="0">
                <a:latin typeface="Times New Roman" panose="02020603050405020304" pitchFamily="18" charset="0"/>
                <a:ea typeface="微软雅黑" panose="020B0503020204020204" pitchFamily="34" charset="-122"/>
              </a:rPr>
              <a:t>部分内容截选</a:t>
            </a:r>
            <a:endParaRPr lang="zh-CN" altLang="en-US" sz="1400" dirty="0">
              <a:latin typeface="Times New Roman" panose="02020603050405020304" pitchFamily="18" charset="0"/>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7710805" y="3016250"/>
            <a:ext cx="3872230" cy="1100455"/>
          </a:xfrm>
          <a:prstGeom prst="rect">
            <a:avLst/>
          </a:prstGeom>
        </p:spPr>
      </p:pic>
      <p:pic>
        <p:nvPicPr>
          <p:cNvPr id="7" name="图片 6"/>
          <p:cNvPicPr>
            <a:picLocks noChangeAspect="1"/>
          </p:cNvPicPr>
          <p:nvPr/>
        </p:nvPicPr>
        <p:blipFill>
          <a:blip r:embed="rId2"/>
          <a:stretch>
            <a:fillRect/>
          </a:stretch>
        </p:blipFill>
        <p:spPr>
          <a:xfrm>
            <a:off x="7865110" y="4433570"/>
            <a:ext cx="3538855" cy="10909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7698740"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系统调用的接口：操作系统内核和用户程序的中间体</a:t>
            </a:r>
            <a:endParaRPr kumimoji="1" lang="zh-CN" altLang="en-US" b="1" dirty="0">
              <a:solidFill>
                <a:srgbClr val="990000"/>
              </a:solidFill>
              <a:latin typeface="微软雅黑" panose="020B0503020204020204" pitchFamily="34" charset="-122"/>
              <a:ea typeface="微软雅黑" panose="020B0503020204020204" pitchFamily="34" charset="-122"/>
            </a:endParaRPr>
          </a:p>
          <a:p>
            <a:pPr marL="914400" lvl="1" indent="-457200">
              <a:lnSpc>
                <a:spcPct val="150000"/>
              </a:lnSpc>
              <a:buFont typeface="Wingdings" panose="05000000000000000000" pitchFamily="2" charset="2"/>
              <a:buChar char="q"/>
            </a:pPr>
            <a:r>
              <a:rPr lang="zh-CN" altLang="en-US" sz="2000" b="1" dirty="0">
                <a:latin typeface="+mn-lt"/>
                <a:ea typeface="+mn-lt"/>
                <a:cs typeface="+mn-lt"/>
                <a:sym typeface="Wingdings" panose="05000000000000000000" pitchFamily="2" charset="2"/>
              </a:rPr>
              <a:t>user/usys.pl</a:t>
            </a:r>
            <a:r>
              <a:rPr lang="zh-CN" altLang="en-US" sz="2000" dirty="0">
                <a:latin typeface="+mn-lt"/>
                <a:ea typeface="+mn-lt"/>
                <a:cs typeface="+mn-lt"/>
                <a:sym typeface="Wingdings" panose="05000000000000000000" pitchFamily="2" charset="2"/>
              </a:rPr>
              <a:t>脚本文件会在编译期间被执行，生成一个汇编文件</a:t>
            </a:r>
            <a:r>
              <a:rPr lang="zh-CN" altLang="en-US" sz="2000" b="1" dirty="0">
                <a:latin typeface="+mn-lt"/>
                <a:ea typeface="+mn-lt"/>
                <a:cs typeface="+mn-lt"/>
                <a:sym typeface="Wingdings" panose="05000000000000000000" pitchFamily="2" charset="2"/>
              </a:rPr>
              <a:t>usys.S</a:t>
            </a:r>
            <a:r>
              <a:rPr lang="zh-CN" altLang="en-US" sz="2000" dirty="0">
                <a:latin typeface="+mn-lt"/>
                <a:ea typeface="+mn-lt"/>
                <a:cs typeface="+mn-lt"/>
                <a:sym typeface="Wingdings" panose="05000000000000000000" pitchFamily="2" charset="2"/>
              </a:rPr>
              <a:t>。其对每一个系统调用抽象接口都生成了一个具体的实现，叫做</a:t>
            </a:r>
            <a:r>
              <a:rPr lang="zh-CN" altLang="en-US" sz="2000" b="1" dirty="0">
                <a:latin typeface="+mn-lt"/>
                <a:ea typeface="+mn-lt"/>
                <a:cs typeface="+mn-lt"/>
                <a:sym typeface="Wingdings" panose="05000000000000000000" pitchFamily="2" charset="2"/>
              </a:rPr>
              <a:t>entry</a:t>
            </a:r>
            <a:r>
              <a:rPr lang="zh-CN" altLang="en-US" sz="2000" dirty="0">
                <a:latin typeface="+mn-lt"/>
                <a:ea typeface="+mn-lt"/>
                <a:cs typeface="+mn-lt"/>
                <a:sym typeface="Wingdings" panose="05000000000000000000" pitchFamily="2" charset="2"/>
              </a:rPr>
              <a:t>。</a:t>
            </a:r>
            <a:endParaRPr lang="zh-CN" altLang="en-US" sz="2000" dirty="0">
              <a:latin typeface="+mn-lt"/>
              <a:ea typeface="+mn-lt"/>
              <a:cs typeface="+mn-lt"/>
              <a:sym typeface="Wingdings" panose="05000000000000000000" pitchFamily="2" charset="2"/>
            </a:endParaRPr>
          </a:p>
          <a:p>
            <a:pPr marL="914400" lvl="1" indent="-457200">
              <a:lnSpc>
                <a:spcPct val="150000"/>
              </a:lnSpc>
              <a:buFont typeface="Wingdings" panose="05000000000000000000" pitchFamily="2" charset="2"/>
              <a:buChar char="q"/>
            </a:pPr>
            <a:r>
              <a:rPr lang="zh-CN" altLang="en-US" sz="2000" dirty="0">
                <a:latin typeface="+mn-lt"/>
                <a:ea typeface="+mn-lt"/>
                <a:cs typeface="+mn-lt"/>
                <a:sym typeface="Wingdings" panose="05000000000000000000" pitchFamily="2" charset="2"/>
              </a:rPr>
              <a:t>这段脚本中的print的内容实际就是RISC-V指令集的汇编语言。</a:t>
            </a:r>
            <a:r>
              <a:rPr lang="zh-CN" altLang="en-US" sz="2000" b="1" dirty="0">
                <a:latin typeface="+mn-lt"/>
                <a:ea typeface="+mn-lt"/>
                <a:cs typeface="+mn-lt"/>
                <a:sym typeface="Wingdings" panose="05000000000000000000" pitchFamily="2" charset="2"/>
              </a:rPr>
              <a:t>$name</a:t>
            </a:r>
            <a:r>
              <a:rPr lang="zh-CN" altLang="en-US" sz="2000" dirty="0">
                <a:latin typeface="+mn-lt"/>
                <a:ea typeface="+mn-lt"/>
                <a:cs typeface="+mn-lt"/>
                <a:sym typeface="Wingdings" panose="05000000000000000000" pitchFamily="2" charset="2"/>
              </a:rPr>
              <a:t>就是系统调用的名字，如</a:t>
            </a:r>
            <a:r>
              <a:rPr lang="zh-CN" altLang="en-US" sz="2000" b="1" dirty="0">
                <a:latin typeface="+mn-lt"/>
                <a:ea typeface="+mn-lt"/>
                <a:cs typeface="+mn-lt"/>
                <a:sym typeface="Wingdings" panose="05000000000000000000" pitchFamily="2" charset="2"/>
              </a:rPr>
              <a:t>fork</a:t>
            </a:r>
            <a:r>
              <a:rPr lang="zh-CN" altLang="en-US" sz="2000" dirty="0">
                <a:latin typeface="+mn-lt"/>
                <a:ea typeface="+mn-lt"/>
                <a:cs typeface="+mn-lt"/>
                <a:sym typeface="Wingdings" panose="05000000000000000000" pitchFamily="2" charset="2"/>
              </a:rPr>
              <a:t>，</a:t>
            </a:r>
            <a:r>
              <a:rPr lang="zh-CN" altLang="en-US" sz="2000" b="1" dirty="0">
                <a:latin typeface="+mn-lt"/>
                <a:ea typeface="+mn-lt"/>
                <a:cs typeface="+mn-lt"/>
                <a:sym typeface="Wingdings" panose="05000000000000000000" pitchFamily="2" charset="2"/>
              </a:rPr>
              <a:t>exit</a:t>
            </a:r>
            <a:r>
              <a:rPr lang="zh-CN" altLang="en-US" sz="2000" dirty="0">
                <a:latin typeface="+mn-lt"/>
                <a:ea typeface="+mn-lt"/>
                <a:cs typeface="+mn-lt"/>
                <a:sym typeface="Wingdings" panose="05000000000000000000" pitchFamily="2" charset="2"/>
              </a:rPr>
              <a:t>等，当脚本执行时，18行之后</a:t>
            </a:r>
            <a:r>
              <a:rPr lang="zh-CN" altLang="en-US" sz="2000" b="1" dirty="0">
                <a:latin typeface="+mn-lt"/>
                <a:ea typeface="+mn-lt"/>
                <a:cs typeface="+mn-lt"/>
                <a:sym typeface="Wingdings" panose="05000000000000000000" pitchFamily="2" charset="2"/>
              </a:rPr>
              <a:t>entry</a:t>
            </a:r>
            <a:r>
              <a:rPr lang="zh-CN" altLang="en-US" sz="2000" dirty="0">
                <a:latin typeface="+mn-lt"/>
                <a:ea typeface="+mn-lt"/>
                <a:cs typeface="+mn-lt"/>
                <a:sym typeface="Wingdings" panose="05000000000000000000" pitchFamily="2" charset="2"/>
              </a:rPr>
              <a:t>的内字符串会被填入</a:t>
            </a:r>
            <a:r>
              <a:rPr lang="zh-CN" altLang="en-US" sz="2000" b="1" dirty="0">
                <a:latin typeface="+mn-lt"/>
                <a:ea typeface="+mn-lt"/>
                <a:cs typeface="+mn-lt"/>
                <a:sym typeface="Wingdings" panose="05000000000000000000" pitchFamily="2" charset="2"/>
              </a:rPr>
              <a:t>$name</a:t>
            </a:r>
            <a:r>
              <a:rPr lang="zh-CN" altLang="en-US" sz="2000" dirty="0">
                <a:latin typeface="+mn-lt"/>
                <a:ea typeface="+mn-lt"/>
                <a:cs typeface="+mn-lt"/>
                <a:sym typeface="Wingdings" panose="05000000000000000000" pitchFamily="2" charset="2"/>
              </a:rPr>
              <a:t>。</a:t>
            </a:r>
            <a:endParaRPr lang="zh-CN" altLang="en-US" sz="2000" dirty="0">
              <a:latin typeface="+mn-lt"/>
              <a:ea typeface="+mn-lt"/>
              <a:cs typeface="+mn-lt"/>
              <a:sym typeface="Wingdings" panose="05000000000000000000" pitchFamily="2" charset="2"/>
            </a:endParaRPr>
          </a:p>
          <a:p>
            <a:pPr marL="0" lvl="1" indent="457200">
              <a:lnSpc>
                <a:spcPct val="150000"/>
              </a:lnSpc>
              <a:buFont typeface="Wingdings" panose="05000000000000000000" charset="0"/>
              <a:buNone/>
            </a:pPr>
            <a:endParaRPr lang="en-US" altLang="zh-CN" sz="2000"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sp>
        <p:nvSpPr>
          <p:cNvPr id="16" name="文本框 15"/>
          <p:cNvSpPr txBox="1"/>
          <p:nvPr/>
        </p:nvSpPr>
        <p:spPr>
          <a:xfrm>
            <a:off x="8485505" y="5534025"/>
            <a:ext cx="2713990"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2</a:t>
            </a:r>
            <a:r>
              <a:rPr lang="zh-CN" altLang="en-US" sz="1400" b="1" dirty="0">
                <a:latin typeface="Times New Roman" panose="02020603050405020304" pitchFamily="18" charset="0"/>
                <a:ea typeface="微软雅黑" panose="020B0503020204020204" pitchFamily="34" charset="-122"/>
              </a:rPr>
              <a:t>：</a:t>
            </a:r>
            <a:r>
              <a:rPr lang="zh-CN" altLang="en-US" sz="1400" dirty="0">
                <a:ea typeface="+mn-lt"/>
                <a:cs typeface="+mn-lt"/>
                <a:sym typeface="Wingdings" panose="05000000000000000000" pitchFamily="2" charset="2"/>
              </a:rPr>
              <a:t>user/usys.pl</a:t>
            </a:r>
            <a:r>
              <a:rPr lang="zh-CN" altLang="en-US" sz="1400" dirty="0">
                <a:latin typeface="Times New Roman" panose="02020603050405020304" pitchFamily="18" charset="0"/>
                <a:ea typeface="微软雅黑" panose="020B0503020204020204" pitchFamily="34" charset="-122"/>
              </a:rPr>
              <a:t>部分内容截选</a:t>
            </a:r>
            <a:endParaRPr lang="zh-CN" altLang="en-US" sz="1400" dirty="0">
              <a:latin typeface="Times New Roman" panose="02020603050405020304" pitchFamily="18" charset="0"/>
              <a:ea typeface="微软雅黑" panose="020B0503020204020204" pitchFamily="34" charset="-122"/>
            </a:endParaRPr>
          </a:p>
        </p:txBody>
      </p:sp>
      <p:sp>
        <p:nvSpPr>
          <p:cNvPr id="8" name="文本框 7"/>
          <p:cNvSpPr txBox="1"/>
          <p:nvPr/>
        </p:nvSpPr>
        <p:spPr>
          <a:xfrm>
            <a:off x="3201670" y="4508500"/>
            <a:ext cx="1950720" cy="1938020"/>
          </a:xfrm>
          <a:prstGeom prst="rect">
            <a:avLst/>
          </a:prstGeom>
          <a:solidFill>
            <a:schemeClr val="bg1">
              <a:lumMod val="95000"/>
            </a:schemeClr>
          </a:solidFill>
          <a:ln w="12700" cmpd="sng">
            <a:noFill/>
            <a:prstDash val="solid"/>
          </a:ln>
        </p:spPr>
        <p:txBody>
          <a:bodyPr wrap="square" rtlCol="0">
            <a:spAutoFit/>
          </a:bodyPr>
          <a:lstStyle/>
          <a:p>
            <a:pPr marL="0" lvl="1" indent="0" fontAlgn="auto">
              <a:lnSpc>
                <a:spcPct val="150000"/>
              </a:lnSpc>
              <a:buFont typeface="Wingdings" panose="05000000000000000000" charset="0"/>
              <a:buNone/>
            </a:pPr>
            <a:r>
              <a:rPr lang="en-US" altLang="zh-CN" sz="1600" dirty="0">
                <a:ln>
                  <a:noFill/>
                </a:ln>
                <a:ea typeface="+mn-lt"/>
                <a:cs typeface="+mn-lt"/>
                <a:sym typeface="Wingdings" panose="05000000000000000000" pitchFamily="2" charset="2"/>
              </a:rPr>
              <a:t>.global </a:t>
            </a:r>
            <a:r>
              <a:rPr lang="en-US" altLang="zh-CN" sz="1600" dirty="0">
                <a:ln>
                  <a:noFill/>
                </a:ln>
                <a:highlight>
                  <a:srgbClr val="FFFF00"/>
                </a:highlight>
                <a:ea typeface="+mn-lt"/>
                <a:cs typeface="+mn-lt"/>
                <a:sym typeface="Wingdings" panose="05000000000000000000" pitchFamily="2" charset="2"/>
              </a:rPr>
              <a:t>fork</a:t>
            </a:r>
            <a:endParaRPr lang="en-US" altLang="zh-CN" sz="1600" dirty="0">
              <a:ln>
                <a:noFill/>
              </a:ln>
              <a:ea typeface="+mn-lt"/>
              <a:cs typeface="+mn-lt"/>
              <a:sym typeface="Wingdings" panose="05000000000000000000" pitchFamily="2" charset="2"/>
            </a:endParaRPr>
          </a:p>
          <a:p>
            <a:pPr marL="0" lvl="1" indent="0" fontAlgn="auto">
              <a:lnSpc>
                <a:spcPct val="150000"/>
              </a:lnSpc>
              <a:buFont typeface="Wingdings" panose="05000000000000000000" charset="0"/>
              <a:buNone/>
            </a:pPr>
            <a:r>
              <a:rPr lang="en-US" altLang="zh-CN" sz="1600" dirty="0">
                <a:ln>
                  <a:noFill/>
                </a:ln>
                <a:highlight>
                  <a:srgbClr val="FFFF00"/>
                </a:highlight>
                <a:ea typeface="+mn-lt"/>
                <a:cs typeface="+mn-lt"/>
                <a:sym typeface="Wingdings" panose="05000000000000000000" pitchFamily="2" charset="2"/>
              </a:rPr>
              <a:t>fork</a:t>
            </a:r>
            <a:endParaRPr lang="en-US" altLang="zh-CN" sz="1600" dirty="0">
              <a:ln>
                <a:noFill/>
              </a:ln>
              <a:ea typeface="+mn-lt"/>
              <a:cs typeface="+mn-lt"/>
              <a:sym typeface="Wingdings" panose="05000000000000000000" pitchFamily="2" charset="2"/>
            </a:endParaRPr>
          </a:p>
          <a:p>
            <a:pPr marL="0" lvl="1" indent="0" fontAlgn="auto">
              <a:lnSpc>
                <a:spcPct val="150000"/>
              </a:lnSpc>
              <a:buFont typeface="Wingdings" panose="05000000000000000000" charset="0"/>
              <a:buNone/>
            </a:pPr>
            <a:r>
              <a:rPr lang="en-US" altLang="zh-CN" sz="1600" dirty="0">
                <a:ln>
                  <a:noFill/>
                </a:ln>
                <a:ea typeface="+mn-lt"/>
                <a:cs typeface="+mn-lt"/>
                <a:sym typeface="Wingdings" panose="05000000000000000000" pitchFamily="2" charset="2"/>
              </a:rPr>
              <a:t>li a7, SYS_</a:t>
            </a:r>
            <a:r>
              <a:rPr lang="en-US" altLang="zh-CN" sz="1600" dirty="0">
                <a:ln>
                  <a:noFill/>
                </a:ln>
                <a:highlight>
                  <a:srgbClr val="FFFF00"/>
                </a:highlight>
                <a:ea typeface="+mn-lt"/>
                <a:cs typeface="+mn-lt"/>
                <a:sym typeface="Wingdings" panose="05000000000000000000" pitchFamily="2" charset="2"/>
              </a:rPr>
              <a:t>fork</a:t>
            </a:r>
            <a:endParaRPr lang="en-US" altLang="zh-CN" sz="1600" dirty="0">
              <a:ln>
                <a:noFill/>
              </a:ln>
              <a:ea typeface="+mn-lt"/>
              <a:cs typeface="+mn-lt"/>
              <a:sym typeface="Wingdings" panose="05000000000000000000" pitchFamily="2" charset="2"/>
            </a:endParaRPr>
          </a:p>
          <a:p>
            <a:pPr marL="0" lvl="1" indent="0" fontAlgn="auto">
              <a:lnSpc>
                <a:spcPct val="150000"/>
              </a:lnSpc>
              <a:buFont typeface="Wingdings" panose="05000000000000000000" charset="0"/>
              <a:buNone/>
            </a:pPr>
            <a:r>
              <a:rPr lang="en-US" altLang="zh-CN" sz="1600" dirty="0">
                <a:ln>
                  <a:noFill/>
                </a:ln>
                <a:ea typeface="+mn-lt"/>
                <a:cs typeface="+mn-lt"/>
                <a:sym typeface="Wingdings" panose="05000000000000000000" pitchFamily="2" charset="2"/>
              </a:rPr>
              <a:t>ecall</a:t>
            </a:r>
            <a:endParaRPr lang="en-US" altLang="zh-CN" sz="1600" dirty="0">
              <a:ln>
                <a:noFill/>
              </a:ln>
              <a:ea typeface="+mn-lt"/>
              <a:cs typeface="+mn-lt"/>
              <a:sym typeface="Wingdings" panose="05000000000000000000" pitchFamily="2" charset="2"/>
            </a:endParaRPr>
          </a:p>
          <a:p>
            <a:pPr marL="0" lvl="1" indent="0" fontAlgn="auto">
              <a:lnSpc>
                <a:spcPct val="150000"/>
              </a:lnSpc>
              <a:buFont typeface="Wingdings" panose="05000000000000000000" charset="0"/>
              <a:buNone/>
            </a:pPr>
            <a:r>
              <a:rPr lang="en-US" altLang="zh-CN" sz="1600" dirty="0">
                <a:ln>
                  <a:noFill/>
                </a:ln>
                <a:ea typeface="+mn-lt"/>
                <a:cs typeface="+mn-lt"/>
                <a:sym typeface="Wingdings" panose="05000000000000000000" pitchFamily="2" charset="2"/>
              </a:rPr>
              <a:t>ret</a:t>
            </a:r>
            <a:endParaRPr lang="en-US" altLang="zh-CN" sz="1600" dirty="0">
              <a:ln>
                <a:noFill/>
              </a:ln>
              <a:solidFill>
                <a:schemeClr val="tx1"/>
              </a:solidFill>
              <a:latin typeface="+mn-lt"/>
              <a:ea typeface="+mn-lt"/>
              <a:cs typeface="+mn-lt"/>
              <a:sym typeface="Wingdings" panose="05000000000000000000" pitchFamily="2" charset="2"/>
            </a:endParaRPr>
          </a:p>
        </p:txBody>
      </p:sp>
      <p:sp>
        <p:nvSpPr>
          <p:cNvPr id="9" name="文本框 8"/>
          <p:cNvSpPr txBox="1"/>
          <p:nvPr/>
        </p:nvSpPr>
        <p:spPr>
          <a:xfrm>
            <a:off x="1316990" y="5293360"/>
            <a:ext cx="1884680" cy="368300"/>
          </a:xfrm>
          <a:prstGeom prst="rect">
            <a:avLst/>
          </a:prstGeom>
          <a:noFill/>
        </p:spPr>
        <p:txBody>
          <a:bodyPr wrap="square" rtlCol="0">
            <a:spAutoFit/>
          </a:bodyPr>
          <a:lstStyle/>
          <a:p>
            <a:r>
              <a:rPr lang="en-US" altLang="zh-CN" b="1">
                <a:solidFill>
                  <a:srgbClr val="003E7A"/>
                </a:solidFill>
                <a:latin typeface="Times New Roman" panose="02020603050405020304" pitchFamily="18" charset="0"/>
                <a:ea typeface="微软雅黑" panose="020B0503020204020204" pitchFamily="34" charset="-122"/>
                <a:cs typeface="Times New Roman" panose="02020603050405020304" pitchFamily="18" charset="0"/>
              </a:rPr>
              <a:t>usys.S</a:t>
            </a:r>
            <a:r>
              <a:rPr lang="zh-CN" altLang="en-US" b="1">
                <a:solidFill>
                  <a:srgbClr val="003E7A"/>
                </a:solidFill>
                <a:latin typeface="Times New Roman" panose="02020603050405020304" pitchFamily="18" charset="0"/>
                <a:ea typeface="黑体" panose="02010609060101010101" charset="-122"/>
                <a:cs typeface="Times New Roman" panose="02020603050405020304" pitchFamily="18" charset="0"/>
              </a:rPr>
              <a:t>示例</a:t>
            </a:r>
            <a:r>
              <a:rPr lang="en-US" altLang="zh-CN" b="1">
                <a:solidFill>
                  <a:srgbClr val="003E7A"/>
                </a:solidFill>
                <a:latin typeface="Times New Roman" panose="02020603050405020304" pitchFamily="18" charset="0"/>
                <a:ea typeface="微软雅黑" panose="020B0503020204020204" pitchFamily="34" charset="-122"/>
                <a:cs typeface="Times New Roman" panose="02020603050405020304" pitchFamily="18" charset="0"/>
              </a:rPr>
              <a:t>(fork)</a:t>
            </a:r>
            <a:endParaRPr lang="en-US" altLang="zh-CN" b="1">
              <a:solidFill>
                <a:srgbClr val="003E7A"/>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7698740" y="1468755"/>
            <a:ext cx="4138930" cy="38246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288925" y="838200"/>
            <a:ext cx="7191375"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系统调用的参数：寄存器传参</a:t>
            </a:r>
            <a:endParaRPr kumimoji="1" lang="zh-CN" altLang="en-US" b="1" dirty="0">
              <a:solidFill>
                <a:srgbClr val="99000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charset="0"/>
              <a:buChar char="q"/>
            </a:pPr>
            <a:r>
              <a:rPr lang="zh-CN" altLang="en-US" sz="2000" dirty="0">
                <a:latin typeface="+mn-lt"/>
                <a:ea typeface="+mn-lt"/>
                <a:cs typeface="+mn-lt"/>
                <a:sym typeface="Wingdings" panose="05000000000000000000" pitchFamily="2" charset="2"/>
              </a:rPr>
              <a:t>与函数的调用一样，系统调用还需要</a:t>
            </a:r>
            <a:r>
              <a:rPr lang="zh-CN" altLang="en-US" sz="2000" b="1" dirty="0">
                <a:latin typeface="+mn-lt"/>
                <a:ea typeface="+mn-lt"/>
                <a:cs typeface="+mn-lt"/>
                <a:sym typeface="Wingdings" panose="05000000000000000000" pitchFamily="2" charset="2"/>
              </a:rPr>
              <a:t>传递参数</a:t>
            </a:r>
            <a:r>
              <a:rPr lang="zh-CN" altLang="en-US" sz="2000" dirty="0">
                <a:latin typeface="+mn-lt"/>
                <a:ea typeface="+mn-lt"/>
                <a:cs typeface="+mn-lt"/>
                <a:sym typeface="Wingdings" panose="05000000000000000000" pitchFamily="2" charset="2"/>
              </a:rPr>
              <a:t>。实际上，从汇编的角度来看，当我们调用一个函数的时候，</a:t>
            </a:r>
            <a:r>
              <a:rPr lang="zh-CN" altLang="en-US" sz="2000" b="1" dirty="0">
                <a:latin typeface="+mn-lt"/>
                <a:ea typeface="+mn-lt"/>
                <a:cs typeface="+mn-lt"/>
                <a:sym typeface="Wingdings" panose="05000000000000000000" pitchFamily="2" charset="2"/>
              </a:rPr>
              <a:t>传入的参数</a:t>
            </a:r>
            <a:r>
              <a:rPr lang="zh-CN" altLang="en-US" sz="2000" dirty="0">
                <a:latin typeface="+mn-lt"/>
                <a:ea typeface="+mn-lt"/>
                <a:cs typeface="+mn-lt"/>
                <a:sym typeface="Wingdings" panose="05000000000000000000" pitchFamily="2" charset="2"/>
              </a:rPr>
              <a:t>一般会按照位置</a:t>
            </a:r>
            <a:r>
              <a:rPr lang="zh-CN" altLang="en-US" sz="2000" b="1" dirty="0">
                <a:latin typeface="+mn-lt"/>
                <a:ea typeface="+mn-lt"/>
                <a:cs typeface="+mn-lt"/>
                <a:sym typeface="Wingdings" panose="05000000000000000000" pitchFamily="2" charset="2"/>
              </a:rPr>
              <a:t>依次</a:t>
            </a:r>
            <a:r>
              <a:rPr lang="zh-CN" altLang="en-US" sz="2000" dirty="0">
                <a:latin typeface="+mn-lt"/>
                <a:ea typeface="+mn-lt"/>
                <a:cs typeface="+mn-lt"/>
                <a:sym typeface="Wingdings" panose="05000000000000000000" pitchFamily="2" charset="2"/>
              </a:rPr>
              <a:t>放在a0, a1, a2等以此类推的</a:t>
            </a:r>
            <a:r>
              <a:rPr lang="zh-CN" altLang="en-US" sz="2000" b="1" dirty="0">
                <a:latin typeface="+mn-lt"/>
                <a:ea typeface="+mn-lt"/>
                <a:cs typeface="+mn-lt"/>
                <a:sym typeface="Wingdings" panose="05000000000000000000" pitchFamily="2" charset="2"/>
              </a:rPr>
              <a:t>寄存器</a:t>
            </a:r>
            <a:r>
              <a:rPr lang="zh-CN" altLang="en-US" sz="2000" dirty="0">
                <a:latin typeface="+mn-lt"/>
                <a:ea typeface="+mn-lt"/>
                <a:cs typeface="+mn-lt"/>
                <a:sym typeface="Wingdings" panose="05000000000000000000" pitchFamily="2" charset="2"/>
              </a:rPr>
              <a:t>中。</a:t>
            </a:r>
            <a:endParaRPr lang="zh-CN" altLang="en-US" sz="2000" dirty="0">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dirty="0">
                <a:solidFill>
                  <a:schemeClr val="tx1"/>
                </a:solidFill>
                <a:latin typeface="+mn-lt"/>
                <a:ea typeface="+mn-lt"/>
                <a:cs typeface="+mn-lt"/>
                <a:sym typeface="Wingdings" panose="05000000000000000000" pitchFamily="2" charset="2"/>
              </a:rPr>
              <a:t>也就是说，调用</a:t>
            </a:r>
            <a:r>
              <a:rPr lang="zh-CN" altLang="en-US" sz="2000" b="1" dirty="0">
                <a:solidFill>
                  <a:schemeClr val="tx1"/>
                </a:solidFill>
                <a:latin typeface="+mn-lt"/>
                <a:ea typeface="+mn-lt"/>
                <a:cs typeface="+mn-lt"/>
                <a:sym typeface="Wingdings" panose="05000000000000000000" pitchFamily="2" charset="2"/>
              </a:rPr>
              <a:t>user/user.h</a:t>
            </a:r>
            <a:r>
              <a:rPr lang="zh-CN" altLang="en-US" sz="2000" dirty="0">
                <a:solidFill>
                  <a:schemeClr val="tx1"/>
                </a:solidFill>
                <a:latin typeface="+mn-lt"/>
                <a:ea typeface="+mn-lt"/>
                <a:cs typeface="+mn-lt"/>
                <a:sym typeface="Wingdings" panose="05000000000000000000" pitchFamily="2" charset="2"/>
              </a:rPr>
              <a:t>中的函数接口后，参数已经存储于</a:t>
            </a:r>
            <a:r>
              <a:rPr lang="zh-CN" altLang="en-US" sz="2000" b="1" dirty="0">
                <a:solidFill>
                  <a:schemeClr val="tx1"/>
                </a:solidFill>
                <a:latin typeface="+mn-lt"/>
                <a:ea typeface="+mn-lt"/>
                <a:cs typeface="+mn-lt"/>
                <a:sym typeface="Wingdings" panose="05000000000000000000" pitchFamily="2" charset="2"/>
              </a:rPr>
              <a:t>寄存器</a:t>
            </a:r>
            <a:r>
              <a:rPr lang="zh-CN" altLang="en-US" sz="2000" dirty="0">
                <a:solidFill>
                  <a:schemeClr val="tx1"/>
                </a:solidFill>
                <a:latin typeface="+mn-lt"/>
                <a:ea typeface="+mn-lt"/>
                <a:cs typeface="+mn-lt"/>
                <a:sym typeface="Wingdings" panose="05000000000000000000" pitchFamily="2" charset="2"/>
              </a:rPr>
              <a:t>了，这个时候我们就原封不动地继续调用</a:t>
            </a:r>
            <a:r>
              <a:rPr lang="zh-CN" altLang="en-US" sz="2000" b="1" dirty="0">
                <a:solidFill>
                  <a:schemeClr val="tx1"/>
                </a:solidFill>
                <a:latin typeface="+mn-lt"/>
                <a:ea typeface="+mn-lt"/>
                <a:cs typeface="+mn-lt"/>
                <a:sym typeface="Wingdings" panose="05000000000000000000" pitchFamily="2" charset="2"/>
              </a:rPr>
              <a:t>ecall</a:t>
            </a:r>
            <a:r>
              <a:rPr lang="zh-CN" altLang="en-US" sz="2000" dirty="0">
                <a:solidFill>
                  <a:schemeClr val="tx1"/>
                </a:solidFill>
                <a:latin typeface="+mn-lt"/>
                <a:ea typeface="+mn-lt"/>
                <a:cs typeface="+mn-lt"/>
                <a:sym typeface="Wingdings" panose="05000000000000000000" pitchFamily="2" charset="2"/>
              </a:rPr>
              <a:t>，操作系统就可以通过a0, a1, a2等寄存器来获取参数了。此外，函数的返回值一般存储于a0寄存器。</a:t>
            </a:r>
            <a:endParaRPr lang="zh-CN" altLang="en-US" sz="2000" dirty="0">
              <a:solidFill>
                <a:schemeClr val="tx1"/>
              </a:solidFill>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dirty="0">
                <a:solidFill>
                  <a:schemeClr val="tx1"/>
                </a:solidFill>
                <a:latin typeface="+mn-lt"/>
                <a:ea typeface="+mn-lt"/>
                <a:cs typeface="+mn-lt"/>
                <a:sym typeface="Wingdings" panose="05000000000000000000" pitchFamily="2" charset="2"/>
              </a:rPr>
              <a:t>在内核中可以通过</a:t>
            </a:r>
            <a:r>
              <a:rPr lang="zh-CN" altLang="en-US" sz="2000" b="1" dirty="0">
                <a:solidFill>
                  <a:schemeClr val="tx1"/>
                </a:solidFill>
                <a:latin typeface="+mn-lt"/>
                <a:ea typeface="+mn-lt"/>
                <a:cs typeface="+mn-lt"/>
                <a:sym typeface="Wingdings" panose="05000000000000000000" pitchFamily="2" charset="2"/>
              </a:rPr>
              <a:t>argint</a:t>
            </a:r>
            <a:r>
              <a:rPr lang="zh-CN" altLang="en-US" sz="2000" dirty="0">
                <a:solidFill>
                  <a:schemeClr val="tx1"/>
                </a:solidFill>
                <a:latin typeface="+mn-lt"/>
                <a:ea typeface="+mn-lt"/>
                <a:cs typeface="+mn-lt"/>
                <a:sym typeface="Wingdings" panose="05000000000000000000" pitchFamily="2" charset="2"/>
              </a:rPr>
              <a:t>、</a:t>
            </a:r>
            <a:r>
              <a:rPr lang="zh-CN" altLang="en-US" sz="2000" b="1" dirty="0">
                <a:solidFill>
                  <a:schemeClr val="tx1"/>
                </a:solidFill>
                <a:latin typeface="+mn-lt"/>
                <a:ea typeface="+mn-lt"/>
                <a:cs typeface="+mn-lt"/>
                <a:sym typeface="Wingdings" panose="05000000000000000000" pitchFamily="2" charset="2"/>
              </a:rPr>
              <a:t>argaddr</a:t>
            </a:r>
            <a:r>
              <a:rPr lang="zh-CN" altLang="en-US" sz="2000" dirty="0">
                <a:solidFill>
                  <a:schemeClr val="tx1"/>
                </a:solidFill>
                <a:latin typeface="+mn-lt"/>
                <a:ea typeface="+mn-lt"/>
                <a:cs typeface="+mn-lt"/>
                <a:sym typeface="Wingdings" panose="05000000000000000000" pitchFamily="2" charset="2"/>
              </a:rPr>
              <a:t>等函数获取系统调用的参数，分别对应整数和指针，它们都调用</a:t>
            </a:r>
            <a:r>
              <a:rPr lang="zh-CN" altLang="en-US" sz="2000" b="1" dirty="0">
                <a:solidFill>
                  <a:schemeClr val="tx1"/>
                </a:solidFill>
                <a:latin typeface="+mn-lt"/>
                <a:ea typeface="+mn-lt"/>
                <a:cs typeface="+mn-lt"/>
                <a:sym typeface="Wingdings" panose="05000000000000000000" pitchFamily="2" charset="2"/>
              </a:rPr>
              <a:t>argraw</a:t>
            </a:r>
            <a:r>
              <a:rPr lang="zh-CN" altLang="en-US" sz="2000" dirty="0">
                <a:solidFill>
                  <a:schemeClr val="tx1"/>
                </a:solidFill>
                <a:latin typeface="+mn-lt"/>
                <a:ea typeface="+mn-lt"/>
                <a:cs typeface="+mn-lt"/>
                <a:sym typeface="Wingdings" panose="05000000000000000000" pitchFamily="2" charset="2"/>
              </a:rPr>
              <a:t>来读取已保存的寄存器。</a:t>
            </a:r>
            <a:endParaRPr lang="zh-CN" altLang="en-US" sz="2000"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sp>
        <p:nvSpPr>
          <p:cNvPr id="16" name="文本框 15"/>
          <p:cNvSpPr txBox="1"/>
          <p:nvPr/>
        </p:nvSpPr>
        <p:spPr>
          <a:xfrm>
            <a:off x="8197215" y="5730875"/>
            <a:ext cx="2470785"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3</a:t>
            </a:r>
            <a:r>
              <a:rPr lang="zh-CN" altLang="en-US" sz="1400" b="1" dirty="0">
                <a:latin typeface="Times New Roman" panose="02020603050405020304" pitchFamily="18" charset="0"/>
                <a:ea typeface="微软雅黑" panose="020B0503020204020204" pitchFamily="34" charset="-122"/>
              </a:rPr>
              <a:t>：</a:t>
            </a:r>
            <a:r>
              <a:rPr lang="en-US" sz="1400" dirty="0">
                <a:latin typeface="Times New Roman" panose="02020603050405020304" pitchFamily="18" charset="0"/>
                <a:ea typeface="微软雅黑" panose="020B0503020204020204" pitchFamily="34" charset="-122"/>
              </a:rPr>
              <a:t>argraw</a:t>
            </a:r>
            <a:r>
              <a:rPr lang="zh-CN" altLang="en-US" sz="1400" dirty="0">
                <a:latin typeface="Times New Roman" panose="02020603050405020304" pitchFamily="18" charset="0"/>
                <a:ea typeface="微软雅黑" panose="020B0503020204020204" pitchFamily="34" charset="-122"/>
              </a:rPr>
              <a:t>函数取参过程</a:t>
            </a:r>
            <a:endParaRPr lang="zh-CN" altLang="en-US" sz="1400" dirty="0">
              <a:latin typeface="Times New Roman" panose="02020603050405020304" pitchFamily="18" charset="0"/>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7808595" y="936625"/>
            <a:ext cx="3185795" cy="43249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6189345"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系统调用的分发和实现：解耦合</a:t>
            </a:r>
            <a:endParaRPr kumimoji="1" lang="zh-CN" altLang="en-US" b="1" dirty="0">
              <a:solidFill>
                <a:srgbClr val="99000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charset="0"/>
              <a:buChar char="q"/>
            </a:pPr>
            <a:r>
              <a:rPr lang="zh-CN" altLang="en-US" sz="2000" dirty="0">
                <a:latin typeface="+mn-lt"/>
                <a:ea typeface="+mn-lt"/>
                <a:cs typeface="+mn-lt"/>
                <a:sym typeface="Wingdings" panose="05000000000000000000" pitchFamily="2" charset="2"/>
              </a:rPr>
              <a:t>根据上文，定义一个系统调用实际上很简单：将系统调用号的宏定义</a:t>
            </a:r>
            <a:r>
              <a:rPr lang="zh-CN" altLang="en-US" sz="2000" b="1" dirty="0">
                <a:latin typeface="+mn-lt"/>
                <a:ea typeface="+mn-lt"/>
                <a:cs typeface="+mn-lt"/>
                <a:sym typeface="Wingdings" panose="05000000000000000000" pitchFamily="2" charset="2"/>
              </a:rPr>
              <a:t>SYS_${name}</a:t>
            </a:r>
            <a:r>
              <a:rPr lang="zh-CN" altLang="en-US" sz="2000" dirty="0">
                <a:latin typeface="+mn-lt"/>
                <a:ea typeface="+mn-lt"/>
                <a:cs typeface="+mn-lt"/>
                <a:sym typeface="Wingdings" panose="05000000000000000000" pitchFamily="2" charset="2"/>
              </a:rPr>
              <a:t>添加在</a:t>
            </a:r>
            <a:r>
              <a:rPr lang="zh-CN" altLang="en-US" sz="2000" b="1" dirty="0">
                <a:latin typeface="+mn-lt"/>
                <a:ea typeface="+mn-lt"/>
                <a:cs typeface="+mn-lt"/>
                <a:sym typeface="Wingdings" panose="05000000000000000000" pitchFamily="2" charset="2"/>
              </a:rPr>
              <a:t>kernel/syscall.h</a:t>
            </a:r>
            <a:r>
              <a:rPr lang="zh-CN" altLang="en-US" sz="2000" dirty="0">
                <a:latin typeface="+mn-lt"/>
                <a:ea typeface="+mn-lt"/>
                <a:cs typeface="+mn-lt"/>
                <a:sym typeface="Wingdings" panose="05000000000000000000" pitchFamily="2" charset="2"/>
              </a:rPr>
              <a:t>，每次系统调用时根据a7寄存器传入的值判定具体的系统调用类型即可。 那么接下来面临的问题是：内核怎么通过系统调用号（存在a7）来执行不同的系统调用函数。</a:t>
            </a:r>
            <a:endParaRPr lang="zh-CN" altLang="en-US" sz="2000" dirty="0">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dirty="0">
                <a:solidFill>
                  <a:schemeClr val="tx1"/>
                </a:solidFill>
                <a:latin typeface="+mn-lt"/>
                <a:ea typeface="+mn-lt"/>
                <a:cs typeface="+mn-lt"/>
                <a:sym typeface="Wingdings" panose="05000000000000000000" pitchFamily="2" charset="2"/>
              </a:rPr>
              <a:t>在</a:t>
            </a:r>
            <a:r>
              <a:rPr lang="zh-CN" altLang="en-US" sz="2000" b="1" dirty="0">
                <a:solidFill>
                  <a:schemeClr val="tx1"/>
                </a:solidFill>
                <a:latin typeface="+mn-lt"/>
                <a:ea typeface="+mn-lt"/>
                <a:cs typeface="+mn-lt"/>
                <a:sym typeface="Wingdings" panose="05000000000000000000" pitchFamily="2" charset="2"/>
              </a:rPr>
              <a:t>kernel/syscall.c</a:t>
            </a:r>
            <a:r>
              <a:rPr lang="zh-CN" altLang="en-US" sz="2000" dirty="0">
                <a:solidFill>
                  <a:schemeClr val="tx1"/>
                </a:solidFill>
                <a:latin typeface="+mn-lt"/>
                <a:ea typeface="+mn-lt"/>
                <a:cs typeface="+mn-lt"/>
                <a:sym typeface="Wingdings" panose="05000000000000000000" pitchFamily="2" charset="2"/>
              </a:rPr>
              <a:t>中声明了这些系统调用函数并将这些函数的指针都放在统一的数组里。</a:t>
            </a:r>
            <a:endParaRPr lang="zh-CN" altLang="en-US" sz="2000" dirty="0">
              <a:solidFill>
                <a:schemeClr val="tx1"/>
              </a:solidFill>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syscall()</a:t>
            </a:r>
            <a:r>
              <a:rPr lang="zh-CN" altLang="en-US" sz="2000" dirty="0">
                <a:solidFill>
                  <a:schemeClr val="tx1"/>
                </a:solidFill>
                <a:latin typeface="+mn-lt"/>
                <a:ea typeface="+mn-lt"/>
                <a:cs typeface="+mn-lt"/>
                <a:sym typeface="Wingdings" panose="05000000000000000000" pitchFamily="2" charset="2"/>
              </a:rPr>
              <a:t> 函数就根据通过不同系统调用号调用不同系统调用函数实现了系统调用的分发。</a:t>
            </a:r>
            <a:endParaRPr lang="en-US" altLang="zh-CN" sz="2000"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sp>
        <p:nvSpPr>
          <p:cNvPr id="16" name="文本框 15"/>
          <p:cNvSpPr txBox="1"/>
          <p:nvPr/>
        </p:nvSpPr>
        <p:spPr>
          <a:xfrm>
            <a:off x="7239635" y="6384925"/>
            <a:ext cx="3373120"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4(b)</a:t>
            </a:r>
            <a:r>
              <a:rPr lang="zh-CN" altLang="en-US" sz="1400" b="1" dirty="0">
                <a:latin typeface="Times New Roman" panose="02020603050405020304" pitchFamily="18" charset="0"/>
                <a:ea typeface="微软雅黑" panose="020B0503020204020204" pitchFamily="34" charset="-122"/>
              </a:rPr>
              <a:t>：</a:t>
            </a:r>
            <a:r>
              <a:rPr lang="en-US" altLang="zh-CN" sz="1400" b="1" dirty="0">
                <a:latin typeface="Times New Roman" panose="02020603050405020304" pitchFamily="18" charset="0"/>
                <a:ea typeface="微软雅黑" panose="020B0503020204020204" pitchFamily="34" charset="-122"/>
              </a:rPr>
              <a:t>k</a:t>
            </a:r>
            <a:r>
              <a:rPr lang="zh-CN" altLang="en-US" sz="1400" dirty="0">
                <a:ea typeface="+mn-lt"/>
                <a:cs typeface="+mn-lt"/>
                <a:sym typeface="Wingdings" panose="05000000000000000000" pitchFamily="2" charset="2"/>
              </a:rPr>
              <a:t>ernel/syscall.c</a:t>
            </a:r>
            <a:r>
              <a:rPr lang="zh-CN" altLang="en-US" sz="1400" dirty="0">
                <a:latin typeface="Times New Roman" panose="02020603050405020304" pitchFamily="18" charset="0"/>
                <a:ea typeface="微软雅黑" panose="020B0503020204020204" pitchFamily="34" charset="-122"/>
              </a:rPr>
              <a:t>部分内容截选</a:t>
            </a:r>
            <a:endParaRPr lang="zh-CN" altLang="en-US" sz="1400" dirty="0">
              <a:latin typeface="Times New Roman" panose="02020603050405020304" pitchFamily="18" charset="0"/>
              <a:ea typeface="微软雅黑" panose="020B0503020204020204" pitchFamily="34" charset="-122"/>
            </a:endParaRPr>
          </a:p>
        </p:txBody>
      </p:sp>
      <p:sp>
        <p:nvSpPr>
          <p:cNvPr id="4" name="文本框 3"/>
          <p:cNvSpPr txBox="1"/>
          <p:nvPr/>
        </p:nvSpPr>
        <p:spPr>
          <a:xfrm>
            <a:off x="7239635" y="1906905"/>
            <a:ext cx="3331210"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4(a)</a:t>
            </a:r>
            <a:r>
              <a:rPr lang="zh-CN" altLang="en-US" sz="1400" b="1" dirty="0">
                <a:latin typeface="Times New Roman" panose="02020603050405020304" pitchFamily="18" charset="0"/>
                <a:ea typeface="微软雅黑" panose="020B0503020204020204" pitchFamily="34" charset="-122"/>
              </a:rPr>
              <a:t>：</a:t>
            </a:r>
            <a:r>
              <a:rPr lang="en-US" altLang="zh-CN" sz="1400" b="1" dirty="0">
                <a:latin typeface="Times New Roman" panose="02020603050405020304" pitchFamily="18" charset="0"/>
                <a:ea typeface="微软雅黑" panose="020B0503020204020204" pitchFamily="34" charset="-122"/>
              </a:rPr>
              <a:t>k</a:t>
            </a:r>
            <a:r>
              <a:rPr lang="zh-CN" altLang="en-US" sz="1400" dirty="0">
                <a:ea typeface="+mn-lt"/>
                <a:cs typeface="+mn-lt"/>
                <a:sym typeface="Wingdings" panose="05000000000000000000" pitchFamily="2" charset="2"/>
              </a:rPr>
              <a:t>ernel/syscall.</a:t>
            </a:r>
            <a:r>
              <a:rPr lang="en-US" altLang="zh-CN" sz="1400" dirty="0">
                <a:ea typeface="+mn-lt"/>
                <a:cs typeface="+mn-lt"/>
                <a:sym typeface="Wingdings" panose="05000000000000000000" pitchFamily="2" charset="2"/>
              </a:rPr>
              <a:t>h</a:t>
            </a:r>
            <a:r>
              <a:rPr lang="zh-CN" altLang="en-US" sz="1400" dirty="0">
                <a:latin typeface="Times New Roman" panose="02020603050405020304" pitchFamily="18" charset="0"/>
                <a:ea typeface="微软雅黑" panose="020B0503020204020204" pitchFamily="34" charset="-122"/>
              </a:rPr>
              <a:t>部分内容截选</a:t>
            </a:r>
            <a:endParaRPr lang="zh-CN" altLang="en-US" sz="1400" dirty="0">
              <a:latin typeface="Times New Roman" panose="02020603050405020304" pitchFamily="18" charset="0"/>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7609205" y="366395"/>
            <a:ext cx="2633980" cy="1452880"/>
          </a:xfrm>
          <a:prstGeom prst="rect">
            <a:avLst/>
          </a:prstGeom>
        </p:spPr>
      </p:pic>
      <p:pic>
        <p:nvPicPr>
          <p:cNvPr id="8" name="图片 7"/>
          <p:cNvPicPr>
            <a:picLocks noChangeAspect="1"/>
          </p:cNvPicPr>
          <p:nvPr/>
        </p:nvPicPr>
        <p:blipFill>
          <a:blip r:embed="rId2"/>
          <a:stretch>
            <a:fillRect/>
          </a:stretch>
        </p:blipFill>
        <p:spPr>
          <a:xfrm>
            <a:off x="6433820" y="2290445"/>
            <a:ext cx="4946650" cy="3992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441430"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系统调用实例：</a:t>
            </a:r>
            <a:r>
              <a:rPr kumimoji="1" lang="en-US" altLang="zh-CN" b="1" dirty="0">
                <a:solidFill>
                  <a:srgbClr val="990000"/>
                </a:solidFill>
                <a:latin typeface="微软雅黑" panose="020B0503020204020204" pitchFamily="34" charset="-122"/>
                <a:ea typeface="微软雅黑" panose="020B0503020204020204" pitchFamily="34" charset="-122"/>
              </a:rPr>
              <a:t>sleep(int)</a:t>
            </a:r>
            <a:endParaRPr kumimoji="1" lang="en-US" altLang="zh-CN" b="1" dirty="0">
              <a:solidFill>
                <a:srgbClr val="99000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用户程序调用</a:t>
            </a:r>
            <a:endParaRPr lang="zh-CN" altLang="en-US" sz="2000" b="1" dirty="0">
              <a:solidFill>
                <a:schemeClr val="tx1"/>
              </a:solidFill>
              <a:latin typeface="+mn-lt"/>
              <a:ea typeface="+mn-lt"/>
              <a:cs typeface="+mn-lt"/>
              <a:sym typeface="Wingdings" panose="05000000000000000000" pitchFamily="2" charset="2"/>
            </a:endParaRPr>
          </a:p>
          <a:p>
            <a:pPr marL="1257300" lvl="2" indent="-342900">
              <a:lnSpc>
                <a:spcPct val="150000"/>
              </a:lnSpc>
              <a:buFont typeface="Wingdings" panose="05000000000000000000" charset="0"/>
              <a:buChar char="Ø"/>
            </a:pPr>
            <a:r>
              <a:rPr lang="zh-CN" altLang="en-US" sz="2000" dirty="0">
                <a:solidFill>
                  <a:schemeClr val="tx1"/>
                </a:solidFill>
                <a:latin typeface="+mn-lt"/>
                <a:ea typeface="+mn-lt"/>
                <a:cs typeface="+mn-lt"/>
                <a:sym typeface="Wingdings" panose="05000000000000000000" pitchFamily="2" charset="2"/>
              </a:rPr>
              <a:t>在</a:t>
            </a:r>
            <a:r>
              <a:rPr lang="zh-CN" altLang="en-US" sz="2000" b="1" dirty="0">
                <a:solidFill>
                  <a:schemeClr val="tx1"/>
                </a:solidFill>
                <a:latin typeface="+mn-lt"/>
                <a:ea typeface="+mn-lt"/>
                <a:cs typeface="+mn-lt"/>
                <a:sym typeface="Wingdings" panose="05000000000000000000" pitchFamily="2" charset="2"/>
              </a:rPr>
              <a:t>user/user.h</a:t>
            </a:r>
            <a:r>
              <a:rPr lang="zh-CN" altLang="en-US" sz="2000" dirty="0">
                <a:solidFill>
                  <a:schemeClr val="tx1"/>
                </a:solidFill>
                <a:latin typeface="+mn-lt"/>
                <a:ea typeface="+mn-lt"/>
                <a:cs typeface="+mn-lt"/>
                <a:sym typeface="Wingdings" panose="05000000000000000000" pitchFamily="2" charset="2"/>
              </a:rPr>
              <a:t>中声明函数接口，用于后续调用：</a:t>
            </a:r>
            <a:br>
              <a:rPr lang="zh-CN" altLang="en-US" sz="2000" b="1" dirty="0">
                <a:solidFill>
                  <a:schemeClr val="tx1"/>
                </a:solidFill>
                <a:latin typeface="+mn-lt"/>
                <a:ea typeface="+mn-lt"/>
                <a:cs typeface="+mn-lt"/>
                <a:sym typeface="Wingdings" panose="05000000000000000000" pitchFamily="2" charset="2"/>
              </a:rPr>
            </a:br>
            <a:endParaRPr lang="zh-CN" altLang="en-US" sz="2000" b="1" dirty="0">
              <a:solidFill>
                <a:schemeClr val="tx1"/>
              </a:solidFill>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usys.S汇编文件</a:t>
            </a:r>
            <a:endParaRPr lang="zh-CN" altLang="en-US" sz="2000" b="1" dirty="0">
              <a:solidFill>
                <a:schemeClr val="tx1"/>
              </a:solidFill>
              <a:latin typeface="+mn-lt"/>
              <a:ea typeface="+mn-lt"/>
              <a:cs typeface="+mn-lt"/>
              <a:sym typeface="Wingdings" panose="05000000000000000000" pitchFamily="2" charset="2"/>
            </a:endParaRPr>
          </a:p>
          <a:p>
            <a:pPr marL="1257300" lvl="2" indent="-342900">
              <a:lnSpc>
                <a:spcPct val="150000"/>
              </a:lnSpc>
              <a:buFont typeface="Wingdings" panose="05000000000000000000" charset="0"/>
              <a:buChar char="Ø"/>
            </a:pPr>
            <a:r>
              <a:rPr lang="zh-CN" altLang="en-US" sz="2000" b="1" dirty="0">
                <a:solidFill>
                  <a:schemeClr val="tx1"/>
                </a:solidFill>
                <a:latin typeface="+mn-lt"/>
                <a:ea typeface="+mn-lt"/>
                <a:cs typeface="+mn-lt"/>
                <a:sym typeface="Wingdings" panose="05000000000000000000" pitchFamily="2" charset="2"/>
              </a:rPr>
              <a:t>user/user.h</a:t>
            </a:r>
            <a:r>
              <a:rPr lang="zh-CN" altLang="en-US" sz="2000" dirty="0">
                <a:solidFill>
                  <a:schemeClr val="tx1"/>
                </a:solidFill>
                <a:latin typeface="+mn-lt"/>
                <a:ea typeface="+mn-lt"/>
                <a:cs typeface="+mn-lt"/>
                <a:sym typeface="Wingdings" panose="05000000000000000000" pitchFamily="2" charset="2"/>
              </a:rPr>
              <a:t>对函数原型进行了声明。由</a:t>
            </a:r>
            <a:r>
              <a:rPr lang="en-US" altLang="zh-CN" sz="2000" b="1" dirty="0">
                <a:solidFill>
                  <a:schemeClr val="tx1"/>
                </a:solidFill>
                <a:latin typeface="+mn-lt"/>
                <a:ea typeface="+mn-lt"/>
                <a:cs typeface="+mn-lt"/>
                <a:sym typeface="Wingdings" panose="05000000000000000000" pitchFamily="2" charset="2"/>
              </a:rPr>
              <a:t>user/</a:t>
            </a:r>
            <a:r>
              <a:rPr lang="zh-CN" altLang="en-US" sz="2000" b="1" dirty="0">
                <a:solidFill>
                  <a:schemeClr val="tx1"/>
                </a:solidFill>
                <a:latin typeface="+mn-lt"/>
                <a:ea typeface="+mn-lt"/>
                <a:cs typeface="+mn-lt"/>
                <a:sym typeface="Wingdings" panose="05000000000000000000" pitchFamily="2" charset="2"/>
              </a:rPr>
              <a:t>usys.pl</a:t>
            </a:r>
            <a:r>
              <a:rPr lang="zh-CN" altLang="en-US" sz="2000" dirty="0">
                <a:solidFill>
                  <a:schemeClr val="tx1"/>
                </a:solidFill>
                <a:latin typeface="+mn-lt"/>
                <a:ea typeface="+mn-lt"/>
                <a:cs typeface="+mn-lt"/>
                <a:sym typeface="Wingdings" panose="05000000000000000000" pitchFamily="2" charset="2"/>
              </a:rPr>
              <a:t>（perl脚本）来</a:t>
            </a:r>
            <a:endParaRPr lang="zh-CN" altLang="en-US" sz="2000" dirty="0">
              <a:solidFill>
                <a:schemeClr val="tx1"/>
              </a:solidFill>
              <a:latin typeface="+mn-lt"/>
              <a:ea typeface="+mn-lt"/>
              <a:cs typeface="+mn-lt"/>
              <a:sym typeface="Wingdings" panose="05000000000000000000" pitchFamily="2" charset="2"/>
            </a:endParaRPr>
          </a:p>
          <a:p>
            <a:pPr marL="914400" lvl="2" indent="0">
              <a:lnSpc>
                <a:spcPct val="150000"/>
              </a:lnSpc>
              <a:buFont typeface="Wingdings" panose="05000000000000000000" charset="0"/>
              <a:buNone/>
            </a:pPr>
            <a:r>
              <a:rPr lang="zh-CN" altLang="en-US" sz="2000" dirty="0">
                <a:solidFill>
                  <a:schemeClr val="tx1"/>
                </a:solidFill>
                <a:latin typeface="+mn-lt"/>
                <a:ea typeface="+mn-lt"/>
                <a:cs typeface="+mn-lt"/>
                <a:sym typeface="Wingdings" panose="05000000000000000000" pitchFamily="2" charset="2"/>
              </a:rPr>
              <a:t>     自动生成</a:t>
            </a:r>
            <a:r>
              <a:rPr lang="zh-CN" altLang="en-US" sz="2000" b="1" dirty="0">
                <a:solidFill>
                  <a:schemeClr val="tx1"/>
                </a:solidFill>
                <a:latin typeface="+mn-lt"/>
                <a:ea typeface="+mn-lt"/>
                <a:cs typeface="+mn-lt"/>
                <a:sym typeface="Wingdings" panose="05000000000000000000" pitchFamily="2" charset="2"/>
              </a:rPr>
              <a:t>usys.S</a:t>
            </a:r>
            <a:r>
              <a:rPr lang="zh-CN" altLang="en-US" sz="2000" dirty="0">
                <a:solidFill>
                  <a:schemeClr val="tx1"/>
                </a:solidFill>
                <a:latin typeface="+mn-lt"/>
                <a:ea typeface="+mn-lt"/>
                <a:cs typeface="+mn-lt"/>
                <a:sym typeface="Wingdings" panose="05000000000000000000" pitchFamily="2" charset="2"/>
              </a:rPr>
              <a:t>汇编文件。</a:t>
            </a:r>
            <a:r>
              <a:rPr lang="en-US" altLang="zh-CN" sz="2000" dirty="0">
                <a:solidFill>
                  <a:schemeClr val="tx1"/>
                </a:solidFill>
                <a:latin typeface="+mn-lt"/>
                <a:ea typeface="+mn-lt"/>
                <a:cs typeface="+mn-lt"/>
                <a:sym typeface="Wingdings" panose="05000000000000000000" pitchFamily="2" charset="2"/>
              </a:rPr>
              <a:t>(</a:t>
            </a:r>
            <a:r>
              <a:rPr lang="zh-CN" altLang="en-US" sz="2000" dirty="0">
                <a:solidFill>
                  <a:schemeClr val="tx1"/>
                </a:solidFill>
                <a:latin typeface="+mn-lt"/>
                <a:ea typeface="+mn-lt"/>
                <a:cs typeface="+mn-lt"/>
                <a:sym typeface="Wingdings" panose="05000000000000000000" pitchFamily="2" charset="2"/>
              </a:rPr>
              <a:t>也就是说增加新的系统调用时，不修</a:t>
            </a:r>
            <a:endParaRPr lang="zh-CN" altLang="en-US" sz="2000" dirty="0">
              <a:solidFill>
                <a:schemeClr val="tx1"/>
              </a:solidFill>
              <a:latin typeface="+mn-lt"/>
              <a:ea typeface="+mn-lt"/>
              <a:cs typeface="+mn-lt"/>
              <a:sym typeface="Wingdings" panose="05000000000000000000" pitchFamily="2" charset="2"/>
            </a:endParaRPr>
          </a:p>
          <a:p>
            <a:pPr marL="914400" lvl="2" indent="0">
              <a:lnSpc>
                <a:spcPct val="150000"/>
              </a:lnSpc>
              <a:buFont typeface="Wingdings" panose="05000000000000000000" charset="0"/>
              <a:buNone/>
            </a:pPr>
            <a:r>
              <a:rPr lang="en-US" altLang="zh-CN" sz="2000" dirty="0">
                <a:solidFill>
                  <a:schemeClr val="tx1"/>
                </a:solidFill>
                <a:latin typeface="+mn-lt"/>
                <a:ea typeface="+mn-lt"/>
                <a:cs typeface="+mn-lt"/>
                <a:sym typeface="Wingdings" panose="05000000000000000000" pitchFamily="2" charset="2"/>
              </a:rPr>
              <a:t>     </a:t>
            </a:r>
            <a:r>
              <a:rPr lang="zh-CN" altLang="en-US" sz="2000" dirty="0">
                <a:solidFill>
                  <a:schemeClr val="tx1"/>
                </a:solidFill>
                <a:latin typeface="+mn-lt"/>
                <a:ea typeface="+mn-lt"/>
                <a:cs typeface="+mn-lt"/>
                <a:sym typeface="Wingdings" panose="05000000000000000000" pitchFamily="2" charset="2"/>
              </a:rPr>
              <a:t>改</a:t>
            </a:r>
            <a:r>
              <a:rPr lang="zh-CN" altLang="en-US" sz="2000" b="1" dirty="0">
                <a:solidFill>
                  <a:schemeClr val="tx1"/>
                </a:solidFill>
                <a:latin typeface="+mn-lt"/>
                <a:ea typeface="+mn-lt"/>
                <a:cs typeface="+mn-lt"/>
                <a:sym typeface="Wingdings" panose="05000000000000000000" pitchFamily="2" charset="2"/>
              </a:rPr>
              <a:t>usys.S</a:t>
            </a:r>
            <a:r>
              <a:rPr lang="zh-CN" altLang="en-US" sz="2000" dirty="0">
                <a:solidFill>
                  <a:schemeClr val="tx1"/>
                </a:solidFill>
                <a:latin typeface="+mn-lt"/>
                <a:ea typeface="+mn-lt"/>
                <a:cs typeface="+mn-lt"/>
                <a:sym typeface="Wingdings" panose="05000000000000000000" pitchFamily="2" charset="2"/>
              </a:rPr>
              <a:t>，而是参考其他系统调用接口来修改</a:t>
            </a:r>
            <a:r>
              <a:rPr lang="zh-CN" altLang="en-US" sz="2000" b="1" dirty="0">
                <a:solidFill>
                  <a:schemeClr val="tx1"/>
                </a:solidFill>
                <a:latin typeface="+mn-lt"/>
                <a:ea typeface="+mn-lt"/>
                <a:cs typeface="+mn-lt"/>
                <a:sym typeface="Wingdings" panose="05000000000000000000" pitchFamily="2" charset="2"/>
              </a:rPr>
              <a:t>usys.pl</a:t>
            </a:r>
            <a:r>
              <a:rPr lang="en-US" altLang="zh-CN" sz="2000" dirty="0">
                <a:solidFill>
                  <a:schemeClr val="tx1"/>
                </a:solidFill>
                <a:latin typeface="+mn-lt"/>
                <a:ea typeface="+mn-lt"/>
                <a:cs typeface="+mn-lt"/>
                <a:sym typeface="Wingdings" panose="05000000000000000000" pitchFamily="2" charset="2"/>
              </a:rPr>
              <a:t>)</a:t>
            </a:r>
            <a:endParaRPr lang="zh-CN" altLang="en-US" b="1" dirty="0">
              <a:solidFill>
                <a:schemeClr val="tx1"/>
              </a:solidFill>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uservec汇编</a:t>
            </a:r>
            <a:endParaRPr lang="zh-CN" altLang="en-US" sz="2000" b="1" dirty="0">
              <a:solidFill>
                <a:schemeClr val="tx1"/>
              </a:solidFill>
              <a:latin typeface="+mn-lt"/>
              <a:ea typeface="+mn-lt"/>
              <a:cs typeface="+mn-lt"/>
              <a:sym typeface="Wingdings" panose="05000000000000000000" pitchFamily="2" charset="2"/>
            </a:endParaRPr>
          </a:p>
          <a:p>
            <a:pPr marL="1257300" lvl="2" indent="-342900" algn="just">
              <a:lnSpc>
                <a:spcPct val="150000"/>
              </a:lnSpc>
              <a:buFont typeface="Wingdings" panose="05000000000000000000" charset="0"/>
              <a:buChar char="Ø"/>
            </a:pPr>
            <a:r>
              <a:rPr lang="zh-CN" altLang="en-US" sz="2000" dirty="0">
                <a:solidFill>
                  <a:schemeClr val="tx1"/>
                </a:solidFill>
                <a:latin typeface="+mn-lt"/>
                <a:ea typeface="+mn-lt"/>
                <a:cs typeface="+mn-lt"/>
                <a:sym typeface="Wingdings" panose="05000000000000000000" pitchFamily="2" charset="2"/>
              </a:rPr>
              <a:t>当执行</a:t>
            </a:r>
            <a:r>
              <a:rPr lang="zh-CN" altLang="en-US" sz="2000" b="1" dirty="0">
                <a:solidFill>
                  <a:schemeClr val="tx1"/>
                </a:solidFill>
                <a:latin typeface="+mn-lt"/>
                <a:ea typeface="+mn-lt"/>
                <a:cs typeface="+mn-lt"/>
                <a:sym typeface="Wingdings" panose="05000000000000000000" pitchFamily="2" charset="2"/>
              </a:rPr>
              <a:t>ecall</a:t>
            </a:r>
            <a:r>
              <a:rPr lang="zh-CN" altLang="en-US" sz="2000" dirty="0">
                <a:solidFill>
                  <a:schemeClr val="tx1"/>
                </a:solidFill>
                <a:latin typeface="+mn-lt"/>
                <a:ea typeface="+mn-lt"/>
                <a:cs typeface="+mn-lt"/>
                <a:sym typeface="Wingdings" panose="05000000000000000000" pitchFamily="2" charset="2"/>
              </a:rPr>
              <a:t>指令后，内核会切换到supervisor mode。接着，内核执行的第一个指令是来自</a:t>
            </a:r>
            <a:r>
              <a:rPr lang="zh-CN" altLang="en-US" sz="2000" b="1" dirty="0">
                <a:solidFill>
                  <a:schemeClr val="tx1"/>
                </a:solidFill>
                <a:latin typeface="+mn-lt"/>
                <a:ea typeface="+mn-lt"/>
                <a:cs typeface="+mn-lt"/>
                <a:sym typeface="Wingdings" panose="05000000000000000000" pitchFamily="2" charset="2"/>
              </a:rPr>
              <a:t>trampoline.S</a:t>
            </a:r>
            <a:r>
              <a:rPr lang="zh-CN" altLang="en-US" sz="2000" dirty="0">
                <a:solidFill>
                  <a:schemeClr val="tx1"/>
                </a:solidFill>
                <a:latin typeface="+mn-lt"/>
                <a:ea typeface="+mn-lt"/>
                <a:cs typeface="+mn-lt"/>
                <a:sym typeface="Wingdings" panose="05000000000000000000" pitchFamily="2" charset="2"/>
              </a:rPr>
              <a:t>文件的</a:t>
            </a:r>
            <a:r>
              <a:rPr lang="zh-CN" altLang="en-US" sz="2000" b="1" dirty="0">
                <a:solidFill>
                  <a:schemeClr val="tx1"/>
                </a:solidFill>
                <a:latin typeface="+mn-lt"/>
                <a:ea typeface="+mn-lt"/>
                <a:cs typeface="+mn-lt"/>
                <a:sym typeface="Wingdings" panose="05000000000000000000" pitchFamily="2" charset="2"/>
              </a:rPr>
              <a:t>uservec</a:t>
            </a:r>
            <a:r>
              <a:rPr lang="zh-CN" altLang="en-US" sz="2000" dirty="0">
                <a:solidFill>
                  <a:schemeClr val="tx1"/>
                </a:solidFill>
                <a:latin typeface="+mn-lt"/>
                <a:ea typeface="+mn-lt"/>
                <a:cs typeface="+mn-lt"/>
                <a:sym typeface="Wingdings" panose="05000000000000000000" pitchFamily="2" charset="2"/>
              </a:rPr>
              <a:t>汇编函数。</a:t>
            </a:r>
            <a:endParaRPr lang="zh-CN" altLang="en-US" sz="2000" dirty="0">
              <a:solidFill>
                <a:schemeClr val="tx1"/>
              </a:solidFill>
              <a:latin typeface="+mn-lt"/>
              <a:ea typeface="+mn-lt"/>
              <a:cs typeface="+mn-lt"/>
              <a:sym typeface="Wingdings" panose="05000000000000000000" pitchFamily="2" charset="2"/>
            </a:endParaRPr>
          </a:p>
          <a:p>
            <a:pPr marL="457200" lvl="1" indent="0">
              <a:lnSpc>
                <a:spcPct val="150000"/>
              </a:lnSpc>
              <a:buFont typeface="Wingdings" panose="05000000000000000000" pitchFamily="2" charset="2"/>
              <a:buNone/>
            </a:pPr>
            <a:endParaRPr lang="zh-CN" altLang="en-US" sz="2000" b="1"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pic>
        <p:nvPicPr>
          <p:cNvPr id="2" name="图片 1"/>
          <p:cNvPicPr>
            <a:picLocks noChangeAspect="1"/>
          </p:cNvPicPr>
          <p:nvPr/>
        </p:nvPicPr>
        <p:blipFill>
          <a:blip r:embed="rId1"/>
          <a:stretch>
            <a:fillRect/>
          </a:stretch>
        </p:blipFill>
        <p:spPr>
          <a:xfrm>
            <a:off x="2584450" y="2467610"/>
            <a:ext cx="2327275" cy="507365"/>
          </a:xfrm>
          <a:prstGeom prst="rect">
            <a:avLst/>
          </a:prstGeom>
        </p:spPr>
      </p:pic>
      <p:pic>
        <p:nvPicPr>
          <p:cNvPr id="7" name="图片 6"/>
          <p:cNvPicPr>
            <a:picLocks noChangeAspect="1"/>
          </p:cNvPicPr>
          <p:nvPr/>
        </p:nvPicPr>
        <p:blipFill>
          <a:blip r:embed="rId2"/>
          <a:stretch>
            <a:fillRect/>
          </a:stretch>
        </p:blipFill>
        <p:spPr>
          <a:xfrm>
            <a:off x="9554845" y="3597910"/>
            <a:ext cx="1886585" cy="13519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1" y="838200"/>
            <a:ext cx="7574280"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系统调用实例：</a:t>
            </a:r>
            <a:r>
              <a:rPr kumimoji="1" lang="en-US" altLang="zh-CN" b="1" dirty="0">
                <a:solidFill>
                  <a:srgbClr val="990000"/>
                </a:solidFill>
                <a:latin typeface="微软雅黑" panose="020B0503020204020204" pitchFamily="34" charset="-122"/>
                <a:ea typeface="微软雅黑" panose="020B0503020204020204" pitchFamily="34" charset="-122"/>
              </a:rPr>
              <a:t>sleep</a:t>
            </a:r>
            <a:r>
              <a:rPr kumimoji="1" lang="en-US" altLang="zh-CN" b="1" dirty="0">
                <a:solidFill>
                  <a:srgbClr val="990000"/>
                </a:solidFill>
                <a:latin typeface="微软雅黑" panose="020B0503020204020204" pitchFamily="34" charset="-122"/>
                <a:ea typeface="微软雅黑" panose="020B0503020204020204" pitchFamily="34" charset="-122"/>
                <a:sym typeface="+mn-ea"/>
              </a:rPr>
              <a:t>(int)</a:t>
            </a:r>
            <a:endParaRPr kumimoji="1" lang="en-US" altLang="zh-CN" b="1" dirty="0">
              <a:solidFill>
                <a:srgbClr val="99000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usertrap</a:t>
            </a:r>
            <a:endParaRPr lang="zh-CN" altLang="en-US" sz="2000" b="1" dirty="0">
              <a:solidFill>
                <a:schemeClr val="tx1"/>
              </a:solidFill>
              <a:latin typeface="+mn-lt"/>
              <a:ea typeface="+mn-lt"/>
              <a:cs typeface="+mn-lt"/>
              <a:sym typeface="Wingdings" panose="05000000000000000000" pitchFamily="2" charset="2"/>
            </a:endParaRPr>
          </a:p>
          <a:p>
            <a:pPr marL="1257300" lvl="2" indent="-342900">
              <a:lnSpc>
                <a:spcPct val="150000"/>
              </a:lnSpc>
              <a:buFont typeface="Wingdings" panose="05000000000000000000" charset="0"/>
              <a:buChar char="Ø"/>
            </a:pPr>
            <a:r>
              <a:rPr lang="zh-CN" altLang="en-US" sz="2000" dirty="0">
                <a:solidFill>
                  <a:schemeClr val="tx1"/>
                </a:solidFill>
                <a:latin typeface="+mn-lt"/>
                <a:ea typeface="+mn-lt"/>
                <a:cs typeface="+mn-lt"/>
                <a:sym typeface="Wingdings" panose="05000000000000000000" pitchFamily="2" charset="2"/>
              </a:rPr>
              <a:t>代码跳转到了由C语言实现的</a:t>
            </a:r>
            <a:r>
              <a:rPr lang="zh-CN" altLang="en-US" sz="2000" b="1" dirty="0">
                <a:solidFill>
                  <a:schemeClr val="tx1"/>
                </a:solidFill>
                <a:latin typeface="+mn-lt"/>
                <a:ea typeface="+mn-lt"/>
                <a:cs typeface="+mn-lt"/>
                <a:sym typeface="Wingdings" panose="05000000000000000000" pitchFamily="2" charset="2"/>
              </a:rPr>
              <a:t>usertrap</a:t>
            </a:r>
            <a:r>
              <a:rPr lang="zh-CN" altLang="en-US" sz="2000" dirty="0">
                <a:solidFill>
                  <a:schemeClr val="tx1"/>
                </a:solidFill>
                <a:latin typeface="+mn-lt"/>
                <a:ea typeface="+mn-lt"/>
                <a:cs typeface="+mn-lt"/>
                <a:sym typeface="Wingdings" panose="05000000000000000000" pitchFamily="2" charset="2"/>
              </a:rPr>
              <a:t>函数中</a:t>
            </a:r>
            <a:r>
              <a:rPr lang="en-US" altLang="zh-CN" sz="2000" dirty="0">
                <a:solidFill>
                  <a:schemeClr val="tx1"/>
                </a:solidFill>
                <a:latin typeface="+mn-lt"/>
                <a:ea typeface="+mn-lt"/>
                <a:cs typeface="+mn-lt"/>
                <a:sym typeface="Wingdings" panose="05000000000000000000" pitchFamily="2" charset="2"/>
              </a:rPr>
              <a:t>(</a:t>
            </a:r>
            <a:r>
              <a:rPr lang="zh-CN" altLang="en-US" sz="2000" b="1" dirty="0">
                <a:solidFill>
                  <a:schemeClr val="tx1"/>
                </a:solidFill>
                <a:latin typeface="+mn-lt"/>
                <a:ea typeface="+mn-lt"/>
                <a:cs typeface="+mn-lt"/>
                <a:sym typeface="Wingdings" panose="05000000000000000000" pitchFamily="2" charset="2"/>
              </a:rPr>
              <a:t>trap.c</a:t>
            </a:r>
            <a:r>
              <a:rPr lang="en-US" altLang="zh-CN" sz="2000" dirty="0">
                <a:solidFill>
                  <a:schemeClr val="tx1"/>
                </a:solidFill>
                <a:latin typeface="+mn-lt"/>
                <a:ea typeface="+mn-lt"/>
                <a:cs typeface="+mn-lt"/>
                <a:sym typeface="Wingdings" panose="05000000000000000000" pitchFamily="2" charset="2"/>
              </a:rPr>
              <a:t>)</a:t>
            </a:r>
            <a:r>
              <a:rPr lang="zh-CN" altLang="en-US" sz="2000" dirty="0">
                <a:solidFill>
                  <a:schemeClr val="tx1"/>
                </a:solidFill>
                <a:latin typeface="+mn-lt"/>
                <a:ea typeface="+mn-lt"/>
                <a:cs typeface="+mn-lt"/>
                <a:sym typeface="Wingdings" panose="05000000000000000000" pitchFamily="2" charset="2"/>
              </a:rPr>
              <a:t>，判断如果是来自用户的系统调用则执行</a:t>
            </a:r>
            <a:r>
              <a:rPr lang="zh-CN" altLang="en-US" sz="2000" b="1" dirty="0">
                <a:solidFill>
                  <a:schemeClr val="tx1"/>
                </a:solidFill>
                <a:latin typeface="+mn-lt"/>
                <a:ea typeface="+mn-lt"/>
                <a:cs typeface="+mn-lt"/>
                <a:sym typeface="Wingdings" panose="05000000000000000000" pitchFamily="2" charset="2"/>
              </a:rPr>
              <a:t>syscall</a:t>
            </a:r>
            <a:r>
              <a:rPr lang="zh-CN" altLang="en-US" sz="2000" dirty="0">
                <a:solidFill>
                  <a:schemeClr val="tx1"/>
                </a:solidFill>
                <a:latin typeface="+mn-lt"/>
                <a:ea typeface="+mn-lt"/>
                <a:cs typeface="+mn-lt"/>
                <a:sym typeface="Wingdings" panose="05000000000000000000" pitchFamily="2" charset="2"/>
              </a:rPr>
              <a:t>函数。</a:t>
            </a:r>
            <a:endParaRPr lang="zh-CN" altLang="en-US" sz="2000" b="1" dirty="0">
              <a:solidFill>
                <a:schemeClr val="tx1"/>
              </a:solidFill>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syscall</a:t>
            </a:r>
            <a:endParaRPr lang="zh-CN" altLang="en-US" sz="2000" b="1" dirty="0">
              <a:solidFill>
                <a:schemeClr val="tx1"/>
              </a:solidFill>
              <a:latin typeface="+mn-lt"/>
              <a:ea typeface="+mn-lt"/>
              <a:cs typeface="+mn-lt"/>
              <a:sym typeface="Wingdings" panose="05000000000000000000" pitchFamily="2" charset="2"/>
            </a:endParaRPr>
          </a:p>
          <a:p>
            <a:pPr marL="1257300" lvl="2" indent="-342900">
              <a:lnSpc>
                <a:spcPct val="150000"/>
              </a:lnSpc>
              <a:buFont typeface="Wingdings" panose="05000000000000000000" charset="0"/>
              <a:buChar char="Ø"/>
            </a:pPr>
            <a:r>
              <a:rPr sz="2000" b="1" dirty="0">
                <a:solidFill>
                  <a:schemeClr val="tx1"/>
                </a:solidFill>
                <a:latin typeface="+mn-lt"/>
                <a:ea typeface="+mn-lt"/>
                <a:cs typeface="+mn-lt"/>
                <a:sym typeface="Wingdings" panose="05000000000000000000" pitchFamily="2" charset="2"/>
              </a:rPr>
              <a:t>syscall</a:t>
            </a:r>
            <a:r>
              <a:rPr sz="2000" dirty="0">
                <a:solidFill>
                  <a:schemeClr val="tx1"/>
                </a:solidFill>
                <a:latin typeface="+mn-lt"/>
                <a:ea typeface="+mn-lt"/>
                <a:cs typeface="+mn-lt"/>
                <a:sym typeface="Wingdings" panose="05000000000000000000" pitchFamily="2" charset="2"/>
              </a:rPr>
              <a:t>函数里有一个表单，根据传入的代表系统调用的数字进行查找，并执行具体实现系统调用功能的函数。对于这个例子来说，这个函数就是</a:t>
            </a:r>
            <a:r>
              <a:rPr sz="2000" b="1" dirty="0">
                <a:solidFill>
                  <a:schemeClr val="tx1"/>
                </a:solidFill>
                <a:latin typeface="+mn-lt"/>
                <a:ea typeface="+mn-lt"/>
                <a:cs typeface="+mn-lt"/>
                <a:sym typeface="Wingdings" panose="05000000000000000000" pitchFamily="2" charset="2"/>
              </a:rPr>
              <a:t>sys_sleep</a:t>
            </a:r>
            <a:r>
              <a:rPr sz="2000" dirty="0">
                <a:solidFill>
                  <a:schemeClr val="tx1"/>
                </a:solidFill>
                <a:latin typeface="+mn-lt"/>
                <a:ea typeface="+mn-lt"/>
                <a:cs typeface="+mn-lt"/>
                <a:sym typeface="Wingdings" panose="05000000000000000000" pitchFamily="2" charset="2"/>
              </a:rPr>
              <a:t>。</a:t>
            </a:r>
            <a:endParaRPr lang="zh-CN" altLang="en-US" b="1" dirty="0">
              <a:solidFill>
                <a:schemeClr val="tx1"/>
              </a:solidFill>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sys_sleep</a:t>
            </a:r>
            <a:endParaRPr lang="zh-CN" altLang="en-US" sz="2000" b="1" dirty="0">
              <a:solidFill>
                <a:schemeClr val="tx1"/>
              </a:solidFill>
              <a:latin typeface="+mn-lt"/>
              <a:ea typeface="+mn-lt"/>
              <a:cs typeface="+mn-lt"/>
              <a:sym typeface="Wingdings" panose="05000000000000000000" pitchFamily="2" charset="2"/>
            </a:endParaRPr>
          </a:p>
          <a:p>
            <a:pPr marL="1257300" lvl="2" indent="-342900">
              <a:lnSpc>
                <a:spcPct val="150000"/>
              </a:lnSpc>
              <a:buFont typeface="Wingdings" panose="05000000000000000000" charset="0"/>
              <a:buChar char="Ø"/>
            </a:pPr>
            <a:r>
              <a:rPr lang="zh-CN" altLang="en-US" sz="2000" dirty="0">
                <a:solidFill>
                  <a:schemeClr val="tx1"/>
                </a:solidFill>
                <a:latin typeface="+mn-lt"/>
                <a:ea typeface="+mn-lt"/>
                <a:cs typeface="+mn-lt"/>
                <a:sym typeface="Wingdings" panose="05000000000000000000" pitchFamily="2" charset="2"/>
              </a:rPr>
              <a:t>执行</a:t>
            </a:r>
            <a:r>
              <a:rPr lang="zh-CN" altLang="en-US" sz="2000" b="1" dirty="0">
                <a:solidFill>
                  <a:schemeClr val="tx1"/>
                </a:solidFill>
                <a:latin typeface="+mn-lt"/>
                <a:ea typeface="+mn-lt"/>
                <a:cs typeface="+mn-lt"/>
                <a:sym typeface="Wingdings" panose="05000000000000000000" pitchFamily="2" charset="2"/>
              </a:rPr>
              <a:t>kernel/sysproc.c</a:t>
            </a:r>
            <a:r>
              <a:rPr lang="zh-CN" altLang="en-US" sz="2000" dirty="0">
                <a:solidFill>
                  <a:schemeClr val="tx1"/>
                </a:solidFill>
                <a:latin typeface="+mn-lt"/>
                <a:ea typeface="+mn-lt"/>
                <a:cs typeface="+mn-lt"/>
                <a:sym typeface="Wingdings" panose="05000000000000000000" pitchFamily="2" charset="2"/>
              </a:rPr>
              <a:t>中的</a:t>
            </a:r>
            <a:r>
              <a:rPr lang="en-US" altLang="zh-CN" sz="2000" dirty="0">
                <a:solidFill>
                  <a:schemeClr val="tx1"/>
                </a:solidFill>
                <a:latin typeface="+mn-lt"/>
                <a:ea typeface="+mn-lt"/>
                <a:cs typeface="+mn-lt"/>
                <a:sym typeface="Wingdings" panose="05000000000000000000" pitchFamily="2" charset="2"/>
              </a:rPr>
              <a:t> </a:t>
            </a:r>
            <a:r>
              <a:rPr lang="en-US" altLang="zh-CN" sz="2000" b="1" dirty="0">
                <a:solidFill>
                  <a:schemeClr val="tx1"/>
                </a:solidFill>
                <a:latin typeface="+mn-lt"/>
                <a:ea typeface="+mn-lt"/>
                <a:cs typeface="+mn-lt"/>
                <a:sym typeface="Wingdings" panose="05000000000000000000" pitchFamily="2" charset="2"/>
              </a:rPr>
              <a:t>sys_sleep(void) </a:t>
            </a:r>
            <a:r>
              <a:rPr lang="zh-CN" altLang="en-US" sz="2000" dirty="0">
                <a:solidFill>
                  <a:schemeClr val="tx1"/>
                </a:solidFill>
                <a:latin typeface="+mn-lt"/>
                <a:ea typeface="+mn-lt"/>
                <a:cs typeface="+mn-lt"/>
                <a:sym typeface="Wingdings" panose="05000000000000000000" pitchFamily="2" charset="2"/>
              </a:rPr>
              <a:t>函数。</a:t>
            </a:r>
            <a:endParaRPr lang="zh-CN" altLang="en-US" sz="2000" dirty="0">
              <a:solidFill>
                <a:schemeClr val="tx1"/>
              </a:solidFill>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endParaRPr lang="zh-CN" altLang="en-US" sz="2000"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sp>
        <p:nvSpPr>
          <p:cNvPr id="16" name="文本框 15"/>
          <p:cNvSpPr txBox="1"/>
          <p:nvPr/>
        </p:nvSpPr>
        <p:spPr>
          <a:xfrm>
            <a:off x="7910830" y="5730875"/>
            <a:ext cx="3534410"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5</a:t>
            </a:r>
            <a:r>
              <a:rPr lang="zh-CN" altLang="en-US" sz="1400" b="1" dirty="0">
                <a:latin typeface="Times New Roman" panose="02020603050405020304" pitchFamily="18" charset="0"/>
                <a:ea typeface="微软雅黑" panose="020B0503020204020204" pitchFamily="34" charset="-122"/>
              </a:rPr>
              <a:t>：</a:t>
            </a:r>
            <a:r>
              <a:rPr lang="en-US" altLang="zh-CN" sz="1400" dirty="0">
                <a:ea typeface="+mn-lt"/>
                <a:cs typeface="+mn-lt"/>
                <a:sym typeface="Wingdings" panose="05000000000000000000" pitchFamily="2" charset="2"/>
              </a:rPr>
              <a:t>kernel</a:t>
            </a:r>
            <a:r>
              <a:rPr lang="zh-CN" altLang="en-US" sz="1400" dirty="0">
                <a:ea typeface="+mn-lt"/>
                <a:cs typeface="+mn-lt"/>
                <a:sym typeface="Wingdings" panose="05000000000000000000" pitchFamily="2" charset="2"/>
              </a:rPr>
              <a:t>/sys</a:t>
            </a:r>
            <a:r>
              <a:rPr lang="en-US" altLang="zh-CN" sz="1400" dirty="0">
                <a:ea typeface="+mn-lt"/>
                <a:cs typeface="+mn-lt"/>
                <a:sym typeface="Wingdings" panose="05000000000000000000" pitchFamily="2" charset="2"/>
              </a:rPr>
              <a:t>proc</a:t>
            </a:r>
            <a:r>
              <a:rPr lang="zh-CN" altLang="en-US" sz="1400" dirty="0">
                <a:ea typeface="+mn-lt"/>
                <a:cs typeface="+mn-lt"/>
                <a:sym typeface="Wingdings" panose="05000000000000000000" pitchFamily="2" charset="2"/>
              </a:rPr>
              <a:t>.</a:t>
            </a:r>
            <a:r>
              <a:rPr lang="en-US" altLang="zh-CN" sz="1400" dirty="0">
                <a:ea typeface="+mn-lt"/>
                <a:cs typeface="+mn-lt"/>
                <a:sym typeface="Wingdings" panose="05000000000000000000" pitchFamily="2" charset="2"/>
              </a:rPr>
              <a:t>c</a:t>
            </a:r>
            <a:r>
              <a:rPr lang="zh-CN" altLang="en-US" sz="1400" dirty="0">
                <a:ea typeface="+mn-lt"/>
                <a:cs typeface="+mn-lt"/>
                <a:sym typeface="Wingdings" panose="05000000000000000000" pitchFamily="2" charset="2"/>
              </a:rPr>
              <a:t>中</a:t>
            </a:r>
            <a:r>
              <a:rPr lang="en-US" altLang="zh-CN" sz="1400" dirty="0">
                <a:ea typeface="+mn-lt"/>
                <a:cs typeface="+mn-lt"/>
                <a:sym typeface="Wingdings" panose="05000000000000000000" pitchFamily="2" charset="2"/>
              </a:rPr>
              <a:t>sys_sleep</a:t>
            </a:r>
            <a:r>
              <a:rPr lang="zh-CN" altLang="en-US" sz="1400" dirty="0">
                <a:ea typeface="+mn-lt"/>
                <a:cs typeface="+mn-lt"/>
                <a:sym typeface="Wingdings" panose="05000000000000000000" pitchFamily="2" charset="2"/>
              </a:rPr>
              <a:t>的实现</a:t>
            </a:r>
            <a:endParaRPr lang="zh-CN" altLang="en-US" sz="1400" dirty="0">
              <a:latin typeface="Times New Roman" panose="02020603050405020304" pitchFamily="18" charset="0"/>
              <a:ea typeface="+mn-lt"/>
              <a:cs typeface="+mn-lt"/>
              <a:sym typeface="Wingdings" panose="05000000000000000000" pitchFamily="2" charset="2"/>
            </a:endParaRPr>
          </a:p>
        </p:txBody>
      </p:sp>
      <p:pic>
        <p:nvPicPr>
          <p:cNvPr id="4" name="图片 3"/>
          <p:cNvPicPr>
            <a:picLocks noChangeAspect="1"/>
          </p:cNvPicPr>
          <p:nvPr/>
        </p:nvPicPr>
        <p:blipFill>
          <a:blip r:embed="rId1"/>
          <a:stretch>
            <a:fillRect/>
          </a:stretch>
        </p:blipFill>
        <p:spPr>
          <a:xfrm>
            <a:off x="7574280" y="1236345"/>
            <a:ext cx="4432300" cy="41814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7396480"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系统调用实例：</a:t>
            </a:r>
            <a:r>
              <a:rPr kumimoji="1" lang="en-US" altLang="zh-CN" b="1" dirty="0">
                <a:solidFill>
                  <a:srgbClr val="990000"/>
                </a:solidFill>
                <a:latin typeface="微软雅黑" panose="020B0503020204020204" pitchFamily="34" charset="-122"/>
                <a:ea typeface="微软雅黑" panose="020B0503020204020204" pitchFamily="34" charset="-122"/>
              </a:rPr>
              <a:t>sleep</a:t>
            </a:r>
            <a:r>
              <a:rPr kumimoji="1" lang="en-US" altLang="zh-CN" b="1" dirty="0">
                <a:solidFill>
                  <a:srgbClr val="990000"/>
                </a:solidFill>
                <a:latin typeface="微软雅黑" panose="020B0503020204020204" pitchFamily="34" charset="-122"/>
                <a:ea typeface="微软雅黑" panose="020B0503020204020204" pitchFamily="34" charset="-122"/>
                <a:sym typeface="+mn-ea"/>
              </a:rPr>
              <a:t>(int)</a:t>
            </a:r>
            <a:endParaRPr kumimoji="1" lang="en-US" altLang="zh-CN" b="1" dirty="0">
              <a:solidFill>
                <a:srgbClr val="99000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执行完后返回用户空间</a:t>
            </a:r>
            <a:endParaRPr lang="zh-CN" altLang="en-US" sz="2000" b="1" dirty="0">
              <a:solidFill>
                <a:schemeClr val="tx1"/>
              </a:solidFill>
              <a:latin typeface="+mn-lt"/>
              <a:ea typeface="+mn-lt"/>
              <a:cs typeface="+mn-lt"/>
              <a:sym typeface="Wingdings" panose="05000000000000000000" pitchFamily="2" charset="2"/>
            </a:endParaRPr>
          </a:p>
          <a:p>
            <a:pPr marL="1257300" lvl="2" indent="-342900">
              <a:lnSpc>
                <a:spcPct val="150000"/>
              </a:lnSpc>
              <a:buFont typeface="Wingdings" panose="05000000000000000000" charset="0"/>
              <a:buChar char="Ø"/>
            </a:pPr>
            <a:r>
              <a:rPr lang="zh-CN" altLang="en-US" sz="2000" dirty="0">
                <a:solidFill>
                  <a:schemeClr val="tx1"/>
                </a:solidFill>
                <a:latin typeface="+mn-lt"/>
                <a:ea typeface="+mn-lt"/>
                <a:cs typeface="+mn-lt"/>
                <a:sym typeface="Wingdings" panose="05000000000000000000" pitchFamily="2" charset="2"/>
              </a:rPr>
              <a:t>当</a:t>
            </a:r>
            <a:r>
              <a:rPr lang="zh-CN" altLang="en-US" sz="2000" b="1" dirty="0">
                <a:solidFill>
                  <a:schemeClr val="tx1"/>
                </a:solidFill>
                <a:latin typeface="+mn-lt"/>
                <a:ea typeface="+mn-lt"/>
                <a:cs typeface="+mn-lt"/>
                <a:sym typeface="Wingdings" panose="05000000000000000000" pitchFamily="2" charset="2"/>
              </a:rPr>
              <a:t>sleep</a:t>
            </a:r>
            <a:r>
              <a:rPr lang="zh-CN" altLang="en-US" sz="2000" dirty="0">
                <a:solidFill>
                  <a:schemeClr val="tx1"/>
                </a:solidFill>
                <a:latin typeface="+mn-lt"/>
                <a:ea typeface="+mn-lt"/>
                <a:cs typeface="+mn-lt"/>
                <a:sym typeface="Wingdings" panose="05000000000000000000" pitchFamily="2" charset="2"/>
              </a:rPr>
              <a:t>完成之后，返回至</a:t>
            </a:r>
            <a:r>
              <a:rPr lang="zh-CN" altLang="en-US" sz="2000" b="1" dirty="0">
                <a:solidFill>
                  <a:schemeClr val="tx1"/>
                </a:solidFill>
                <a:latin typeface="+mn-lt"/>
                <a:ea typeface="+mn-lt"/>
                <a:cs typeface="+mn-lt"/>
                <a:sym typeface="Wingdings" panose="05000000000000000000" pitchFamily="2" charset="2"/>
              </a:rPr>
              <a:t>syscall</a:t>
            </a:r>
            <a:r>
              <a:rPr lang="zh-CN" altLang="en-US" sz="2000" dirty="0">
                <a:solidFill>
                  <a:schemeClr val="tx1"/>
                </a:solidFill>
                <a:latin typeface="+mn-lt"/>
                <a:ea typeface="+mn-lt"/>
                <a:cs typeface="+mn-lt"/>
                <a:sym typeface="Wingdings" panose="05000000000000000000" pitchFamily="2" charset="2"/>
              </a:rPr>
              <a:t>函数。在</a:t>
            </a:r>
            <a:r>
              <a:rPr lang="zh-CN" altLang="en-US" sz="2000" b="1" dirty="0">
                <a:solidFill>
                  <a:schemeClr val="tx1"/>
                </a:solidFill>
                <a:latin typeface="+mn-lt"/>
                <a:ea typeface="+mn-lt"/>
                <a:cs typeface="+mn-lt"/>
                <a:sym typeface="Wingdings" panose="05000000000000000000" pitchFamily="2" charset="2"/>
              </a:rPr>
              <a:t>syscall</a:t>
            </a:r>
            <a:r>
              <a:rPr lang="zh-CN" altLang="en-US" sz="2000" dirty="0">
                <a:solidFill>
                  <a:schemeClr val="tx1"/>
                </a:solidFill>
                <a:latin typeface="+mn-lt"/>
                <a:ea typeface="+mn-lt"/>
                <a:cs typeface="+mn-lt"/>
                <a:sym typeface="Wingdings" panose="05000000000000000000" pitchFamily="2" charset="2"/>
              </a:rPr>
              <a:t>函数中调用</a:t>
            </a:r>
            <a:r>
              <a:rPr lang="zh-CN" altLang="en-US" sz="2000" b="1" dirty="0">
                <a:solidFill>
                  <a:schemeClr val="tx1"/>
                </a:solidFill>
                <a:latin typeface="+mn-lt"/>
                <a:ea typeface="+mn-lt"/>
                <a:cs typeface="+mn-lt"/>
                <a:sym typeface="Wingdings" panose="05000000000000000000" pitchFamily="2" charset="2"/>
              </a:rPr>
              <a:t>usertrapret</a:t>
            </a:r>
            <a:r>
              <a:rPr lang="zh-CN" altLang="en-US" sz="2000" dirty="0">
                <a:solidFill>
                  <a:schemeClr val="tx1"/>
                </a:solidFill>
                <a:latin typeface="+mn-lt"/>
                <a:ea typeface="+mn-lt"/>
                <a:cs typeface="+mn-lt"/>
                <a:sym typeface="Wingdings" panose="05000000000000000000" pitchFamily="2" charset="2"/>
              </a:rPr>
              <a:t>，用于完成部分方便在C代码实现的返回用户空间的工作。还有一些工作只能在汇编语言完成，即</a:t>
            </a:r>
            <a:r>
              <a:rPr lang="zh-CN" altLang="en-US" sz="2000" b="1" dirty="0">
                <a:solidFill>
                  <a:schemeClr val="tx1"/>
                </a:solidFill>
                <a:latin typeface="+mn-lt"/>
                <a:ea typeface="+mn-lt"/>
                <a:cs typeface="+mn-lt"/>
                <a:sym typeface="Wingdings" panose="05000000000000000000" pitchFamily="2" charset="2"/>
              </a:rPr>
              <a:t>trampoline.s</a:t>
            </a:r>
            <a:r>
              <a:rPr lang="zh-CN" altLang="en-US" sz="2000" dirty="0">
                <a:solidFill>
                  <a:schemeClr val="tx1"/>
                </a:solidFill>
                <a:latin typeface="+mn-lt"/>
                <a:ea typeface="+mn-lt"/>
                <a:cs typeface="+mn-lt"/>
                <a:sym typeface="Wingdings" panose="05000000000000000000" pitchFamily="2" charset="2"/>
              </a:rPr>
              <a:t>中的</a:t>
            </a:r>
            <a:r>
              <a:rPr lang="zh-CN" altLang="en-US" sz="2000" b="1" dirty="0">
                <a:solidFill>
                  <a:schemeClr val="tx1"/>
                </a:solidFill>
                <a:latin typeface="+mn-lt"/>
                <a:ea typeface="+mn-lt"/>
                <a:cs typeface="+mn-lt"/>
                <a:sym typeface="Wingdings" panose="05000000000000000000" pitchFamily="2" charset="2"/>
              </a:rPr>
              <a:t>userret</a:t>
            </a:r>
            <a:r>
              <a:rPr lang="zh-CN" altLang="en-US" sz="2000" dirty="0">
                <a:solidFill>
                  <a:schemeClr val="tx1"/>
                </a:solidFill>
                <a:latin typeface="+mn-lt"/>
                <a:ea typeface="+mn-lt"/>
                <a:cs typeface="+mn-lt"/>
                <a:sym typeface="Wingdings" panose="05000000000000000000" pitchFamily="2" charset="2"/>
              </a:rPr>
              <a:t>函数。最后，这个函数执行</a:t>
            </a:r>
            <a:r>
              <a:rPr lang="zh-CN" altLang="en-US" sz="2000" b="1" dirty="0">
                <a:solidFill>
                  <a:schemeClr val="tx1"/>
                </a:solidFill>
                <a:latin typeface="+mn-lt"/>
                <a:ea typeface="+mn-lt"/>
                <a:cs typeface="+mn-lt"/>
                <a:sym typeface="Wingdings" panose="05000000000000000000" pitchFamily="2" charset="2"/>
              </a:rPr>
              <a:t>sret</a:t>
            </a:r>
            <a:r>
              <a:rPr lang="zh-CN" altLang="en-US" sz="2000" dirty="0">
                <a:solidFill>
                  <a:schemeClr val="tx1"/>
                </a:solidFill>
                <a:latin typeface="+mn-lt"/>
                <a:ea typeface="+mn-lt"/>
                <a:cs typeface="+mn-lt"/>
                <a:sym typeface="Wingdings" panose="05000000000000000000" pitchFamily="2" charset="2"/>
              </a:rPr>
              <a:t>指令，</a:t>
            </a:r>
            <a:r>
              <a:rPr lang="zh-CN" altLang="en-US" sz="2000" b="1" dirty="0">
                <a:solidFill>
                  <a:schemeClr val="tx1"/>
                </a:solidFill>
                <a:latin typeface="+mn-lt"/>
                <a:ea typeface="+mn-lt"/>
                <a:cs typeface="+mn-lt"/>
                <a:sym typeface="Wingdings" panose="05000000000000000000" pitchFamily="2" charset="2"/>
              </a:rPr>
              <a:t>切回用户空间</a:t>
            </a:r>
            <a:r>
              <a:rPr lang="zh-CN" altLang="en-US" sz="2000" dirty="0">
                <a:solidFill>
                  <a:schemeClr val="tx1"/>
                </a:solidFill>
                <a:latin typeface="+mn-lt"/>
                <a:ea typeface="+mn-lt"/>
                <a:cs typeface="+mn-lt"/>
                <a:sym typeface="Wingdings" panose="05000000000000000000" pitchFamily="2" charset="2"/>
              </a:rPr>
              <a:t>，执行用户空间</a:t>
            </a:r>
            <a:r>
              <a:rPr lang="zh-CN" altLang="en-US" sz="2000" b="1" dirty="0">
                <a:solidFill>
                  <a:schemeClr val="tx1"/>
                </a:solidFill>
                <a:latin typeface="+mn-lt"/>
                <a:ea typeface="+mn-lt"/>
                <a:cs typeface="+mn-lt"/>
                <a:sym typeface="Wingdings" panose="05000000000000000000" pitchFamily="2" charset="2"/>
              </a:rPr>
              <a:t>ecall</a:t>
            </a:r>
            <a:r>
              <a:rPr lang="zh-CN" altLang="en-US" sz="2000" dirty="0">
                <a:solidFill>
                  <a:schemeClr val="tx1"/>
                </a:solidFill>
                <a:latin typeface="+mn-lt"/>
                <a:ea typeface="+mn-lt"/>
                <a:cs typeface="+mn-lt"/>
                <a:sym typeface="Wingdings" panose="05000000000000000000" pitchFamily="2" charset="2"/>
              </a:rPr>
              <a:t>的下一条指令</a:t>
            </a:r>
            <a:r>
              <a:rPr lang="zh-CN" altLang="en-US" sz="2000" b="1" dirty="0">
                <a:solidFill>
                  <a:schemeClr val="tx1"/>
                </a:solidFill>
                <a:latin typeface="+mn-lt"/>
                <a:ea typeface="+mn-lt"/>
                <a:cs typeface="+mn-lt"/>
                <a:sym typeface="Wingdings" panose="05000000000000000000" pitchFamily="2" charset="2"/>
              </a:rPr>
              <a:t>ret</a:t>
            </a:r>
            <a:r>
              <a:rPr lang="zh-CN" altLang="en-US" sz="2000" dirty="0">
                <a:solidFill>
                  <a:schemeClr val="tx1"/>
                </a:solidFill>
                <a:latin typeface="+mn-lt"/>
                <a:ea typeface="+mn-lt"/>
                <a:cs typeface="+mn-lt"/>
                <a:sym typeface="Wingdings" panose="05000000000000000000" pitchFamily="2" charset="2"/>
              </a:rPr>
              <a:t>。当</a:t>
            </a:r>
            <a:r>
              <a:rPr lang="zh-CN" altLang="en-US" sz="2000" b="1" dirty="0">
                <a:solidFill>
                  <a:schemeClr val="tx1"/>
                </a:solidFill>
                <a:latin typeface="+mn-lt"/>
                <a:ea typeface="+mn-lt"/>
                <a:cs typeface="+mn-lt"/>
                <a:sym typeface="Wingdings" panose="05000000000000000000" pitchFamily="2" charset="2"/>
              </a:rPr>
              <a:t>ret</a:t>
            </a:r>
            <a:r>
              <a:rPr lang="zh-CN" altLang="en-US" sz="2000" dirty="0">
                <a:solidFill>
                  <a:schemeClr val="tx1"/>
                </a:solidFill>
                <a:latin typeface="+mn-lt"/>
                <a:ea typeface="+mn-lt"/>
                <a:cs typeface="+mn-lt"/>
                <a:sym typeface="Wingdings" panose="05000000000000000000" pitchFamily="2" charset="2"/>
              </a:rPr>
              <a:t>执行完后，返回调用函数的位置，执行用户程序的下一条语句。</a:t>
            </a:r>
            <a:endParaRPr lang="zh-CN" altLang="en-US" sz="2000" dirty="0">
              <a:solidFill>
                <a:schemeClr val="tx1"/>
              </a:solidFill>
              <a:latin typeface="+mn-lt"/>
              <a:ea typeface="+mn-lt"/>
              <a:cs typeface="+mn-lt"/>
              <a:sym typeface="Wingdings" panose="05000000000000000000" pitchFamily="2" charset="2"/>
            </a:endParaRPr>
          </a:p>
          <a:p>
            <a:pPr marL="914400" lvl="2" indent="0">
              <a:lnSpc>
                <a:spcPct val="150000"/>
              </a:lnSpc>
              <a:buFont typeface="Wingdings" panose="05000000000000000000" charset="0"/>
              <a:buNone/>
            </a:pPr>
            <a:r>
              <a:rPr lang="zh-CN" altLang="en-US" sz="2000" b="1" dirty="0">
                <a:solidFill>
                  <a:srgbClr val="990000"/>
                </a:solidFill>
                <a:latin typeface="+mn-lt"/>
                <a:ea typeface="+mn-lt"/>
                <a:cs typeface="+mn-lt"/>
                <a:sym typeface="Wingdings" panose="05000000000000000000" pitchFamily="2" charset="2"/>
              </a:rPr>
              <a:t>以上，即是系统调用过程中大致的代码执行流程。</a:t>
            </a:r>
            <a:endParaRPr lang="zh-CN" altLang="en-US" sz="2000" b="1" dirty="0">
              <a:solidFill>
                <a:srgbClr val="990000"/>
              </a:solidFill>
              <a:latin typeface="+mn-lt"/>
              <a:ea typeface="+mn-lt"/>
              <a:cs typeface="+mn-lt"/>
              <a:sym typeface="Wingdings" panose="05000000000000000000" pitchFamily="2" charset="2"/>
            </a:endParaRPr>
          </a:p>
        </p:txBody>
      </p:sp>
      <p:sp>
        <p:nvSpPr>
          <p:cNvPr id="3" name="标题 2"/>
          <p:cNvSpPr>
            <a:spLocks noGrp="1"/>
          </p:cNvSpPr>
          <p:nvPr>
            <p:ph type="title"/>
          </p:nvPr>
        </p:nvSpPr>
        <p:spPr>
          <a:xfrm>
            <a:off x="968375" y="149225"/>
            <a:ext cx="8391525" cy="688975"/>
          </a:xfrm>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pic>
        <p:nvPicPr>
          <p:cNvPr id="101" name="图片 100"/>
          <p:cNvPicPr/>
          <p:nvPr/>
        </p:nvPicPr>
        <p:blipFill>
          <a:blip r:embed="rId1"/>
          <a:stretch>
            <a:fillRect/>
          </a:stretch>
        </p:blipFill>
        <p:spPr>
          <a:xfrm>
            <a:off x="7325995" y="837565"/>
            <a:ext cx="4777740" cy="5377180"/>
          </a:xfrm>
          <a:prstGeom prst="rect">
            <a:avLst/>
          </a:prstGeom>
          <a:noFill/>
          <a:ln w="9525">
            <a:noFill/>
          </a:ln>
        </p:spPr>
      </p:pic>
      <p:sp>
        <p:nvSpPr>
          <p:cNvPr id="16" name="文本框 15"/>
          <p:cNvSpPr txBox="1"/>
          <p:nvPr/>
        </p:nvSpPr>
        <p:spPr>
          <a:xfrm>
            <a:off x="8183880" y="6263640"/>
            <a:ext cx="3534410"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6</a:t>
            </a:r>
            <a:r>
              <a:rPr lang="zh-CN" altLang="en-US" sz="1400" b="1" dirty="0">
                <a:latin typeface="Times New Roman" panose="02020603050405020304" pitchFamily="18" charset="0"/>
                <a:ea typeface="微软雅黑" panose="020B0503020204020204" pitchFamily="34" charset="-122"/>
              </a:rPr>
              <a:t>：系统调用流程概览</a:t>
            </a:r>
            <a:r>
              <a:rPr lang="en-US" altLang="zh-CN" sz="1400" b="1" dirty="0">
                <a:latin typeface="Times New Roman" panose="02020603050405020304" pitchFamily="18" charset="0"/>
                <a:ea typeface="微软雅黑" panose="020B0503020204020204" pitchFamily="34" charset="-122"/>
              </a:rPr>
              <a:t>(sleep)</a:t>
            </a:r>
            <a:endParaRPr lang="en-US" altLang="zh-CN" sz="1400" b="1" dirty="0">
              <a:latin typeface="Times New Roman" panose="02020603050405020304" pitchFamily="18" charset="0"/>
              <a:ea typeface="微软雅黑" panose="020B0503020204020204" pitchFamily="34" charset="-122"/>
              <a:cs typeface="+mn-lt"/>
              <a:sym typeface="Wingdings" panose="05000000000000000000" pitchFamily="2" charset="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sp>
        <p:nvSpPr>
          <p:cNvPr id="8" name="内容占位符 7"/>
          <p:cNvSpPr>
            <a:spLocks noGrp="1"/>
          </p:cNvSpPr>
          <p:nvPr>
            <p:ph idx="1"/>
          </p:nvPr>
        </p:nvSpPr>
        <p:spPr>
          <a:xfrm>
            <a:off x="0" y="838200"/>
            <a:ext cx="7245350" cy="6019800"/>
          </a:xfrm>
        </p:spPr>
        <p:txBody>
          <a:bodyPr/>
          <a:lstStyle/>
          <a:p>
            <a:pPr marL="457200" lvl="1" indent="0">
              <a:lnSpc>
                <a:spcPct val="150000"/>
              </a:lnSpc>
              <a:buFont typeface="Wingdings" panose="05000000000000000000" pitchFamily="2" charset="2"/>
              <a:buNone/>
            </a:pPr>
            <a:r>
              <a:rPr kumimoji="1" lang="en-US" altLang="zh-CN" b="1" dirty="0">
                <a:solidFill>
                  <a:srgbClr val="990000"/>
                </a:solidFill>
                <a:latin typeface="微软雅黑" panose="020B0503020204020204" pitchFamily="34" charset="-122"/>
                <a:ea typeface="微软雅黑" panose="020B0503020204020204" pitchFamily="34" charset="-122"/>
              </a:rPr>
              <a:t>trapframe</a:t>
            </a:r>
            <a:endParaRPr kumimoji="1" lang="zh-CN" altLang="en-US" b="1" dirty="0">
              <a:solidFill>
                <a:srgbClr val="99000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charset="0"/>
              <a:buChar char="q"/>
            </a:pPr>
            <a:r>
              <a:rPr lang="zh-CN" altLang="en-US" sz="2000" dirty="0">
                <a:solidFill>
                  <a:schemeClr val="tx1"/>
                </a:solidFill>
                <a:latin typeface="+mn-lt"/>
                <a:ea typeface="+mn-lt"/>
                <a:cs typeface="+mn-lt"/>
                <a:sym typeface="Wingdings" panose="05000000000000000000" pitchFamily="2" charset="2"/>
              </a:rPr>
              <a:t>我们知道，当进程</a:t>
            </a:r>
            <a:r>
              <a:rPr lang="zh-CN" altLang="en-US" sz="2000" b="1" dirty="0">
                <a:solidFill>
                  <a:schemeClr val="tx1"/>
                </a:solidFill>
                <a:latin typeface="+mn-lt"/>
                <a:ea typeface="+mn-lt"/>
                <a:cs typeface="+mn-lt"/>
                <a:sym typeface="Wingdings" panose="05000000000000000000" pitchFamily="2" charset="2"/>
              </a:rPr>
              <a:t>从用户态陷入内核</a:t>
            </a:r>
            <a:r>
              <a:rPr lang="zh-CN" altLang="en-US" sz="2000" dirty="0">
                <a:solidFill>
                  <a:schemeClr val="tx1"/>
                </a:solidFill>
                <a:latin typeface="+mn-lt"/>
                <a:ea typeface="+mn-lt"/>
                <a:cs typeface="+mn-lt"/>
                <a:sym typeface="Wingdings" panose="05000000000000000000" pitchFamily="2" charset="2"/>
              </a:rPr>
              <a:t>时，由于内核态也需要用到</a:t>
            </a:r>
            <a:r>
              <a:rPr lang="zh-CN" altLang="en-US" sz="2000" b="1" dirty="0">
                <a:solidFill>
                  <a:schemeClr val="tx1"/>
                </a:solidFill>
                <a:latin typeface="+mn-lt"/>
                <a:ea typeface="+mn-lt"/>
                <a:cs typeface="+mn-lt"/>
                <a:sym typeface="Wingdings" panose="05000000000000000000" pitchFamily="2" charset="2"/>
              </a:rPr>
              <a:t>寄存器</a:t>
            </a:r>
            <a:r>
              <a:rPr lang="zh-CN" altLang="en-US" sz="2000" dirty="0">
                <a:solidFill>
                  <a:schemeClr val="tx1"/>
                </a:solidFill>
                <a:latin typeface="+mn-lt"/>
                <a:ea typeface="+mn-lt"/>
                <a:cs typeface="+mn-lt"/>
                <a:sym typeface="Wingdings" panose="05000000000000000000" pitchFamily="2" charset="2"/>
              </a:rPr>
              <a:t>，因此需要将用户态的上下文（寄存器信息）保存起来，以便于后面返回用户态时重新恢复这些上下文（寄存器）。</a:t>
            </a:r>
            <a:endParaRPr lang="zh-CN" altLang="en-US" sz="2000" dirty="0">
              <a:solidFill>
                <a:schemeClr val="tx1"/>
              </a:solidFill>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dirty="0">
                <a:solidFill>
                  <a:schemeClr val="tx1"/>
                </a:solidFill>
                <a:latin typeface="+mn-lt"/>
                <a:ea typeface="+mn-lt"/>
                <a:cs typeface="+mn-lt"/>
                <a:sym typeface="Wingdings" panose="05000000000000000000" pitchFamily="2" charset="2"/>
              </a:rPr>
              <a:t>右图是xv6对</a:t>
            </a:r>
            <a:r>
              <a:rPr lang="zh-CN" altLang="en-US" sz="2000" b="1" dirty="0">
                <a:solidFill>
                  <a:schemeClr val="tx1"/>
                </a:solidFill>
                <a:latin typeface="+mn-lt"/>
                <a:ea typeface="+mn-lt"/>
                <a:cs typeface="+mn-lt"/>
                <a:sym typeface="Wingdings" panose="05000000000000000000" pitchFamily="2" charset="2"/>
              </a:rPr>
              <a:t>trapframe</a:t>
            </a:r>
            <a:r>
              <a:rPr lang="zh-CN" altLang="en-US" sz="2000" dirty="0">
                <a:solidFill>
                  <a:schemeClr val="tx1"/>
                </a:solidFill>
                <a:latin typeface="+mn-lt"/>
                <a:ea typeface="+mn-lt"/>
                <a:cs typeface="+mn-lt"/>
                <a:sym typeface="Wingdings" panose="05000000000000000000" pitchFamily="2" charset="2"/>
              </a:rPr>
              <a:t>结构体的定义，我们可以看见，</a:t>
            </a:r>
            <a:r>
              <a:rPr lang="zh-CN" altLang="en-US" sz="2000" b="1" dirty="0">
                <a:solidFill>
                  <a:schemeClr val="tx1"/>
                </a:solidFill>
                <a:latin typeface="+mn-lt"/>
                <a:ea typeface="+mn-lt"/>
                <a:cs typeface="+mn-lt"/>
                <a:sym typeface="Wingdings" panose="05000000000000000000" pitchFamily="2" charset="2"/>
              </a:rPr>
              <a:t>trapframe</a:t>
            </a:r>
            <a:r>
              <a:rPr lang="zh-CN" altLang="en-US" sz="2000" dirty="0">
                <a:solidFill>
                  <a:schemeClr val="tx1"/>
                </a:solidFill>
                <a:latin typeface="+mn-lt"/>
                <a:ea typeface="+mn-lt"/>
                <a:cs typeface="+mn-lt"/>
                <a:sym typeface="Wingdings" panose="05000000000000000000" pitchFamily="2" charset="2"/>
              </a:rPr>
              <a:t>当中包含内核的栈指针（kernel_sp）、内核页表指针（kernel_satp）等内核态相关的信息。</a:t>
            </a:r>
            <a:endParaRPr lang="zh-CN" altLang="en-US" sz="2000" dirty="0">
              <a:solidFill>
                <a:schemeClr val="tx1"/>
              </a:solidFill>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dirty="0">
                <a:solidFill>
                  <a:schemeClr val="tx1"/>
                </a:solidFill>
                <a:latin typeface="+mn-lt"/>
                <a:ea typeface="+mn-lt"/>
                <a:cs typeface="+mn-lt"/>
                <a:sym typeface="Wingdings" panose="05000000000000000000" pitchFamily="2" charset="2"/>
              </a:rPr>
              <a:t>同时，</a:t>
            </a:r>
            <a:r>
              <a:rPr lang="zh-CN" altLang="en-US" sz="2000" b="1" dirty="0">
                <a:solidFill>
                  <a:schemeClr val="tx1"/>
                </a:solidFill>
                <a:latin typeface="+mn-lt"/>
                <a:ea typeface="+mn-lt"/>
                <a:cs typeface="+mn-lt"/>
                <a:sym typeface="Wingdings" panose="05000000000000000000" pitchFamily="2" charset="2"/>
              </a:rPr>
              <a:t>trapframe</a:t>
            </a:r>
            <a:r>
              <a:rPr lang="zh-CN" altLang="en-US" sz="2000" dirty="0">
                <a:solidFill>
                  <a:schemeClr val="tx1"/>
                </a:solidFill>
                <a:latin typeface="+mn-lt"/>
                <a:ea typeface="+mn-lt"/>
                <a:cs typeface="+mn-lt"/>
                <a:sym typeface="Wingdings" panose="05000000000000000000" pitchFamily="2" charset="2"/>
              </a:rPr>
              <a:t>也保存了</a:t>
            </a:r>
            <a:r>
              <a:rPr lang="zh-CN" altLang="en-US" sz="2000" b="1" dirty="0">
                <a:solidFill>
                  <a:schemeClr val="tx1"/>
                </a:solidFill>
                <a:latin typeface="+mn-lt"/>
                <a:ea typeface="+mn-lt"/>
                <a:cs typeface="+mn-lt"/>
                <a:sym typeface="Wingdings" panose="05000000000000000000" pitchFamily="2" charset="2"/>
              </a:rPr>
              <a:t>全套的用户态寄存器</a:t>
            </a:r>
            <a:r>
              <a:rPr lang="zh-CN" altLang="en-US" sz="2000" dirty="0">
                <a:solidFill>
                  <a:schemeClr val="tx1"/>
                </a:solidFill>
                <a:latin typeface="+mn-lt"/>
                <a:ea typeface="+mn-lt"/>
                <a:cs typeface="+mn-lt"/>
                <a:sym typeface="Wingdings" panose="05000000000000000000" pitchFamily="2" charset="2"/>
              </a:rPr>
              <a:t>信息，以及用户态陷入内核时对应的PC值（epc） 。</a:t>
            </a:r>
            <a:endParaRPr lang="zh-CN" altLang="en-US" sz="2000" dirty="0">
              <a:solidFill>
                <a:schemeClr val="tx1"/>
              </a:solidFill>
              <a:latin typeface="+mn-lt"/>
              <a:ea typeface="+mn-lt"/>
              <a:cs typeface="+mn-lt"/>
              <a:sym typeface="Wingdings" panose="05000000000000000000" pitchFamily="2" charset="2"/>
            </a:endParaRPr>
          </a:p>
          <a:p>
            <a:pPr marL="1257300" lvl="2" indent="-342900">
              <a:lnSpc>
                <a:spcPct val="150000"/>
              </a:lnSpc>
              <a:buFont typeface="Wingdings" panose="05000000000000000000" charset="0"/>
              <a:buChar char="q"/>
            </a:pPr>
            <a:endParaRPr lang="zh-CN" altLang="en-US" sz="2000" dirty="0">
              <a:solidFill>
                <a:srgbClr val="990000"/>
              </a:solidFill>
              <a:latin typeface="+mn-lt"/>
              <a:ea typeface="+mn-lt"/>
              <a:cs typeface="+mn-lt"/>
              <a:sym typeface="Wingdings" panose="05000000000000000000" pitchFamily="2" charset="2"/>
            </a:endParaRPr>
          </a:p>
        </p:txBody>
      </p:sp>
      <p:pic>
        <p:nvPicPr>
          <p:cNvPr id="9" name="图片 8"/>
          <p:cNvPicPr>
            <a:picLocks noChangeAspect="1"/>
          </p:cNvPicPr>
          <p:nvPr/>
        </p:nvPicPr>
        <p:blipFill>
          <a:blip r:embed="rId1"/>
          <a:srcRect r="12535"/>
          <a:stretch>
            <a:fillRect/>
          </a:stretch>
        </p:blipFill>
        <p:spPr>
          <a:xfrm>
            <a:off x="7169785" y="1477645"/>
            <a:ext cx="4692015" cy="3903345"/>
          </a:xfrm>
          <a:prstGeom prst="rect">
            <a:avLst/>
          </a:prstGeom>
        </p:spPr>
      </p:pic>
      <p:sp>
        <p:nvSpPr>
          <p:cNvPr id="16" name="文本框 15"/>
          <p:cNvSpPr txBox="1"/>
          <p:nvPr/>
        </p:nvSpPr>
        <p:spPr>
          <a:xfrm>
            <a:off x="7685405" y="5488940"/>
            <a:ext cx="3660775"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7</a:t>
            </a:r>
            <a:r>
              <a:rPr lang="zh-CN" altLang="en-US" sz="1400" b="1" dirty="0">
                <a:latin typeface="Times New Roman" panose="02020603050405020304" pitchFamily="18" charset="0"/>
                <a:ea typeface="微软雅黑" panose="020B0503020204020204" pitchFamily="34" charset="-122"/>
              </a:rPr>
              <a:t>：</a:t>
            </a:r>
            <a:r>
              <a:rPr lang="en-US" sz="1400" b="1" dirty="0">
                <a:latin typeface="Times New Roman" panose="02020603050405020304" pitchFamily="18" charset="0"/>
                <a:ea typeface="微软雅黑" panose="020B0503020204020204" pitchFamily="34" charset="-122"/>
              </a:rPr>
              <a:t>trapframe</a:t>
            </a:r>
            <a:r>
              <a:rPr lang="zh-CN" altLang="en-US" sz="1400" b="1" dirty="0">
                <a:latin typeface="Times New Roman" panose="02020603050405020304" pitchFamily="18" charset="0"/>
                <a:ea typeface="微软雅黑" panose="020B0503020204020204" pitchFamily="34" charset="-122"/>
              </a:rPr>
              <a:t>结构体的定义</a:t>
            </a:r>
            <a:r>
              <a:rPr lang="en-US" altLang="zh-CN" sz="1400" b="1" dirty="0">
                <a:latin typeface="Times New Roman" panose="02020603050405020304" pitchFamily="18" charset="0"/>
                <a:ea typeface="微软雅黑" panose="020B0503020204020204" pitchFamily="34" charset="-122"/>
              </a:rPr>
              <a:t>(kernel/proc.h)</a:t>
            </a:r>
            <a:endParaRPr lang="en-US" altLang="zh-CN" sz="1400" b="1" dirty="0">
              <a:latin typeface="Times New Roman" panose="02020603050405020304" pitchFamily="18" charset="0"/>
              <a:ea typeface="微软雅黑" panose="020B0503020204020204" pitchFamily="34" charset="-122"/>
              <a:cs typeface="+mn-lt"/>
              <a:sym typeface="Wingdings" panose="05000000000000000000" pitchFamily="2" charset="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pPr algn="l">
              <a:buClrTx/>
              <a:buSzTx/>
              <a:buFontTx/>
            </a:pPr>
            <a:r>
              <a:rPr lang="zh-CN" altLang="en-US" dirty="0">
                <a:solidFill>
                  <a:srgbClr val="002060"/>
                </a:solidFill>
              </a:rPr>
              <a:t>任务一：</a:t>
            </a:r>
            <a:r>
              <a:rPr lang="zh-CN" altLang="en-US" dirty="0">
                <a:solidFill>
                  <a:srgbClr val="002060"/>
                </a:solidFill>
                <a:sym typeface="+mn-ea"/>
              </a:rPr>
              <a:t>编写系统调用应用程序</a:t>
            </a:r>
            <a:endParaRPr lang="zh-CN" altLang="en-US" dirty="0">
              <a:solidFill>
                <a:srgbClr val="002060"/>
              </a:solidFill>
            </a:endParaRPr>
          </a:p>
        </p:txBody>
      </p:sp>
      <p:sp>
        <p:nvSpPr>
          <p:cNvPr id="2" name="内容占位符 1"/>
          <p:cNvSpPr>
            <a:spLocks noGrp="1"/>
          </p:cNvSpPr>
          <p:nvPr>
            <p:ph idx="1"/>
          </p:nvPr>
        </p:nvSpPr>
        <p:spPr>
          <a:xfrm>
            <a:off x="492125" y="1125855"/>
            <a:ext cx="5861685" cy="5527675"/>
          </a:xfrm>
        </p:spPr>
        <p:txBody>
          <a:bodyPr/>
          <a:lstStyle/>
          <a:p>
            <a:pPr>
              <a:lnSpc>
                <a:spcPct val="150000"/>
              </a:lnSpc>
            </a:pPr>
            <a:r>
              <a:rPr lang="zh-CN" altLang="en-US" sz="2400" dirty="0">
                <a:sym typeface="+mn-ea"/>
              </a:rPr>
              <a:t>任务一需要我们自己实现五个</a:t>
            </a:r>
            <a:r>
              <a:rPr lang="en-US" altLang="zh-CN" sz="2400" dirty="0">
                <a:sym typeface="+mn-ea"/>
              </a:rPr>
              <a:t>Unix</a:t>
            </a:r>
            <a:r>
              <a:rPr lang="zh-CN" altLang="en-US" sz="2400" dirty="0">
                <a:sym typeface="+mn-ea"/>
              </a:rPr>
              <a:t>实用程序</a:t>
            </a:r>
            <a:r>
              <a:rPr lang="en-US" altLang="zh-CN" sz="2400" dirty="0">
                <a:sym typeface="+mn-ea"/>
              </a:rPr>
              <a:t>sleep</a:t>
            </a:r>
            <a:r>
              <a:rPr lang="zh-CN" altLang="en-US" sz="2400" dirty="0">
                <a:sym typeface="+mn-ea"/>
              </a:rPr>
              <a:t>、</a:t>
            </a:r>
            <a:r>
              <a:rPr lang="en-US" altLang="zh-CN" sz="2400" dirty="0" err="1">
                <a:sym typeface="+mn-ea"/>
              </a:rPr>
              <a:t>pingpong</a:t>
            </a:r>
            <a:r>
              <a:rPr lang="zh-CN" altLang="en-US" sz="2400" dirty="0">
                <a:sym typeface="+mn-ea"/>
              </a:rPr>
              <a:t>、</a:t>
            </a:r>
            <a:r>
              <a:rPr lang="en-US" altLang="zh-CN" sz="2400" dirty="0">
                <a:sym typeface="+mn-ea"/>
              </a:rPr>
              <a:t>primes、find、xargs</a:t>
            </a:r>
            <a:endParaRPr lang="en-US" altLang="zh-CN" sz="2400" dirty="0">
              <a:sym typeface="+mn-ea"/>
            </a:endParaRPr>
          </a:p>
          <a:p>
            <a:pPr>
              <a:lnSpc>
                <a:spcPct val="150000"/>
              </a:lnSpc>
            </a:pPr>
            <a:r>
              <a:rPr lang="zh-CN" altLang="en-US" sz="2400" dirty="0">
                <a:sym typeface="+mn-ea"/>
              </a:rPr>
              <a:t>需要在项目中的</a:t>
            </a:r>
            <a:r>
              <a:rPr lang="en-US" altLang="zh-CN" sz="2400" dirty="0">
                <a:sym typeface="+mn-ea"/>
              </a:rPr>
              <a:t>user</a:t>
            </a:r>
            <a:r>
              <a:rPr lang="zh-CN" altLang="en-US" sz="2400" dirty="0">
                <a:sym typeface="+mn-ea"/>
              </a:rPr>
              <a:t>目录下创建五个文件实现这五个程序的功能</a:t>
            </a:r>
            <a:endParaRPr lang="zh-CN" altLang="en-US" sz="2400" dirty="0">
              <a:sym typeface="+mn-ea"/>
            </a:endParaRPr>
          </a:p>
          <a:p>
            <a:pPr>
              <a:lnSpc>
                <a:spcPct val="150000"/>
              </a:lnSpc>
            </a:pPr>
            <a:r>
              <a:rPr lang="zh-CN" altLang="en-US" sz="2400" dirty="0">
                <a:sym typeface="+mn-ea"/>
              </a:rPr>
              <a:t>然后修改</a:t>
            </a:r>
            <a:r>
              <a:rPr lang="en-US" altLang="zh-CN" sz="2400" dirty="0" err="1">
                <a:sym typeface="+mn-ea"/>
              </a:rPr>
              <a:t>MakeFile</a:t>
            </a:r>
            <a:r>
              <a:rPr lang="zh-CN" altLang="en-US" sz="2400" dirty="0">
                <a:sym typeface="+mn-ea"/>
              </a:rPr>
              <a:t>保证新加的程序能够被正常编译</a:t>
            </a:r>
            <a:endParaRPr lang="zh-CN" altLang="en-US" sz="2400" dirty="0">
              <a:sym typeface="+mn-ea"/>
            </a:endParaRPr>
          </a:p>
        </p:txBody>
      </p:sp>
      <p:pic>
        <p:nvPicPr>
          <p:cNvPr id="4" name="图片 3"/>
          <p:cNvPicPr>
            <a:picLocks noChangeAspect="1"/>
          </p:cNvPicPr>
          <p:nvPr/>
        </p:nvPicPr>
        <p:blipFill>
          <a:blip r:embed="rId1"/>
          <a:stretch>
            <a:fillRect/>
          </a:stretch>
        </p:blipFill>
        <p:spPr>
          <a:xfrm>
            <a:off x="6609080" y="1375410"/>
            <a:ext cx="4224020" cy="4587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任务一：应用系统调用编写程序</a:t>
            </a:r>
            <a:r>
              <a:rPr lang="en-US" altLang="zh-CN" dirty="0">
                <a:solidFill>
                  <a:srgbClr val="002060"/>
                </a:solidFill>
                <a:sym typeface="+mn-ea"/>
              </a:rPr>
              <a:t>——sleep</a:t>
            </a:r>
            <a:endParaRPr lang="en-US" altLang="zh-CN" dirty="0">
              <a:solidFill>
                <a:srgbClr val="002060"/>
              </a:solidFill>
              <a:sym typeface="+mn-ea"/>
            </a:endParaRPr>
          </a:p>
        </p:txBody>
      </p:sp>
      <p:sp>
        <p:nvSpPr>
          <p:cNvPr id="2" name="内容占位符 1"/>
          <p:cNvSpPr>
            <a:spLocks noGrp="1"/>
          </p:cNvSpPr>
          <p:nvPr>
            <p:ph idx="1"/>
          </p:nvPr>
        </p:nvSpPr>
        <p:spPr/>
        <p:txBody>
          <a:bodyPr/>
          <a:lstStyle/>
          <a:p>
            <a:pPr>
              <a:lnSpc>
                <a:spcPct val="150000"/>
              </a:lnSpc>
            </a:pPr>
            <a:r>
              <a:rPr lang="zh-CN" altLang="en-US" sz="2400" dirty="0">
                <a:sym typeface="+mn-ea"/>
              </a:rPr>
              <a:t>sleep命令是Linux系统中的一个非常常用的命令，它用于在终端或脚本执行的过程中让系统进行休眠等待。使用sleep命令可以让程序暂停执行一定的时间，从而达到控制程序执行节奏的效果</a:t>
            </a:r>
            <a:endParaRPr lang="zh-CN" altLang="en-US" sz="2400" dirty="0">
              <a:sym typeface="+mn-ea"/>
            </a:endParaRPr>
          </a:p>
          <a:p>
            <a:pPr>
              <a:lnSpc>
                <a:spcPct val="150000"/>
              </a:lnSpc>
            </a:pPr>
            <a:r>
              <a:rPr lang="zh-CN" altLang="en-US" sz="2400" dirty="0">
                <a:sym typeface="+mn-ea"/>
              </a:rPr>
              <a:t>利用</a:t>
            </a:r>
            <a:r>
              <a:rPr lang="en-US" altLang="zh-CN" sz="2400" dirty="0">
                <a:sym typeface="+mn-ea"/>
              </a:rPr>
              <a:t>sleep</a:t>
            </a:r>
            <a:r>
              <a:rPr lang="zh-CN" altLang="en-US" sz="2400" dirty="0">
                <a:sym typeface="+mn-ea"/>
              </a:rPr>
              <a:t>系统调用，编写一个程序sleep，</a:t>
            </a:r>
            <a:r>
              <a:rPr lang="zh-CN" altLang="en-US" sz="2400" b="1" dirty="0">
                <a:solidFill>
                  <a:srgbClr val="FF0000"/>
                </a:solidFill>
                <a:sym typeface="+mn-ea"/>
              </a:rPr>
              <a:t>程序需要在</a:t>
            </a:r>
            <a:r>
              <a:rPr lang="en-US" altLang="zh-CN" sz="2400" b="1" dirty="0">
                <a:solidFill>
                  <a:srgbClr val="FF0000"/>
                </a:solidFill>
                <a:sym typeface="+mn-ea"/>
              </a:rPr>
              <a:t>qemu</a:t>
            </a:r>
            <a:r>
              <a:rPr lang="zh-CN" altLang="en-US" sz="2400" b="1" dirty="0">
                <a:solidFill>
                  <a:srgbClr val="FF0000"/>
                </a:solidFill>
                <a:sym typeface="+mn-ea"/>
              </a:rPr>
              <a:t>中运行，调用格式为</a:t>
            </a:r>
            <a:r>
              <a:rPr lang="en-US" altLang="zh-CN" sz="2400" b="1" dirty="0">
                <a:solidFill>
                  <a:srgbClr val="FF0000"/>
                </a:solidFill>
                <a:sym typeface="+mn-ea"/>
              </a:rPr>
              <a:t>:sleep &lt;second*10&gt;</a:t>
            </a:r>
            <a:endParaRPr lang="zh-CN" altLang="en-US" sz="2400" dirty="0">
              <a:sym typeface="+mn-ea"/>
            </a:endParaRPr>
          </a:p>
          <a:p>
            <a:pPr indent="0">
              <a:lnSpc>
                <a:spcPct val="150000"/>
              </a:lnSpc>
              <a:buNone/>
            </a:pPr>
            <a:endParaRPr lang="zh-CN" altLang="en-US" sz="2400" dirty="0">
              <a:sym typeface="+mn-ea"/>
            </a:endParaRPr>
          </a:p>
        </p:txBody>
      </p:sp>
      <p:sp>
        <p:nvSpPr>
          <p:cNvPr id="8" name="文本框 7"/>
          <p:cNvSpPr txBox="1"/>
          <p:nvPr/>
        </p:nvSpPr>
        <p:spPr>
          <a:xfrm>
            <a:off x="1595755" y="6284913"/>
            <a:ext cx="1097280" cy="368300"/>
          </a:xfrm>
          <a:prstGeom prst="rect">
            <a:avLst/>
          </a:prstGeom>
          <a:noFill/>
        </p:spPr>
        <p:txBody>
          <a:bodyPr wrap="none" rtlCol="0">
            <a:spAutoFit/>
          </a:bodyPr>
          <a:lstStyle/>
          <a:p>
            <a:r>
              <a:rPr lang="zh-CN" altLang="en-US"/>
              <a:t>运行效果</a:t>
            </a:r>
            <a:endParaRPr lang="zh-CN" altLang="en-US"/>
          </a:p>
        </p:txBody>
      </p:sp>
      <p:sp>
        <p:nvSpPr>
          <p:cNvPr id="9" name="文本框 8"/>
          <p:cNvSpPr txBox="1"/>
          <p:nvPr/>
        </p:nvSpPr>
        <p:spPr>
          <a:xfrm>
            <a:off x="7231380" y="6284913"/>
            <a:ext cx="1097280" cy="368300"/>
          </a:xfrm>
          <a:prstGeom prst="rect">
            <a:avLst/>
          </a:prstGeom>
          <a:noFill/>
        </p:spPr>
        <p:txBody>
          <a:bodyPr wrap="none" rtlCol="0">
            <a:spAutoFit/>
          </a:bodyPr>
          <a:lstStyle/>
          <a:p>
            <a:r>
              <a:rPr lang="zh-CN" altLang="en-US"/>
              <a:t>评分效果</a:t>
            </a:r>
            <a:endParaRPr lang="zh-CN" altLang="en-US"/>
          </a:p>
        </p:txBody>
      </p:sp>
      <p:pic>
        <p:nvPicPr>
          <p:cNvPr id="7" name="图片 6"/>
          <p:cNvPicPr>
            <a:picLocks noChangeAspect="1"/>
          </p:cNvPicPr>
          <p:nvPr/>
        </p:nvPicPr>
        <p:blipFill>
          <a:blip r:embed="rId1"/>
          <a:stretch>
            <a:fillRect/>
          </a:stretch>
        </p:blipFill>
        <p:spPr>
          <a:xfrm>
            <a:off x="593725" y="4271010"/>
            <a:ext cx="5577840" cy="1706880"/>
          </a:xfrm>
          <a:prstGeom prst="rect">
            <a:avLst/>
          </a:prstGeom>
        </p:spPr>
      </p:pic>
      <p:pic>
        <p:nvPicPr>
          <p:cNvPr id="6" name="图片 5"/>
          <p:cNvPicPr>
            <a:picLocks noChangeAspect="1"/>
          </p:cNvPicPr>
          <p:nvPr/>
        </p:nvPicPr>
        <p:blipFill>
          <a:blip r:embed="rId2"/>
          <a:stretch>
            <a:fillRect/>
          </a:stretch>
        </p:blipFill>
        <p:spPr>
          <a:xfrm>
            <a:off x="4194175" y="5173345"/>
            <a:ext cx="7566025" cy="9601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8375" y="149225"/>
            <a:ext cx="8887460" cy="688975"/>
          </a:xfrm>
        </p:spPr>
        <p:txBody>
          <a:bodyPr anchor="ctr"/>
          <a:lstStyle/>
          <a:p>
            <a:r>
              <a:rPr lang="zh-CN" altLang="en-US" dirty="0">
                <a:solidFill>
                  <a:srgbClr val="002060"/>
                </a:solidFill>
                <a:sym typeface="+mn-ea"/>
              </a:rPr>
              <a:t>任务一：应用系统调用编写程序</a:t>
            </a:r>
            <a:r>
              <a:rPr lang="en-US" altLang="zh-CN" dirty="0">
                <a:solidFill>
                  <a:srgbClr val="002060"/>
                </a:solidFill>
                <a:sym typeface="+mn-ea"/>
              </a:rPr>
              <a:t>——pingpong</a:t>
            </a:r>
            <a:endParaRPr lang="en-US" altLang="zh-CN" dirty="0">
              <a:solidFill>
                <a:srgbClr val="002060"/>
              </a:solidFill>
              <a:sym typeface="+mn-ea"/>
            </a:endParaRPr>
          </a:p>
        </p:txBody>
      </p:sp>
      <p:sp>
        <p:nvSpPr>
          <p:cNvPr id="2" name="内容占位符 1"/>
          <p:cNvSpPr>
            <a:spLocks noGrp="1"/>
          </p:cNvSpPr>
          <p:nvPr>
            <p:ph idx="1"/>
          </p:nvPr>
        </p:nvSpPr>
        <p:spPr/>
        <p:txBody>
          <a:bodyPr/>
          <a:lstStyle/>
          <a:p>
            <a:pPr>
              <a:lnSpc>
                <a:spcPct val="150000"/>
              </a:lnSpc>
            </a:pPr>
            <a:r>
              <a:rPr lang="zh-CN" altLang="en-US" sz="2400" dirty="0">
                <a:sym typeface="+mn-ea"/>
              </a:rPr>
              <a:t>利用</a:t>
            </a:r>
            <a:r>
              <a:rPr lang="en-US" altLang="zh-CN" sz="2400" dirty="0">
                <a:sym typeface="+mn-ea"/>
              </a:rPr>
              <a:t>pipe</a:t>
            </a:r>
            <a:r>
              <a:rPr lang="zh-CN" altLang="en-US" sz="2400" dirty="0">
                <a:sym typeface="+mn-ea"/>
              </a:rPr>
              <a:t>和</a:t>
            </a:r>
            <a:r>
              <a:rPr lang="en-US" altLang="zh-CN" sz="2400" dirty="0">
                <a:sym typeface="+mn-ea"/>
              </a:rPr>
              <a:t>fork</a:t>
            </a:r>
            <a:r>
              <a:rPr lang="zh-CN" altLang="en-US" sz="2400" dirty="0">
                <a:sym typeface="+mn-ea"/>
              </a:rPr>
              <a:t>系统调用，编写一个程序 pingpong ，</a:t>
            </a:r>
            <a:r>
              <a:rPr lang="zh-CN" altLang="en-US" sz="2400" b="1" dirty="0">
                <a:solidFill>
                  <a:srgbClr val="FF0000"/>
                </a:solidFill>
                <a:sym typeface="+mn-ea"/>
              </a:rPr>
              <a:t>实现两个进程之间的通信</a:t>
            </a:r>
            <a:r>
              <a:rPr lang="zh-CN" altLang="en-US" sz="2400" dirty="0">
                <a:sym typeface="+mn-ea"/>
              </a:rPr>
              <a:t>。</a:t>
            </a:r>
            <a:endParaRPr lang="zh-CN" altLang="en-US" sz="2400" dirty="0">
              <a:sym typeface="+mn-ea"/>
            </a:endParaRPr>
          </a:p>
          <a:p>
            <a:pPr>
              <a:lnSpc>
                <a:spcPct val="150000"/>
              </a:lnSpc>
            </a:pPr>
            <a:r>
              <a:rPr lang="zh-CN" altLang="en-US" sz="2400" b="1" dirty="0">
                <a:solidFill>
                  <a:srgbClr val="FF0000"/>
                </a:solidFill>
                <a:sym typeface="+mn-ea"/>
              </a:rPr>
              <a:t>父进程给子进程发送</a:t>
            </a:r>
            <a:r>
              <a:rPr lang="zh-CN" altLang="en-US" sz="2400" dirty="0">
                <a:sym typeface="+mn-ea"/>
              </a:rPr>
              <a:t>一个信息 “ping”，子进程接收信息后打印 "&lt;子进程pid&gt;: received ping"  。然后</a:t>
            </a:r>
            <a:r>
              <a:rPr lang="zh-CN" altLang="en-US" sz="2400" b="1" dirty="0">
                <a:solidFill>
                  <a:srgbClr val="FF0000"/>
                </a:solidFill>
                <a:sym typeface="+mn-ea"/>
              </a:rPr>
              <a:t>子进程发送一个信息 “pong” 给父进程</a:t>
            </a:r>
            <a:r>
              <a:rPr lang="zh-CN" altLang="en-US" sz="2400" dirty="0">
                <a:sym typeface="+mn-ea"/>
              </a:rPr>
              <a:t>，父进程接收信息后打印 "&lt;父进程pid&gt;: received pong" ，然后退出。</a:t>
            </a:r>
            <a:endParaRPr lang="zh-CN" altLang="en-US" sz="2400" dirty="0">
              <a:sym typeface="+mn-ea"/>
            </a:endParaRPr>
          </a:p>
          <a:p>
            <a:pPr>
              <a:lnSpc>
                <a:spcPct val="150000"/>
              </a:lnSpc>
            </a:pPr>
            <a:r>
              <a:rPr lang="zh-CN" altLang="en-US" sz="2400" b="1" dirty="0">
                <a:solidFill>
                  <a:srgbClr val="FF0000"/>
                </a:solidFill>
                <a:sym typeface="+mn-ea"/>
              </a:rPr>
              <a:t>程序需要在</a:t>
            </a:r>
            <a:r>
              <a:rPr lang="en-US" altLang="zh-CN" sz="2400" b="1" dirty="0">
                <a:solidFill>
                  <a:srgbClr val="FF0000"/>
                </a:solidFill>
                <a:sym typeface="+mn-ea"/>
              </a:rPr>
              <a:t>qemu</a:t>
            </a:r>
            <a:r>
              <a:rPr lang="zh-CN" altLang="en-US" sz="2400" b="1" dirty="0">
                <a:solidFill>
                  <a:srgbClr val="FF0000"/>
                </a:solidFill>
                <a:sym typeface="+mn-ea"/>
              </a:rPr>
              <a:t>中运行，调用格式为</a:t>
            </a:r>
            <a:r>
              <a:rPr lang="en-US" altLang="zh-CN" sz="2400" b="1" dirty="0">
                <a:solidFill>
                  <a:srgbClr val="FF0000"/>
                </a:solidFill>
                <a:sym typeface="+mn-ea"/>
              </a:rPr>
              <a:t>:pingpong</a:t>
            </a:r>
            <a:endParaRPr lang="zh-CN" altLang="en-US" sz="2400" b="1" dirty="0">
              <a:solidFill>
                <a:srgbClr val="FF0000"/>
              </a:solidFill>
              <a:sym typeface="+mn-ea"/>
            </a:endParaRPr>
          </a:p>
          <a:p>
            <a:pPr>
              <a:lnSpc>
                <a:spcPct val="150000"/>
              </a:lnSpc>
            </a:pPr>
            <a:endParaRPr lang="zh-CN" altLang="en-US" sz="2400" dirty="0">
              <a:sym typeface="+mn-ea"/>
            </a:endParaRPr>
          </a:p>
          <a:p>
            <a:pPr>
              <a:lnSpc>
                <a:spcPct val="150000"/>
              </a:lnSpc>
            </a:pPr>
            <a:endParaRPr lang="zh-CN" altLang="en-US" sz="2400" dirty="0">
              <a:sym typeface="+mn-ea"/>
            </a:endParaRPr>
          </a:p>
          <a:p>
            <a:pPr indent="0">
              <a:lnSpc>
                <a:spcPct val="150000"/>
              </a:lnSpc>
              <a:buNone/>
            </a:pPr>
            <a:endParaRPr lang="zh-CN" altLang="en-US" sz="2400" dirty="0">
              <a:sym typeface="+mn-ea"/>
            </a:endParaRPr>
          </a:p>
        </p:txBody>
      </p:sp>
      <p:sp>
        <p:nvSpPr>
          <p:cNvPr id="8" name="文本框 7"/>
          <p:cNvSpPr txBox="1"/>
          <p:nvPr/>
        </p:nvSpPr>
        <p:spPr>
          <a:xfrm>
            <a:off x="1595755" y="6284913"/>
            <a:ext cx="1097280" cy="368300"/>
          </a:xfrm>
          <a:prstGeom prst="rect">
            <a:avLst/>
          </a:prstGeom>
          <a:noFill/>
        </p:spPr>
        <p:txBody>
          <a:bodyPr wrap="none" rtlCol="0">
            <a:spAutoFit/>
          </a:bodyPr>
          <a:lstStyle/>
          <a:p>
            <a:r>
              <a:rPr lang="zh-CN" altLang="en-US"/>
              <a:t>运行效果</a:t>
            </a:r>
            <a:endParaRPr lang="zh-CN" altLang="en-US"/>
          </a:p>
        </p:txBody>
      </p:sp>
      <p:sp>
        <p:nvSpPr>
          <p:cNvPr id="9" name="文本框 8"/>
          <p:cNvSpPr txBox="1"/>
          <p:nvPr/>
        </p:nvSpPr>
        <p:spPr>
          <a:xfrm>
            <a:off x="7231380" y="6284913"/>
            <a:ext cx="1097280" cy="368300"/>
          </a:xfrm>
          <a:prstGeom prst="rect">
            <a:avLst/>
          </a:prstGeom>
          <a:noFill/>
        </p:spPr>
        <p:txBody>
          <a:bodyPr wrap="none" rtlCol="0">
            <a:spAutoFit/>
          </a:bodyPr>
          <a:lstStyle/>
          <a:p>
            <a:r>
              <a:rPr lang="zh-CN" altLang="en-US"/>
              <a:t>评分效果</a:t>
            </a:r>
            <a:endParaRPr lang="zh-CN" altLang="en-US"/>
          </a:p>
        </p:txBody>
      </p:sp>
      <p:pic>
        <p:nvPicPr>
          <p:cNvPr id="4" name="图片 3"/>
          <p:cNvPicPr>
            <a:picLocks noChangeAspect="1"/>
          </p:cNvPicPr>
          <p:nvPr/>
        </p:nvPicPr>
        <p:blipFill>
          <a:blip r:embed="rId1"/>
          <a:srcRect r="21475"/>
          <a:stretch>
            <a:fillRect/>
          </a:stretch>
        </p:blipFill>
        <p:spPr>
          <a:xfrm>
            <a:off x="638175" y="4857750"/>
            <a:ext cx="2837815" cy="956945"/>
          </a:xfrm>
          <a:prstGeom prst="rect">
            <a:avLst/>
          </a:prstGeom>
        </p:spPr>
      </p:pic>
      <p:pic>
        <p:nvPicPr>
          <p:cNvPr id="5" name="图片 4"/>
          <p:cNvPicPr>
            <a:picLocks noChangeAspect="1"/>
          </p:cNvPicPr>
          <p:nvPr/>
        </p:nvPicPr>
        <p:blipFill>
          <a:blip r:embed="rId2"/>
          <a:stretch>
            <a:fillRect/>
          </a:stretch>
        </p:blipFill>
        <p:spPr>
          <a:xfrm>
            <a:off x="4156075" y="4930775"/>
            <a:ext cx="7373620" cy="8108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任务一：应用系统调用编写程序</a:t>
            </a:r>
            <a:r>
              <a:rPr lang="en-US" altLang="zh-CN" dirty="0">
                <a:solidFill>
                  <a:srgbClr val="002060"/>
                </a:solidFill>
                <a:sym typeface="+mn-ea"/>
              </a:rPr>
              <a:t>——primes</a:t>
            </a:r>
            <a:endParaRPr lang="en-US" altLang="zh-CN" dirty="0">
              <a:solidFill>
                <a:srgbClr val="002060"/>
              </a:solidFill>
              <a:sym typeface="+mn-ea"/>
            </a:endParaRPr>
          </a:p>
        </p:txBody>
      </p:sp>
      <p:sp>
        <p:nvSpPr>
          <p:cNvPr id="2" name="内容占位符 1"/>
          <p:cNvSpPr>
            <a:spLocks noGrp="1"/>
          </p:cNvSpPr>
          <p:nvPr>
            <p:ph idx="1"/>
          </p:nvPr>
        </p:nvSpPr>
        <p:spPr/>
        <p:txBody>
          <a:bodyPr/>
          <a:lstStyle/>
          <a:p>
            <a:pPr>
              <a:lnSpc>
                <a:spcPct val="150000"/>
              </a:lnSpc>
            </a:pPr>
            <a:r>
              <a:rPr lang="zh-CN" altLang="en-US" sz="2400" dirty="0">
                <a:sym typeface="+mn-ea"/>
              </a:rPr>
              <a:t>利用</a:t>
            </a:r>
            <a:r>
              <a:rPr lang="en-US" altLang="zh-CN" sz="2400" dirty="0">
                <a:sym typeface="+mn-ea"/>
              </a:rPr>
              <a:t>fork</a:t>
            </a:r>
            <a:r>
              <a:rPr lang="zh-CN" altLang="en-US" sz="2400" dirty="0">
                <a:sym typeface="+mn-ea"/>
              </a:rPr>
              <a:t>、</a:t>
            </a:r>
            <a:r>
              <a:rPr lang="en-US" altLang="zh-CN" sz="2400" dirty="0">
                <a:sym typeface="+mn-ea"/>
              </a:rPr>
              <a:t>pipe</a:t>
            </a:r>
            <a:r>
              <a:rPr lang="zh-CN" altLang="en-US" sz="2400" dirty="0">
                <a:sym typeface="+mn-ea"/>
              </a:rPr>
              <a:t>、</a:t>
            </a:r>
            <a:r>
              <a:rPr lang="en-US" altLang="zh-CN" sz="2400" dirty="0">
                <a:sym typeface="+mn-ea"/>
              </a:rPr>
              <a:t>wait</a:t>
            </a:r>
            <a:r>
              <a:rPr lang="zh-CN" altLang="en-US" sz="2400" dirty="0">
                <a:sym typeface="+mn-ea"/>
              </a:rPr>
              <a:t>系统调用，编写一个程序</a:t>
            </a:r>
            <a:r>
              <a:rPr lang="en-US" altLang="zh-CN" sz="2400" dirty="0">
                <a:sym typeface="+mn-ea"/>
              </a:rPr>
              <a:t>primes</a:t>
            </a:r>
            <a:r>
              <a:rPr lang="zh-CN" altLang="en-US" sz="2400" dirty="0">
                <a:sym typeface="+mn-ea"/>
              </a:rPr>
              <a:t>，</a:t>
            </a:r>
            <a:r>
              <a:rPr lang="zh-CN" altLang="en-US" sz="2400" b="1" dirty="0">
                <a:solidFill>
                  <a:srgbClr val="FF0000"/>
                </a:solidFill>
                <a:sym typeface="+mn-ea"/>
              </a:rPr>
              <a:t>实现一个素数筛</a:t>
            </a:r>
            <a:r>
              <a:rPr lang="zh-CN" altLang="en-US" sz="2400" dirty="0">
                <a:sym typeface="+mn-ea"/>
              </a:rPr>
              <a:t>（</a:t>
            </a:r>
            <a:r>
              <a:rPr lang="en-US" altLang="zh-CN" sz="2400" dirty="0">
                <a:sym typeface="+mn-ea"/>
              </a:rPr>
              <a:t>2~35</a:t>
            </a:r>
            <a:r>
              <a:rPr lang="zh-CN" altLang="en-US" sz="2400" dirty="0">
                <a:sym typeface="+mn-ea"/>
              </a:rPr>
              <a:t>）</a:t>
            </a:r>
            <a:endParaRPr lang="zh-CN" altLang="en-US" sz="2400" dirty="0">
              <a:sym typeface="+mn-ea"/>
            </a:endParaRPr>
          </a:p>
          <a:p>
            <a:pPr>
              <a:lnSpc>
                <a:spcPct val="150000"/>
              </a:lnSpc>
            </a:pPr>
            <a:r>
              <a:rPr lang="zh-CN" altLang="en-US" sz="2400" b="1" dirty="0">
                <a:solidFill>
                  <a:srgbClr val="FF0000"/>
                </a:solidFill>
                <a:sym typeface="+mn-ea"/>
              </a:rPr>
              <a:t>第一个进程</a:t>
            </a:r>
            <a:r>
              <a:rPr lang="zh-CN" altLang="en-US" sz="2400" dirty="0">
                <a:sym typeface="+mn-ea"/>
              </a:rPr>
              <a:t>创建一个子进程，</a:t>
            </a:r>
            <a:r>
              <a:rPr lang="zh-CN" altLang="en-US" sz="2400" b="1" dirty="0">
                <a:solidFill>
                  <a:srgbClr val="FF0000"/>
                </a:solidFill>
                <a:sym typeface="+mn-ea"/>
              </a:rPr>
              <a:t>向管道里放入数字2~35</a:t>
            </a:r>
            <a:r>
              <a:rPr lang="zh-CN" altLang="en-US" sz="2400" dirty="0">
                <a:sym typeface="+mn-ea"/>
              </a:rPr>
              <a:t>，子进程会依次读取这些数字，每当子进程</a:t>
            </a:r>
            <a:r>
              <a:rPr lang="zh-CN" altLang="en-US" sz="2400" b="1" dirty="0">
                <a:solidFill>
                  <a:srgbClr val="FF0000"/>
                </a:solidFill>
                <a:sym typeface="+mn-ea"/>
              </a:rPr>
              <a:t>读到一个素数时</a:t>
            </a:r>
            <a:r>
              <a:rPr lang="zh-CN" altLang="en-US" sz="2400" dirty="0">
                <a:sym typeface="+mn-ea"/>
              </a:rPr>
              <a:t>，该</a:t>
            </a:r>
            <a:r>
              <a:rPr lang="zh-CN" altLang="en-US" sz="2400" b="1" dirty="0">
                <a:solidFill>
                  <a:srgbClr val="FF0000"/>
                </a:solidFill>
                <a:sym typeface="+mn-ea"/>
              </a:rPr>
              <a:t>子进程会输出该素数</a:t>
            </a:r>
            <a:r>
              <a:rPr lang="zh-CN" altLang="en-US" sz="2400" dirty="0">
                <a:sym typeface="+mn-ea"/>
              </a:rPr>
              <a:t>（</a:t>
            </a:r>
            <a:r>
              <a:rPr lang="en-US" altLang="zh-CN" sz="2400" dirty="0">
                <a:sym typeface="+mn-ea"/>
              </a:rPr>
              <a:t>prime &lt;n&gt;</a:t>
            </a:r>
            <a:r>
              <a:rPr lang="zh-CN" altLang="en-US" sz="2400" dirty="0">
                <a:sym typeface="+mn-ea"/>
              </a:rPr>
              <a:t>），并创建一个</a:t>
            </a:r>
            <a:r>
              <a:rPr lang="zh-CN" altLang="en-US" sz="2400" b="1" dirty="0">
                <a:solidFill>
                  <a:srgbClr val="FF0000"/>
                </a:solidFill>
                <a:sym typeface="+mn-ea"/>
              </a:rPr>
              <a:t>新的子进程来完成后续素数的筛选</a:t>
            </a:r>
            <a:r>
              <a:rPr lang="zh-CN" altLang="en-US" sz="2400" dirty="0">
                <a:sym typeface="+mn-ea"/>
              </a:rPr>
              <a:t>，请想办法将父进程创建的管道传递下去。</a:t>
            </a:r>
            <a:endParaRPr lang="zh-CN" altLang="en-US" sz="2400" dirty="0">
              <a:sym typeface="+mn-ea"/>
            </a:endParaRPr>
          </a:p>
          <a:p>
            <a:pPr>
              <a:lnSpc>
                <a:spcPct val="150000"/>
              </a:lnSpc>
            </a:pPr>
            <a:r>
              <a:rPr lang="zh-CN" altLang="en-US" sz="2400" dirty="0">
                <a:sym typeface="+mn-ea"/>
              </a:rPr>
              <a:t>所有进程需要等待子进程执行完毕才可以结束。</a:t>
            </a:r>
            <a:endParaRPr lang="zh-CN" altLang="en-US" sz="2400" dirty="0">
              <a:sym typeface="+mn-ea"/>
            </a:endParaRPr>
          </a:p>
        </p:txBody>
      </p:sp>
      <p:sp>
        <p:nvSpPr>
          <p:cNvPr id="8" name="文本框 7"/>
          <p:cNvSpPr txBox="1"/>
          <p:nvPr/>
        </p:nvSpPr>
        <p:spPr>
          <a:xfrm>
            <a:off x="1595755" y="6284913"/>
            <a:ext cx="1097280" cy="368300"/>
          </a:xfrm>
          <a:prstGeom prst="rect">
            <a:avLst/>
          </a:prstGeom>
          <a:noFill/>
        </p:spPr>
        <p:txBody>
          <a:bodyPr wrap="none" rtlCol="0">
            <a:spAutoFit/>
          </a:bodyPr>
          <a:lstStyle/>
          <a:p>
            <a:r>
              <a:rPr lang="zh-CN" altLang="en-US"/>
              <a:t>运行效果</a:t>
            </a:r>
            <a:endParaRPr lang="zh-CN" altLang="en-US"/>
          </a:p>
        </p:txBody>
      </p:sp>
      <p:sp>
        <p:nvSpPr>
          <p:cNvPr id="9" name="文本框 8"/>
          <p:cNvSpPr txBox="1"/>
          <p:nvPr/>
        </p:nvSpPr>
        <p:spPr>
          <a:xfrm>
            <a:off x="7231380" y="6284913"/>
            <a:ext cx="1097280" cy="368300"/>
          </a:xfrm>
          <a:prstGeom prst="rect">
            <a:avLst/>
          </a:prstGeom>
          <a:noFill/>
        </p:spPr>
        <p:txBody>
          <a:bodyPr wrap="none" rtlCol="0">
            <a:spAutoFit/>
          </a:bodyPr>
          <a:lstStyle/>
          <a:p>
            <a:r>
              <a:rPr lang="zh-CN" altLang="en-US"/>
              <a:t>评分效果</a:t>
            </a:r>
            <a:endParaRPr lang="zh-CN" altLang="en-US"/>
          </a:p>
        </p:txBody>
      </p:sp>
      <p:pic>
        <p:nvPicPr>
          <p:cNvPr id="4" name="图片 3"/>
          <p:cNvPicPr>
            <a:picLocks noChangeAspect="1"/>
          </p:cNvPicPr>
          <p:nvPr/>
        </p:nvPicPr>
        <p:blipFill>
          <a:blip r:embed="rId1"/>
          <a:stretch>
            <a:fillRect/>
          </a:stretch>
        </p:blipFill>
        <p:spPr>
          <a:xfrm>
            <a:off x="702310" y="4171950"/>
            <a:ext cx="1767205" cy="2115185"/>
          </a:xfrm>
          <a:prstGeom prst="rect">
            <a:avLst/>
          </a:prstGeom>
        </p:spPr>
      </p:pic>
      <p:pic>
        <p:nvPicPr>
          <p:cNvPr id="5" name="图片 4"/>
          <p:cNvPicPr>
            <a:picLocks noChangeAspect="1"/>
          </p:cNvPicPr>
          <p:nvPr/>
        </p:nvPicPr>
        <p:blipFill>
          <a:blip r:embed="rId2"/>
          <a:stretch>
            <a:fillRect/>
          </a:stretch>
        </p:blipFill>
        <p:spPr>
          <a:xfrm>
            <a:off x="3444240" y="4831080"/>
            <a:ext cx="8315960" cy="9169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任务一：应用系统调用编写程序</a:t>
            </a:r>
            <a:r>
              <a:rPr lang="en-US" altLang="zh-CN" dirty="0">
                <a:solidFill>
                  <a:srgbClr val="002060"/>
                </a:solidFill>
                <a:sym typeface="+mn-ea"/>
              </a:rPr>
              <a:t>——find</a:t>
            </a:r>
            <a:endParaRPr lang="en-US" altLang="zh-CN" dirty="0">
              <a:solidFill>
                <a:srgbClr val="002060"/>
              </a:solidFill>
              <a:sym typeface="+mn-ea"/>
            </a:endParaRPr>
          </a:p>
        </p:txBody>
      </p:sp>
      <p:sp>
        <p:nvSpPr>
          <p:cNvPr id="7" name="内容占位符 6"/>
          <p:cNvSpPr>
            <a:spLocks noGrp="1"/>
          </p:cNvSpPr>
          <p:nvPr>
            <p:ph idx="1"/>
          </p:nvPr>
        </p:nvSpPr>
        <p:spPr/>
        <p:txBody>
          <a:bodyPr/>
          <a:lstStyle/>
          <a:p>
            <a:pPr>
              <a:lnSpc>
                <a:spcPct val="150000"/>
              </a:lnSpc>
            </a:pPr>
            <a:r>
              <a:rPr lang="zh-CN" altLang="en-US" sz="2400" dirty="0"/>
              <a:t>参考</a:t>
            </a:r>
            <a:r>
              <a:rPr lang="en-US" altLang="zh-CN" sz="2400" dirty="0"/>
              <a:t>ls</a:t>
            </a:r>
            <a:r>
              <a:rPr lang="zh-CN" altLang="en-US" sz="2400" dirty="0"/>
              <a:t>指令，</a:t>
            </a:r>
            <a:r>
              <a:rPr lang="zh-CN" altLang="en-US" sz="2400" dirty="0">
                <a:sym typeface="+mn-ea"/>
              </a:rPr>
              <a:t>编写一个程序</a:t>
            </a:r>
            <a:r>
              <a:rPr lang="en-US" altLang="zh-CN" sz="2400" dirty="0">
                <a:sym typeface="+mn-ea"/>
              </a:rPr>
              <a:t>find</a:t>
            </a:r>
            <a:r>
              <a:rPr lang="zh-CN" altLang="en-US" sz="2400" dirty="0">
                <a:sym typeface="+mn-ea"/>
              </a:rPr>
              <a:t>，</a:t>
            </a:r>
            <a:r>
              <a:rPr lang="en-US" altLang="zh-CN" sz="2400" dirty="0"/>
              <a:t>给定一个初始路径和目标文件名, 要不断递归的扫描找到所有子目录</a:t>
            </a:r>
            <a:r>
              <a:rPr lang="zh-CN" altLang="en-US" sz="2400" dirty="0"/>
              <a:t>中叫该名字的文件，并输出路径。</a:t>
            </a:r>
            <a:endParaRPr lang="zh-CN" altLang="en-US" sz="2400" dirty="0"/>
          </a:p>
          <a:p>
            <a:pPr>
              <a:lnSpc>
                <a:spcPct val="150000"/>
              </a:lnSpc>
            </a:pPr>
            <a:r>
              <a:rPr lang="zh-CN" altLang="en-US" sz="2400" b="1" dirty="0">
                <a:solidFill>
                  <a:srgbClr val="FF0000"/>
                </a:solidFill>
                <a:sym typeface="+mn-ea"/>
              </a:rPr>
              <a:t>程序需要在</a:t>
            </a:r>
            <a:r>
              <a:rPr lang="en-US" altLang="zh-CN" sz="2400" b="1" dirty="0">
                <a:solidFill>
                  <a:srgbClr val="FF0000"/>
                </a:solidFill>
                <a:sym typeface="+mn-ea"/>
              </a:rPr>
              <a:t>qemu</a:t>
            </a:r>
            <a:r>
              <a:rPr lang="zh-CN" altLang="en-US" sz="2400" b="1" dirty="0">
                <a:solidFill>
                  <a:srgbClr val="FF0000"/>
                </a:solidFill>
                <a:sym typeface="+mn-ea"/>
              </a:rPr>
              <a:t>中运行，调用格式为</a:t>
            </a:r>
            <a:r>
              <a:rPr lang="en-US" altLang="zh-CN" sz="2400" b="1" dirty="0">
                <a:solidFill>
                  <a:srgbClr val="FF0000"/>
                </a:solidFill>
                <a:sym typeface="+mn-ea"/>
              </a:rPr>
              <a:t>:find &lt;des_path&gt; &lt;des_file_name&gt;</a:t>
            </a:r>
            <a:endParaRPr lang="zh-CN" altLang="en-US" sz="2400" b="1" dirty="0">
              <a:solidFill>
                <a:srgbClr val="FF0000"/>
              </a:solidFill>
              <a:sym typeface="+mn-ea"/>
            </a:endParaRPr>
          </a:p>
          <a:p>
            <a:pPr>
              <a:lnSpc>
                <a:spcPct val="150000"/>
              </a:lnSpc>
            </a:pPr>
            <a:endParaRPr lang="zh-CN" altLang="en-US" sz="2400" dirty="0"/>
          </a:p>
        </p:txBody>
      </p:sp>
      <p:sp>
        <p:nvSpPr>
          <p:cNvPr id="4" name="文本框 3"/>
          <p:cNvSpPr txBox="1"/>
          <p:nvPr/>
        </p:nvSpPr>
        <p:spPr>
          <a:xfrm>
            <a:off x="773540" y="5641904"/>
            <a:ext cx="3057247" cy="523220"/>
          </a:xfrm>
          <a:prstGeom prst="rect">
            <a:avLst/>
          </a:prstGeom>
          <a:noFill/>
        </p:spPr>
        <p:txBody>
          <a:bodyPr wrap="none" rtlCol="0">
            <a:spAutoFit/>
          </a:bodyPr>
          <a:lstStyle/>
          <a:p>
            <a:r>
              <a:rPr lang="zh-CN" altLang="en-US" sz="2800" b="1" dirty="0">
                <a:solidFill>
                  <a:srgbClr val="FF0000"/>
                </a:solidFill>
              </a:rPr>
              <a:t>做完之后可以测评</a:t>
            </a:r>
            <a:endParaRPr lang="zh-CN" altLang="en-US" sz="2800" b="1" dirty="0">
              <a:solidFill>
                <a:srgbClr val="FF0000"/>
              </a:solidFill>
            </a:endParaRPr>
          </a:p>
        </p:txBody>
      </p:sp>
      <p:pic>
        <p:nvPicPr>
          <p:cNvPr id="5" name="图片 4"/>
          <p:cNvPicPr>
            <a:picLocks noChangeAspect="1"/>
          </p:cNvPicPr>
          <p:nvPr/>
        </p:nvPicPr>
        <p:blipFill>
          <a:blip r:embed="rId1"/>
          <a:stretch>
            <a:fillRect/>
          </a:stretch>
        </p:blipFill>
        <p:spPr>
          <a:xfrm>
            <a:off x="1268095" y="3262630"/>
            <a:ext cx="1804035" cy="2068195"/>
          </a:xfrm>
          <a:prstGeom prst="rect">
            <a:avLst/>
          </a:prstGeom>
        </p:spPr>
      </p:pic>
      <p:pic>
        <p:nvPicPr>
          <p:cNvPr id="8" name="图片 7"/>
          <p:cNvPicPr>
            <a:picLocks noChangeAspect="1"/>
          </p:cNvPicPr>
          <p:nvPr/>
        </p:nvPicPr>
        <p:blipFill>
          <a:blip r:embed="rId2"/>
          <a:stretch>
            <a:fillRect/>
          </a:stretch>
        </p:blipFill>
        <p:spPr>
          <a:xfrm>
            <a:off x="3456940" y="3739515"/>
            <a:ext cx="8735060" cy="11144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任务一：应用系统调用编写程序</a:t>
            </a:r>
            <a:r>
              <a:rPr lang="en-US" altLang="zh-CN" dirty="0">
                <a:solidFill>
                  <a:srgbClr val="002060"/>
                </a:solidFill>
                <a:sym typeface="+mn-ea"/>
              </a:rPr>
              <a:t>——xargs</a:t>
            </a:r>
            <a:endParaRPr lang="en-US" altLang="zh-CN" dirty="0">
              <a:solidFill>
                <a:srgbClr val="002060"/>
              </a:solidFill>
              <a:sym typeface="+mn-ea"/>
            </a:endParaRPr>
          </a:p>
        </p:txBody>
      </p:sp>
      <p:sp>
        <p:nvSpPr>
          <p:cNvPr id="2" name="内容占位符 1"/>
          <p:cNvSpPr>
            <a:spLocks noGrp="1"/>
          </p:cNvSpPr>
          <p:nvPr>
            <p:ph idx="1"/>
          </p:nvPr>
        </p:nvSpPr>
        <p:spPr>
          <a:xfrm>
            <a:off x="492125" y="1125855"/>
            <a:ext cx="11268075" cy="2586355"/>
          </a:xfrm>
        </p:spPr>
        <p:txBody>
          <a:bodyPr/>
          <a:lstStyle/>
          <a:p>
            <a:pPr algn="l">
              <a:lnSpc>
                <a:spcPct val="150000"/>
              </a:lnSpc>
              <a:buFontTx/>
            </a:pPr>
            <a:r>
              <a:rPr lang="zh-CN" altLang="en-US" sz="2400" dirty="0">
                <a:sym typeface="+mn-ea"/>
              </a:rPr>
              <a:t>利用</a:t>
            </a:r>
            <a:r>
              <a:rPr lang="en-US" altLang="zh-CN" sz="2400" dirty="0">
                <a:sym typeface="+mn-ea"/>
              </a:rPr>
              <a:t>fork</a:t>
            </a:r>
            <a:r>
              <a:rPr lang="zh-CN" altLang="en-US" sz="2400" dirty="0">
                <a:sym typeface="+mn-ea"/>
              </a:rPr>
              <a:t>和</a:t>
            </a:r>
            <a:r>
              <a:rPr lang="en-US" altLang="zh-CN" sz="2400" dirty="0">
                <a:sym typeface="+mn-ea"/>
              </a:rPr>
              <a:t>exec</a:t>
            </a:r>
            <a:r>
              <a:rPr lang="zh-CN" altLang="en-US" sz="2400" dirty="0">
                <a:sym typeface="+mn-ea"/>
              </a:rPr>
              <a:t>系统调用，编写一个程序</a:t>
            </a:r>
            <a:r>
              <a:rPr lang="en-US" altLang="zh-CN" sz="2400" dirty="0">
                <a:sym typeface="+mn-ea"/>
              </a:rPr>
              <a:t>xargs</a:t>
            </a:r>
            <a:r>
              <a:rPr lang="zh-CN" altLang="en-US" sz="2400" dirty="0">
                <a:sym typeface="+mn-ea"/>
              </a:rPr>
              <a:t>，实现一个</a:t>
            </a:r>
            <a:r>
              <a:rPr lang="en-US" altLang="zh-CN" sz="2400" b="1" dirty="0">
                <a:solidFill>
                  <a:srgbClr val="FF0000"/>
                </a:solidFill>
                <a:sym typeface="+mn-ea"/>
              </a:rPr>
              <a:t>指令参数拼接器</a:t>
            </a:r>
            <a:endParaRPr lang="en-US" altLang="zh-CN" sz="2400" b="1" dirty="0">
              <a:solidFill>
                <a:srgbClr val="FF0000"/>
              </a:solidFill>
              <a:sym typeface="+mn-ea"/>
            </a:endParaRPr>
          </a:p>
          <a:p>
            <a:pPr algn="l">
              <a:lnSpc>
                <a:spcPct val="150000"/>
              </a:lnSpc>
              <a:buFontTx/>
            </a:pPr>
            <a:r>
              <a:rPr lang="zh-CN" altLang="en-US" sz="2400" b="1" dirty="0">
                <a:solidFill>
                  <a:srgbClr val="FF0000"/>
                </a:solidFill>
                <a:sym typeface="+mn-ea"/>
              </a:rPr>
              <a:t>程序需要在</a:t>
            </a:r>
            <a:r>
              <a:rPr lang="en-US" altLang="zh-CN" sz="2400" b="1" dirty="0">
                <a:solidFill>
                  <a:srgbClr val="FF0000"/>
                </a:solidFill>
                <a:sym typeface="+mn-ea"/>
              </a:rPr>
              <a:t>qemu</a:t>
            </a:r>
            <a:r>
              <a:rPr lang="zh-CN" altLang="en-US" sz="2400" b="1" dirty="0">
                <a:solidFill>
                  <a:srgbClr val="FF0000"/>
                </a:solidFill>
                <a:sym typeface="+mn-ea"/>
              </a:rPr>
              <a:t>中运行，调用格式为</a:t>
            </a:r>
            <a:r>
              <a:rPr lang="en-US" altLang="zh-CN" sz="2400" b="1" dirty="0">
                <a:solidFill>
                  <a:srgbClr val="FF0000"/>
                </a:solidFill>
                <a:sym typeface="+mn-ea"/>
              </a:rPr>
              <a:t>:xargs &lt;command&gt; &lt;args_0&gt;</a:t>
            </a:r>
            <a:endParaRPr lang="en-US" altLang="zh-CN" sz="2400" b="1" dirty="0">
              <a:solidFill>
                <a:srgbClr val="FF0000"/>
              </a:solidFill>
              <a:sym typeface="+mn-ea"/>
            </a:endParaRPr>
          </a:p>
          <a:p>
            <a:pPr algn="l">
              <a:lnSpc>
                <a:spcPct val="150000"/>
              </a:lnSpc>
              <a:buFontTx/>
            </a:pPr>
            <a:r>
              <a:rPr lang="en-US" altLang="zh-CN" sz="2400" b="1" dirty="0">
                <a:solidFill>
                  <a:srgbClr val="FF0000"/>
                </a:solidFill>
                <a:sym typeface="+mn-ea"/>
              </a:rPr>
              <a:t>&lt;args_1&gt;</a:t>
            </a:r>
            <a:endParaRPr lang="en-US" altLang="zh-CN" sz="2400" b="1" dirty="0">
              <a:solidFill>
                <a:srgbClr val="FF0000"/>
              </a:solidFill>
              <a:sym typeface="+mn-ea"/>
            </a:endParaRPr>
          </a:p>
          <a:p>
            <a:pPr algn="l">
              <a:lnSpc>
                <a:spcPct val="150000"/>
              </a:lnSpc>
              <a:buFontTx/>
            </a:pPr>
            <a:r>
              <a:rPr lang="en-US" altLang="zh-CN" sz="2400" b="1" dirty="0">
                <a:solidFill>
                  <a:srgbClr val="FF0000"/>
                </a:solidFill>
                <a:sym typeface="+mn-ea"/>
              </a:rPr>
              <a:t>&lt;args_2&gt;</a:t>
            </a:r>
            <a:endParaRPr lang="en-US" altLang="zh-CN" sz="2400" b="1" dirty="0">
              <a:solidFill>
                <a:srgbClr val="FF0000"/>
              </a:solidFill>
              <a:sym typeface="+mn-ea"/>
            </a:endParaRPr>
          </a:p>
          <a:p>
            <a:pPr algn="l">
              <a:lnSpc>
                <a:spcPct val="150000"/>
              </a:lnSpc>
              <a:buFontTx/>
            </a:pPr>
            <a:r>
              <a:rPr lang="en-US" altLang="zh-CN" sz="2400" b="1" dirty="0">
                <a:solidFill>
                  <a:srgbClr val="FF0000"/>
                </a:solidFill>
                <a:sym typeface="+mn-ea"/>
              </a:rPr>
              <a:t>...</a:t>
            </a:r>
            <a:endParaRPr lang="zh-CN" altLang="en-US" sz="2400" b="1" dirty="0">
              <a:solidFill>
                <a:srgbClr val="FF0000"/>
              </a:solidFill>
              <a:sym typeface="+mn-ea"/>
            </a:endParaRPr>
          </a:p>
          <a:p>
            <a:pPr algn="l">
              <a:lnSpc>
                <a:spcPct val="150000"/>
              </a:lnSpc>
              <a:buFontTx/>
            </a:pPr>
            <a:r>
              <a:rPr lang="zh-CN" altLang="en-US" sz="2400" dirty="0">
                <a:sym typeface="+mn-ea"/>
              </a:rPr>
              <a:t>该程序会将</a:t>
            </a:r>
            <a:r>
              <a:rPr lang="en-US" altLang="zh-CN" sz="2400" b="1" dirty="0">
                <a:solidFill>
                  <a:srgbClr val="FF0000"/>
                </a:solidFill>
                <a:sym typeface="+mn-ea"/>
              </a:rPr>
              <a:t>&lt;args_i&gt;</a:t>
            </a:r>
            <a:r>
              <a:rPr lang="zh-CN" altLang="en-US" sz="2400" b="1" dirty="0">
                <a:solidFill>
                  <a:srgbClr val="FF0000"/>
                </a:solidFill>
                <a:sym typeface="+mn-ea"/>
              </a:rPr>
              <a:t>依次与</a:t>
            </a:r>
            <a:r>
              <a:rPr lang="en-US" altLang="zh-CN" sz="2400" b="1" dirty="0">
                <a:solidFill>
                  <a:srgbClr val="FF0000"/>
                </a:solidFill>
                <a:sym typeface="+mn-ea"/>
              </a:rPr>
              <a:t>&lt;args_0&gt;</a:t>
            </a:r>
            <a:r>
              <a:rPr lang="zh-CN" altLang="en-US" sz="2400" b="1" dirty="0">
                <a:solidFill>
                  <a:srgbClr val="FF0000"/>
                </a:solidFill>
                <a:sym typeface="+mn-ea"/>
              </a:rPr>
              <a:t>拼接，并交由</a:t>
            </a:r>
            <a:r>
              <a:rPr lang="en-US" altLang="zh-CN" sz="2400" b="1" dirty="0">
                <a:solidFill>
                  <a:srgbClr val="FF0000"/>
                </a:solidFill>
                <a:sym typeface="+mn-ea"/>
              </a:rPr>
              <a:t>&lt;command&gt;</a:t>
            </a:r>
            <a:r>
              <a:rPr lang="zh-CN" altLang="en-US" sz="2400" b="1" dirty="0">
                <a:solidFill>
                  <a:srgbClr val="FF0000"/>
                </a:solidFill>
                <a:sym typeface="+mn-ea"/>
              </a:rPr>
              <a:t>执行即：</a:t>
            </a:r>
            <a:endParaRPr lang="zh-CN" altLang="en-US" sz="2400" b="1" dirty="0">
              <a:solidFill>
                <a:srgbClr val="FF0000"/>
              </a:solidFill>
              <a:sym typeface="+mn-ea"/>
            </a:endParaRPr>
          </a:p>
          <a:p>
            <a:pPr algn="l">
              <a:lnSpc>
                <a:spcPct val="150000"/>
              </a:lnSpc>
              <a:buFontTx/>
            </a:pPr>
            <a:r>
              <a:rPr lang="en-US" altLang="zh-CN" sz="2400" b="1" dirty="0">
                <a:solidFill>
                  <a:srgbClr val="FF0000"/>
                </a:solidFill>
                <a:sym typeface="+mn-ea"/>
              </a:rPr>
              <a:t>&lt;command&gt; &lt;args_0+args_1&gt;</a:t>
            </a:r>
            <a:endParaRPr lang="en-US" altLang="zh-CN" sz="2400" b="1" dirty="0">
              <a:solidFill>
                <a:srgbClr val="FF0000"/>
              </a:solidFill>
              <a:sym typeface="+mn-ea"/>
            </a:endParaRPr>
          </a:p>
          <a:p>
            <a:pPr algn="l">
              <a:lnSpc>
                <a:spcPct val="150000"/>
              </a:lnSpc>
              <a:buFontTx/>
            </a:pPr>
            <a:r>
              <a:rPr lang="en-US" altLang="zh-CN" sz="2400" b="1" dirty="0">
                <a:solidFill>
                  <a:srgbClr val="FF0000"/>
                </a:solidFill>
                <a:sym typeface="+mn-ea"/>
              </a:rPr>
              <a:t>&lt;command&gt; &lt;args_0+args_2&gt;</a:t>
            </a:r>
            <a:endParaRPr lang="en-US" altLang="zh-CN" sz="2400" b="1" dirty="0">
              <a:solidFill>
                <a:srgbClr val="FF0000"/>
              </a:solidFill>
              <a:sym typeface="+mn-ea"/>
            </a:endParaRPr>
          </a:p>
          <a:p>
            <a:pPr algn="l">
              <a:lnSpc>
                <a:spcPct val="150000"/>
              </a:lnSpc>
              <a:buFontTx/>
            </a:pPr>
            <a:r>
              <a:rPr lang="en-US" altLang="zh-CN" sz="2400" b="1" dirty="0">
                <a:solidFill>
                  <a:srgbClr val="FF0000"/>
                </a:solidFill>
                <a:sym typeface="+mn-ea"/>
              </a:rPr>
              <a:t>&lt;command&gt; &lt;args_0+args_3&gt; ...</a:t>
            </a:r>
            <a:endParaRPr lang="en-US" altLang="zh-CN" sz="2400" b="1" dirty="0">
              <a:solidFill>
                <a:srgbClr val="FF0000"/>
              </a:solidFill>
              <a:sym typeface="+mn-ea"/>
            </a:endParaRPr>
          </a:p>
          <a:p>
            <a:pPr indent="0" algn="l">
              <a:lnSpc>
                <a:spcPct val="150000"/>
              </a:lnSpc>
              <a:buFontTx/>
              <a:buNone/>
            </a:pPr>
            <a:endParaRPr lang="en-US" altLang="zh-CN" sz="2400" b="1" dirty="0">
              <a:solidFill>
                <a:srgbClr val="FF0000"/>
              </a:solidFill>
              <a:sym typeface="+mn-ea"/>
            </a:endParaRPr>
          </a:p>
          <a:p>
            <a:pPr algn="l">
              <a:lnSpc>
                <a:spcPct val="150000"/>
              </a:lnSpc>
              <a:buFontTx/>
            </a:pPr>
            <a:endParaRPr lang="zh-CN" altLang="en-US" sz="2400" b="1" dirty="0">
              <a:solidFill>
                <a:srgbClr val="FF0000"/>
              </a:solidFill>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492125" y="3712210"/>
            <a:ext cx="2868930" cy="2684145"/>
          </a:xfrm>
          <a:prstGeom prst="rect">
            <a:avLst/>
          </a:prstGeom>
        </p:spPr>
      </p:pic>
      <p:sp>
        <p:nvSpPr>
          <p:cNvPr id="3" name="标题 2"/>
          <p:cNvSpPr>
            <a:spLocks noGrp="1"/>
          </p:cNvSpPr>
          <p:nvPr>
            <p:ph type="title"/>
          </p:nvPr>
        </p:nvSpPr>
        <p:spPr/>
        <p:txBody>
          <a:bodyPr anchor="ctr"/>
          <a:lstStyle/>
          <a:p>
            <a:r>
              <a:rPr lang="zh-CN" altLang="en-US" dirty="0">
                <a:solidFill>
                  <a:srgbClr val="002060"/>
                </a:solidFill>
                <a:sym typeface="+mn-ea"/>
              </a:rPr>
              <a:t>任务一：应用系统调用编写程序</a:t>
            </a:r>
            <a:r>
              <a:rPr lang="en-US" altLang="zh-CN" dirty="0">
                <a:solidFill>
                  <a:srgbClr val="002060"/>
                </a:solidFill>
                <a:sym typeface="+mn-ea"/>
              </a:rPr>
              <a:t>——xargs</a:t>
            </a:r>
            <a:endParaRPr lang="en-US" altLang="zh-CN" dirty="0">
              <a:solidFill>
                <a:srgbClr val="002060"/>
              </a:solidFill>
              <a:sym typeface="+mn-ea"/>
            </a:endParaRPr>
          </a:p>
        </p:txBody>
      </p:sp>
      <p:sp>
        <p:nvSpPr>
          <p:cNvPr id="2" name="内容占位符 1"/>
          <p:cNvSpPr>
            <a:spLocks noGrp="1"/>
          </p:cNvSpPr>
          <p:nvPr>
            <p:ph idx="1"/>
          </p:nvPr>
        </p:nvSpPr>
        <p:spPr>
          <a:xfrm>
            <a:off x="492125" y="1125855"/>
            <a:ext cx="11268075" cy="2586355"/>
          </a:xfrm>
        </p:spPr>
        <p:txBody>
          <a:bodyPr/>
          <a:lstStyle/>
          <a:p>
            <a:pPr algn="l">
              <a:lnSpc>
                <a:spcPct val="150000"/>
              </a:lnSpc>
              <a:buFontTx/>
            </a:pPr>
            <a:r>
              <a:rPr lang="zh-CN" altLang="en-US" sz="2400" dirty="0">
                <a:sym typeface="+mn-ea"/>
              </a:rPr>
              <a:t>利用</a:t>
            </a:r>
            <a:r>
              <a:rPr lang="en-US" altLang="zh-CN" sz="2400" dirty="0">
                <a:sym typeface="+mn-ea"/>
              </a:rPr>
              <a:t>fork</a:t>
            </a:r>
            <a:r>
              <a:rPr lang="zh-CN" altLang="en-US" sz="2400" dirty="0">
                <a:sym typeface="+mn-ea"/>
              </a:rPr>
              <a:t>和</a:t>
            </a:r>
            <a:r>
              <a:rPr lang="en-US" altLang="zh-CN" sz="2400" dirty="0">
                <a:sym typeface="+mn-ea"/>
              </a:rPr>
              <a:t>exec</a:t>
            </a:r>
            <a:r>
              <a:rPr lang="zh-CN" altLang="en-US" sz="2400" dirty="0">
                <a:sym typeface="+mn-ea"/>
              </a:rPr>
              <a:t>系统调用，编写一个程序</a:t>
            </a:r>
            <a:r>
              <a:rPr lang="en-US" altLang="zh-CN" sz="2400" dirty="0">
                <a:sym typeface="+mn-ea"/>
              </a:rPr>
              <a:t>xargs</a:t>
            </a:r>
            <a:r>
              <a:rPr lang="zh-CN" altLang="en-US" sz="2400" dirty="0">
                <a:sym typeface="+mn-ea"/>
              </a:rPr>
              <a:t>，实现一个</a:t>
            </a:r>
            <a:r>
              <a:rPr lang="en-US" altLang="zh-CN" sz="2400" b="1" dirty="0">
                <a:solidFill>
                  <a:srgbClr val="FF0000"/>
                </a:solidFill>
                <a:sym typeface="+mn-ea"/>
              </a:rPr>
              <a:t>指令参数拼接器</a:t>
            </a:r>
            <a:endParaRPr lang="en-US" altLang="zh-CN" sz="2400" b="1" dirty="0">
              <a:solidFill>
                <a:srgbClr val="FF0000"/>
              </a:solidFill>
              <a:sym typeface="+mn-ea"/>
            </a:endParaRPr>
          </a:p>
          <a:p>
            <a:pPr algn="l">
              <a:lnSpc>
                <a:spcPct val="150000"/>
              </a:lnSpc>
              <a:buFontTx/>
            </a:pPr>
            <a:r>
              <a:rPr lang="zh-CN" altLang="en-US" sz="2400" b="1" dirty="0">
                <a:solidFill>
                  <a:srgbClr val="FF0000"/>
                </a:solidFill>
                <a:sym typeface="+mn-ea"/>
              </a:rPr>
              <a:t>程序需要在</a:t>
            </a:r>
            <a:r>
              <a:rPr lang="en-US" altLang="zh-CN" sz="2400" b="1" dirty="0">
                <a:solidFill>
                  <a:srgbClr val="FF0000"/>
                </a:solidFill>
                <a:sym typeface="+mn-ea"/>
              </a:rPr>
              <a:t>qemu</a:t>
            </a:r>
            <a:r>
              <a:rPr lang="zh-CN" altLang="en-US" sz="2400" b="1" dirty="0">
                <a:solidFill>
                  <a:srgbClr val="FF0000"/>
                </a:solidFill>
                <a:sym typeface="+mn-ea"/>
              </a:rPr>
              <a:t>中运行，调用格式为</a:t>
            </a:r>
            <a:r>
              <a:rPr lang="en-US" altLang="zh-CN" sz="2400" b="1" dirty="0">
                <a:solidFill>
                  <a:srgbClr val="FF0000"/>
                </a:solidFill>
                <a:sym typeface="+mn-ea"/>
              </a:rPr>
              <a:t>:xargs &lt;command&gt; &lt;args_0&gt;</a:t>
            </a:r>
            <a:endParaRPr lang="en-US" altLang="zh-CN" sz="2400" b="1" dirty="0">
              <a:solidFill>
                <a:srgbClr val="FF0000"/>
              </a:solidFill>
              <a:sym typeface="+mn-ea"/>
            </a:endParaRPr>
          </a:p>
          <a:p>
            <a:pPr algn="l">
              <a:lnSpc>
                <a:spcPct val="150000"/>
              </a:lnSpc>
              <a:buFontTx/>
            </a:pPr>
            <a:r>
              <a:rPr lang="en-US" altLang="zh-CN" sz="2400" b="1" dirty="0">
                <a:solidFill>
                  <a:srgbClr val="FF0000"/>
                </a:solidFill>
                <a:sym typeface="+mn-ea"/>
              </a:rPr>
              <a:t>&lt;args_1&gt;</a:t>
            </a:r>
            <a:endParaRPr lang="en-US" altLang="zh-CN" sz="2400" b="1" dirty="0">
              <a:solidFill>
                <a:srgbClr val="FF0000"/>
              </a:solidFill>
              <a:sym typeface="+mn-ea"/>
            </a:endParaRPr>
          </a:p>
          <a:p>
            <a:pPr algn="l">
              <a:lnSpc>
                <a:spcPct val="150000"/>
              </a:lnSpc>
              <a:buFontTx/>
            </a:pPr>
            <a:r>
              <a:rPr lang="en-US" altLang="zh-CN" sz="2400" b="1" dirty="0">
                <a:solidFill>
                  <a:srgbClr val="FF0000"/>
                </a:solidFill>
                <a:sym typeface="+mn-ea"/>
              </a:rPr>
              <a:t>&lt;args_2&gt;</a:t>
            </a:r>
            <a:endParaRPr lang="en-US" altLang="zh-CN" sz="2400" b="1" dirty="0">
              <a:solidFill>
                <a:srgbClr val="FF0000"/>
              </a:solidFill>
              <a:sym typeface="+mn-ea"/>
            </a:endParaRPr>
          </a:p>
          <a:p>
            <a:pPr algn="l">
              <a:lnSpc>
                <a:spcPct val="150000"/>
              </a:lnSpc>
              <a:buFontTx/>
            </a:pPr>
            <a:r>
              <a:rPr lang="en-US" altLang="zh-CN" sz="2400" b="1" dirty="0">
                <a:solidFill>
                  <a:srgbClr val="FF0000"/>
                </a:solidFill>
                <a:sym typeface="+mn-ea"/>
              </a:rPr>
              <a:t>...</a:t>
            </a:r>
            <a:endParaRPr lang="zh-CN" altLang="en-US" sz="2400" b="1" dirty="0">
              <a:solidFill>
                <a:srgbClr val="FF0000"/>
              </a:solidFill>
              <a:sym typeface="+mn-ea"/>
            </a:endParaRPr>
          </a:p>
          <a:p>
            <a:pPr algn="l">
              <a:lnSpc>
                <a:spcPct val="150000"/>
              </a:lnSpc>
              <a:buFontTx/>
            </a:pPr>
            <a:endParaRPr lang="zh-CN" altLang="en-US" sz="2400" dirty="0">
              <a:sym typeface="+mn-ea"/>
            </a:endParaRPr>
          </a:p>
        </p:txBody>
      </p:sp>
      <p:sp>
        <p:nvSpPr>
          <p:cNvPr id="8" name="文本框 7"/>
          <p:cNvSpPr txBox="1"/>
          <p:nvPr/>
        </p:nvSpPr>
        <p:spPr>
          <a:xfrm>
            <a:off x="772795" y="6489383"/>
            <a:ext cx="1097280" cy="368300"/>
          </a:xfrm>
          <a:prstGeom prst="rect">
            <a:avLst/>
          </a:prstGeom>
          <a:noFill/>
        </p:spPr>
        <p:txBody>
          <a:bodyPr wrap="none" rtlCol="0">
            <a:spAutoFit/>
          </a:bodyPr>
          <a:lstStyle/>
          <a:p>
            <a:r>
              <a:rPr lang="zh-CN" altLang="en-US"/>
              <a:t>运行效果</a:t>
            </a:r>
            <a:endParaRPr lang="zh-CN" altLang="en-US"/>
          </a:p>
        </p:txBody>
      </p:sp>
      <p:sp>
        <p:nvSpPr>
          <p:cNvPr id="9" name="文本框 8"/>
          <p:cNvSpPr txBox="1"/>
          <p:nvPr/>
        </p:nvSpPr>
        <p:spPr>
          <a:xfrm>
            <a:off x="7231380" y="6284913"/>
            <a:ext cx="1097280" cy="368300"/>
          </a:xfrm>
          <a:prstGeom prst="rect">
            <a:avLst/>
          </a:prstGeom>
          <a:noFill/>
        </p:spPr>
        <p:txBody>
          <a:bodyPr wrap="none" rtlCol="0">
            <a:spAutoFit/>
          </a:bodyPr>
          <a:lstStyle/>
          <a:p>
            <a:r>
              <a:rPr lang="zh-CN" altLang="en-US"/>
              <a:t>评分效果</a:t>
            </a:r>
            <a:endParaRPr lang="zh-CN" altLang="en-US"/>
          </a:p>
        </p:txBody>
      </p:sp>
      <p:pic>
        <p:nvPicPr>
          <p:cNvPr id="7" name="图片 6"/>
          <p:cNvPicPr>
            <a:picLocks noChangeAspect="1"/>
          </p:cNvPicPr>
          <p:nvPr/>
        </p:nvPicPr>
        <p:blipFill>
          <a:blip r:embed="rId2"/>
          <a:stretch>
            <a:fillRect/>
          </a:stretch>
        </p:blipFill>
        <p:spPr>
          <a:xfrm>
            <a:off x="3837305" y="4868545"/>
            <a:ext cx="7225030" cy="97663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634470"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实验目的</a:t>
            </a:r>
            <a:endParaRPr kumimoji="1" lang="zh-CN" altLang="en-US" b="1" dirty="0">
              <a:solidFill>
                <a:srgbClr val="990000"/>
              </a:solidFill>
              <a:latin typeface="微软雅黑" panose="020B0503020204020204" pitchFamily="34" charset="-122"/>
              <a:ea typeface="微软雅黑" panose="020B0503020204020204" pitchFamily="34" charset="-122"/>
            </a:endParaRPr>
          </a:p>
          <a:p>
            <a:pPr marL="914400" lvl="1" indent="-457200">
              <a:lnSpc>
                <a:spcPct val="150000"/>
              </a:lnSpc>
              <a:buFont typeface="Wingdings" panose="05000000000000000000" pitchFamily="2" charset="2"/>
              <a:buChar char="q"/>
            </a:pPr>
            <a:r>
              <a:rPr lang="zh-CN" altLang="en-US" sz="2000" dirty="0">
                <a:latin typeface="+mn-lt"/>
                <a:ea typeface="+mn-lt"/>
                <a:cs typeface="+mn-lt"/>
                <a:sym typeface="Wingdings" panose="05000000000000000000" pitchFamily="2" charset="2"/>
              </a:rPr>
              <a:t>任务二的目的是对操作系统的系统调用模块进行修改，尽可能在真正修改操作系统之前，先对操作系统有一定的了解。</a:t>
            </a:r>
            <a:endParaRPr lang="zh-CN" altLang="en-US" sz="2000" dirty="0">
              <a:latin typeface="+mn-lt"/>
              <a:ea typeface="+mn-lt"/>
              <a:cs typeface="+mn-lt"/>
              <a:sym typeface="Wingdings" panose="05000000000000000000" pitchFamily="2" charset="2"/>
            </a:endParaRPr>
          </a:p>
          <a:p>
            <a:pPr marL="1371600" lvl="2" indent="-457200">
              <a:lnSpc>
                <a:spcPct val="150000"/>
              </a:lnSpc>
              <a:buFont typeface="Wingdings" panose="05000000000000000000" charset="0"/>
              <a:buChar char="Ø"/>
            </a:pPr>
            <a:r>
              <a:rPr lang="zh-CN" altLang="en-US" sz="2000" dirty="0">
                <a:latin typeface="+mn-lt"/>
                <a:ea typeface="+mn-lt"/>
                <a:cs typeface="+mn-lt"/>
                <a:sym typeface="Wingdings" panose="05000000000000000000" pitchFamily="2" charset="2"/>
              </a:rPr>
              <a:t>了解xv6系统调用的工作原理。</a:t>
            </a:r>
            <a:endParaRPr lang="zh-CN" altLang="en-US" sz="2000" dirty="0">
              <a:latin typeface="+mn-lt"/>
              <a:ea typeface="+mn-lt"/>
              <a:cs typeface="+mn-lt"/>
              <a:sym typeface="Wingdings" panose="05000000000000000000" pitchFamily="2" charset="2"/>
            </a:endParaRPr>
          </a:p>
          <a:p>
            <a:pPr marL="1371600" lvl="2" indent="-457200">
              <a:lnSpc>
                <a:spcPct val="150000"/>
              </a:lnSpc>
              <a:buFont typeface="Wingdings" panose="05000000000000000000" charset="0"/>
              <a:buChar char="Ø"/>
            </a:pPr>
            <a:r>
              <a:rPr lang="zh-CN" altLang="en-US" sz="2000" dirty="0">
                <a:latin typeface="+mn-lt"/>
                <a:ea typeface="+mn-lt"/>
                <a:cs typeface="+mn-lt"/>
                <a:sym typeface="Wingdings" panose="05000000000000000000" pitchFamily="2" charset="2"/>
              </a:rPr>
              <a:t>熟悉xv6通过系统调用给用户程序提供服务的机制。</a:t>
            </a:r>
            <a:endParaRPr lang="zh-CN" altLang="en-US" sz="2000" dirty="0">
              <a:latin typeface="+mn-lt"/>
              <a:ea typeface="+mn-lt"/>
              <a:cs typeface="+mn-lt"/>
              <a:sym typeface="Wingdings" panose="05000000000000000000" pitchFamily="2" charset="2"/>
            </a:endParaRPr>
          </a:p>
          <a:p>
            <a:pPr marL="914400" lvl="1" indent="-457200">
              <a:lnSpc>
                <a:spcPct val="150000"/>
              </a:lnSpc>
              <a:buFont typeface="Wingdings" panose="05000000000000000000" pitchFamily="2" charset="2"/>
              <a:buChar char="q"/>
            </a:pPr>
            <a:endParaRPr lang="zh-CN" altLang="en-US" sz="2000"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pPr algn="l">
              <a:buClrTx/>
              <a:buSzTx/>
              <a:buFontTx/>
            </a:pPr>
            <a:r>
              <a:rPr lang="zh-CN" altLang="en-US" dirty="0">
                <a:solidFill>
                  <a:srgbClr val="002060"/>
                </a:solidFill>
                <a:sym typeface="+mn-ea"/>
              </a:rPr>
              <a:t>任务二：添加系统调用</a:t>
            </a:r>
            <a:endParaRPr lang="zh-CN" altLang="en-US" dirty="0">
              <a:solidFill>
                <a:srgbClr val="002060"/>
              </a:solidFill>
              <a:sym typeface="+mn-ea"/>
            </a:endParaRPr>
          </a:p>
        </p:txBody>
      </p:sp>
      <p:sp>
        <p:nvSpPr>
          <p:cNvPr id="5" name="文本框 4"/>
          <p:cNvSpPr txBox="1"/>
          <p:nvPr/>
        </p:nvSpPr>
        <p:spPr>
          <a:xfrm>
            <a:off x="968375" y="3523615"/>
            <a:ext cx="5935980" cy="368300"/>
          </a:xfrm>
          <a:prstGeom prst="rect">
            <a:avLst/>
          </a:prstGeom>
          <a:noFill/>
        </p:spPr>
        <p:txBody>
          <a:bodyPr wrap="square" rtlCol="0">
            <a:spAutoFit/>
          </a:bodyPr>
          <a:lstStyle/>
          <a:p>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本次实验基于</a:t>
            </a:r>
            <a:r>
              <a:rPr lang="en-US" altLang="zh-CN"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syscall</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分支</a:t>
            </a:r>
            <a:endPar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nvSpPr>
        <p:spPr>
          <a:xfrm>
            <a:off x="1202690" y="3891915"/>
            <a:ext cx="8755380" cy="506730"/>
          </a:xfrm>
          <a:prstGeom prst="rect">
            <a:avLst/>
          </a:prstGeom>
          <a:solidFill>
            <a:schemeClr val="bg1">
              <a:lumMod val="95000"/>
            </a:schemeClr>
          </a:solidFill>
        </p:spPr>
        <p:style>
          <a:lnRef idx="0">
            <a:srgbClr val="FFFFFF"/>
          </a:lnRef>
          <a:fillRef idx="2">
            <a:schemeClr val="accent1"/>
          </a:fillRef>
          <a:effectRef idx="0">
            <a:srgbClr val="FFFFFF"/>
          </a:effectRef>
          <a:fontRef idx="minor">
            <a:schemeClr val="dk1"/>
          </a:fontRef>
        </p:style>
        <p:txBody>
          <a:bodyPr wrap="square" rtlCol="0">
            <a:spAutoFit/>
          </a:bodyPr>
          <a:lstStyle/>
          <a:p>
            <a:pPr>
              <a:lnSpc>
                <a:spcPct val="150000"/>
              </a:lnSpc>
            </a:pPr>
            <a:r>
              <a:rPr lang="en-US" altLang="zh-CN"/>
              <a:t>$ git checkout syscall</a:t>
            </a:r>
            <a:endParaRPr lang="en-US" altLang="zh-CN"/>
          </a:p>
        </p:txBody>
      </p:sp>
      <p:sp>
        <p:nvSpPr>
          <p:cNvPr id="9" name="文本框 8"/>
          <p:cNvSpPr txBox="1"/>
          <p:nvPr/>
        </p:nvSpPr>
        <p:spPr>
          <a:xfrm>
            <a:off x="1101090" y="4917440"/>
            <a:ext cx="3177540" cy="368300"/>
          </a:xfrm>
          <a:prstGeom prst="rect">
            <a:avLst/>
          </a:prstGeom>
          <a:noFill/>
        </p:spPr>
        <p:txBody>
          <a:bodyPr wrap="square" rtlCol="0">
            <a:spAutoFit/>
          </a:bodyPr>
          <a:lstStyle/>
          <a:p>
            <a:r>
              <a:rPr lang="zh-CN" altLang="en-US"/>
              <a:t>通过</a:t>
            </a:r>
            <a:r>
              <a:rPr lang="en-US" altLang="zh-CN"/>
              <a:t>git branch</a:t>
            </a:r>
            <a:r>
              <a:rPr lang="zh-CN" altLang="en-US"/>
              <a:t>检查当前分支：</a:t>
            </a:r>
            <a:endParaRPr lang="zh-CN" altLang="en-US"/>
          </a:p>
        </p:txBody>
      </p:sp>
      <p:pic>
        <p:nvPicPr>
          <p:cNvPr id="2" name="图片 1"/>
          <p:cNvPicPr>
            <a:picLocks noChangeAspect="1"/>
          </p:cNvPicPr>
          <p:nvPr/>
        </p:nvPicPr>
        <p:blipFill>
          <a:blip r:embed="rId1"/>
          <a:stretch>
            <a:fillRect/>
          </a:stretch>
        </p:blipFill>
        <p:spPr>
          <a:xfrm>
            <a:off x="5968365" y="4917440"/>
            <a:ext cx="3100705" cy="8528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任务二：添加系统调用</a:t>
            </a:r>
            <a:endParaRPr lang="zh-CN" altLang="en-US" dirty="0">
              <a:solidFill>
                <a:srgbClr val="002060"/>
              </a:solidFill>
              <a:sym typeface="+mn-ea"/>
            </a:endParaRPr>
          </a:p>
        </p:txBody>
      </p:sp>
      <p:sp>
        <p:nvSpPr>
          <p:cNvPr id="4" name="内容占位符 3"/>
          <p:cNvSpPr>
            <a:spLocks noGrp="1"/>
          </p:cNvSpPr>
          <p:nvPr>
            <p:ph idx="1"/>
          </p:nvPr>
        </p:nvSpPr>
        <p:spPr>
          <a:xfrm>
            <a:off x="221615" y="910590"/>
            <a:ext cx="11315700" cy="5601335"/>
          </a:xfrm>
        </p:spPr>
        <p:txBody>
          <a:bodyPr/>
          <a:lstStyle/>
          <a:p>
            <a:pPr lvl="0" indent="0" algn="l">
              <a:lnSpc>
                <a:spcPct val="150000"/>
              </a:lnSpc>
              <a:buNone/>
            </a:pPr>
            <a:r>
              <a:rPr lang="zh-CN" altLang="en-US" sz="2400" b="1" dirty="0">
                <a:solidFill>
                  <a:srgbClr val="990000"/>
                </a:solidFill>
              </a:rPr>
              <a:t>任务二</a:t>
            </a:r>
            <a:r>
              <a:rPr lang="en-US" altLang="zh-CN" sz="2400" b="1" dirty="0">
                <a:solidFill>
                  <a:srgbClr val="990000"/>
                </a:solidFill>
              </a:rPr>
              <a:t>-</a:t>
            </a:r>
            <a:r>
              <a:rPr lang="zh-CN" altLang="en-US" sz="2400" b="1" dirty="0">
                <a:solidFill>
                  <a:srgbClr val="990000"/>
                </a:solidFill>
              </a:rPr>
              <a:t>①：系统调用信息的打印（</a:t>
            </a:r>
            <a:r>
              <a:rPr lang="en-US" altLang="zh-CN" sz="2400" b="1" dirty="0">
                <a:solidFill>
                  <a:srgbClr val="990000"/>
                </a:solidFill>
              </a:rPr>
              <a:t>Trace</a:t>
            </a:r>
            <a:r>
              <a:rPr lang="zh-CN" altLang="en-US" sz="2400" b="1" dirty="0">
                <a:solidFill>
                  <a:srgbClr val="990000"/>
                </a:solidFill>
              </a:rPr>
              <a:t>）</a:t>
            </a:r>
            <a:endParaRPr lang="en-US" altLang="zh-CN" sz="2400" b="1" dirty="0">
              <a:solidFill>
                <a:srgbClr val="990000"/>
              </a:solidFill>
            </a:endParaRPr>
          </a:p>
          <a:p>
            <a:pPr lvl="0" algn="l">
              <a:lnSpc>
                <a:spcPct val="150000"/>
              </a:lnSpc>
              <a:buFont typeface="Wingdings" panose="05000000000000000000" charset="0"/>
              <a:buChar char="q"/>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先来看看程序的执行流程，大致流程如下图所示：</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1823720" y="1964690"/>
            <a:ext cx="8541385" cy="4720590"/>
          </a:xfrm>
          <a:prstGeom prst="rect">
            <a:avLst/>
          </a:prstGeom>
        </p:spPr>
      </p:pic>
      <p:sp>
        <p:nvSpPr>
          <p:cNvPr id="6" name="文本框 5"/>
          <p:cNvSpPr txBox="1"/>
          <p:nvPr/>
        </p:nvSpPr>
        <p:spPr>
          <a:xfrm>
            <a:off x="1824990" y="3091815"/>
            <a:ext cx="2874010" cy="337185"/>
          </a:xfrm>
          <a:prstGeom prst="rect">
            <a:avLst/>
          </a:prstGeom>
        </p:spPr>
        <p:txBody>
          <a:bodyPr wrap="square">
            <a:spAutoFit/>
          </a:bodyPr>
          <a:p>
            <a:pPr marL="0" indent="0" algn="l"/>
            <a:r>
              <a:rPr lang="en-US" altLang="zh-CN" sz="1600" b="0" i="0">
                <a:solidFill>
                  <a:srgbClr val="C7254E"/>
                </a:solidFill>
                <a:latin typeface="Source Code Pro"/>
                <a:ea typeface="Source Code Pro"/>
              </a:rPr>
              <a:t>trace 32 echo hello </a:t>
            </a:r>
            <a:endParaRPr lang="en-US" altLang="zh-CN" sz="1600" b="0" i="0">
              <a:solidFill>
                <a:srgbClr val="C7254E"/>
              </a:solidFill>
              <a:latin typeface="Source Code Pro"/>
              <a:ea typeface="Source Code Pr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任务二：添加系统调用</a:t>
            </a:r>
            <a:r>
              <a:rPr lang="en-US" altLang="zh-CN" dirty="0">
                <a:solidFill>
                  <a:srgbClr val="002060"/>
                </a:solidFill>
                <a:sym typeface="+mn-ea"/>
              </a:rPr>
              <a:t>——trace</a:t>
            </a:r>
            <a:endParaRPr lang="en-US" altLang="zh-CN" dirty="0">
              <a:solidFill>
                <a:srgbClr val="002060"/>
              </a:solidFill>
              <a:sym typeface="+mn-ea"/>
            </a:endParaRPr>
          </a:p>
        </p:txBody>
      </p:sp>
      <p:sp>
        <p:nvSpPr>
          <p:cNvPr id="4" name="内容占位符 3"/>
          <p:cNvSpPr>
            <a:spLocks noGrp="1"/>
          </p:cNvSpPr>
          <p:nvPr>
            <p:ph idx="1"/>
          </p:nvPr>
        </p:nvSpPr>
        <p:spPr>
          <a:xfrm>
            <a:off x="221615" y="910590"/>
            <a:ext cx="11315700" cy="5601335"/>
          </a:xfrm>
        </p:spPr>
        <p:txBody>
          <a:bodyPr/>
          <a:lstStyle/>
          <a:p>
            <a:pPr lvl="0" indent="0" algn="l">
              <a:lnSpc>
                <a:spcPct val="150000"/>
              </a:lnSpc>
              <a:buNone/>
            </a:pPr>
            <a:r>
              <a:rPr lang="zh-CN" altLang="en-US" sz="2400" b="1" dirty="0">
                <a:solidFill>
                  <a:srgbClr val="990000"/>
                </a:solidFill>
              </a:rPr>
              <a:t>任务</a:t>
            </a:r>
            <a:r>
              <a:rPr lang="zh-CN" altLang="en-US" sz="2400" b="1" dirty="0">
                <a:solidFill>
                  <a:srgbClr val="990000"/>
                </a:solidFill>
                <a:sym typeface="+mn-ea"/>
              </a:rPr>
              <a:t>二</a:t>
            </a:r>
            <a:r>
              <a:rPr lang="en-US" altLang="zh-CN" sz="2400" b="1" dirty="0">
                <a:solidFill>
                  <a:srgbClr val="990000"/>
                </a:solidFill>
                <a:sym typeface="+mn-ea"/>
              </a:rPr>
              <a:t>-</a:t>
            </a:r>
            <a:r>
              <a:rPr lang="zh-CN" altLang="en-US" sz="2400" b="1" dirty="0">
                <a:solidFill>
                  <a:srgbClr val="990000"/>
                </a:solidFill>
                <a:sym typeface="+mn-ea"/>
              </a:rPr>
              <a:t>①</a:t>
            </a:r>
            <a:r>
              <a:rPr lang="zh-CN" altLang="en-US" sz="2400" b="1" dirty="0">
                <a:solidFill>
                  <a:srgbClr val="990000"/>
                </a:solidFill>
              </a:rPr>
              <a:t>：系统调用信息的打印（</a:t>
            </a:r>
            <a:r>
              <a:rPr lang="en-US" altLang="zh-CN" sz="2400" b="1" dirty="0">
                <a:solidFill>
                  <a:srgbClr val="990000"/>
                </a:solidFill>
              </a:rPr>
              <a:t>Trace</a:t>
            </a:r>
            <a:r>
              <a:rPr lang="zh-CN" altLang="en-US" sz="2400" b="1" dirty="0">
                <a:solidFill>
                  <a:srgbClr val="990000"/>
                </a:solidFill>
              </a:rPr>
              <a:t>）</a:t>
            </a:r>
            <a:endParaRPr lang="en-US" altLang="zh-CN" sz="2400" b="1" dirty="0">
              <a:solidFill>
                <a:srgbClr val="990000"/>
              </a:solidFill>
            </a:endParaRPr>
          </a:p>
          <a:p>
            <a:pPr lvl="0" algn="l">
              <a:lnSpc>
                <a:spcPct val="150000"/>
              </a:lnSpc>
              <a:buFont typeface="Wingdings" panose="05000000000000000000" charset="0"/>
              <a:buChar char="q"/>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添加一个</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系统调用跟踪功能</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。创建一个新的</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trace系统调用来控制跟踪</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。它应该有一个参数，这个参数是一个整数“掩码”（mask），它的比特位指定要跟踪的系统调用。例如，要跟踪</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fork</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系统调用，程序调用</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trace(1 &lt;&lt; SYS_fork)</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，其中SYS_fork是</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kernel/syscall.h</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中的系统调用编号。如果在掩码中设置了系统调用的编号，则必须修改xv6内核，以便在每个系统调用即将返回时打印出一行。</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该行应该包含进程id、系统调用的名称和返回值</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；您不需要打印系统调用参数。trace系统调用应启用对调用它的进程及其随后派生的任何子进程的跟踪，但不应影响其他进程。</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328930" y="4885055"/>
            <a:ext cx="3474085" cy="1468120"/>
          </a:xfrm>
          <a:prstGeom prst="rect">
            <a:avLst/>
          </a:prstGeom>
        </p:spPr>
      </p:pic>
      <p:pic>
        <p:nvPicPr>
          <p:cNvPr id="5" name="图片 4"/>
          <p:cNvPicPr>
            <a:picLocks noChangeAspect="1"/>
          </p:cNvPicPr>
          <p:nvPr/>
        </p:nvPicPr>
        <p:blipFill>
          <a:blip r:embed="rId2"/>
          <a:stretch>
            <a:fillRect/>
          </a:stretch>
        </p:blipFill>
        <p:spPr>
          <a:xfrm>
            <a:off x="4085590" y="4441825"/>
            <a:ext cx="3832860" cy="2070100"/>
          </a:xfrm>
          <a:prstGeom prst="rect">
            <a:avLst/>
          </a:prstGeom>
        </p:spPr>
      </p:pic>
      <p:pic>
        <p:nvPicPr>
          <p:cNvPr id="6" name="图片 5"/>
          <p:cNvPicPr>
            <a:picLocks noChangeAspect="1"/>
          </p:cNvPicPr>
          <p:nvPr/>
        </p:nvPicPr>
        <p:blipFill>
          <a:blip r:embed="rId3"/>
          <a:stretch>
            <a:fillRect/>
          </a:stretch>
        </p:blipFill>
        <p:spPr>
          <a:xfrm>
            <a:off x="7693025" y="4750435"/>
            <a:ext cx="3549015" cy="700405"/>
          </a:xfrm>
          <a:prstGeom prst="rect">
            <a:avLst/>
          </a:prstGeom>
        </p:spPr>
      </p:pic>
      <p:sp>
        <p:nvSpPr>
          <p:cNvPr id="7" name="文本框 6"/>
          <p:cNvSpPr txBox="1"/>
          <p:nvPr/>
        </p:nvSpPr>
        <p:spPr>
          <a:xfrm>
            <a:off x="0" y="6353175"/>
            <a:ext cx="4902835" cy="368300"/>
          </a:xfrm>
          <a:prstGeom prst="rect">
            <a:avLst/>
          </a:prstGeom>
          <a:noFill/>
        </p:spPr>
        <p:txBody>
          <a:bodyPr wrap="square" rtlCol="0">
            <a:spAutoFit/>
          </a:bodyPr>
          <a:p>
            <a:r>
              <a:rPr lang="zh-CN" altLang="en-US"/>
              <a:t>进程标识符</a:t>
            </a:r>
            <a:r>
              <a:rPr lang="en-US" altLang="zh-CN"/>
              <a:t>PID </a:t>
            </a:r>
            <a:r>
              <a:rPr lang="zh-CN" altLang="en-US"/>
              <a:t>系统调用名称</a:t>
            </a:r>
            <a:r>
              <a:rPr lang="en-US" altLang="zh-CN"/>
              <a:t> </a:t>
            </a:r>
            <a:r>
              <a:rPr lang="zh-CN" altLang="en-US"/>
              <a:t>系统调用返回码</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任务二：添加系统调用</a:t>
            </a:r>
            <a:r>
              <a:rPr lang="en-US" altLang="zh-CN" dirty="0">
                <a:solidFill>
                  <a:srgbClr val="002060"/>
                </a:solidFill>
                <a:sym typeface="+mn-ea"/>
              </a:rPr>
              <a:t>——trace</a:t>
            </a:r>
            <a:endParaRPr lang="zh-CN" altLang="en-US" dirty="0">
              <a:solidFill>
                <a:srgbClr val="002060"/>
              </a:solidFill>
              <a:sym typeface="+mn-ea"/>
            </a:endParaRPr>
          </a:p>
        </p:txBody>
      </p:sp>
      <p:sp>
        <p:nvSpPr>
          <p:cNvPr id="4" name="内容占位符 3"/>
          <p:cNvSpPr>
            <a:spLocks noGrp="1"/>
          </p:cNvSpPr>
          <p:nvPr>
            <p:ph idx="1"/>
          </p:nvPr>
        </p:nvSpPr>
        <p:spPr>
          <a:xfrm>
            <a:off x="221615" y="910590"/>
            <a:ext cx="11866245" cy="5795010"/>
          </a:xfrm>
        </p:spPr>
        <p:txBody>
          <a:bodyPr/>
          <a:lstStyle/>
          <a:p>
            <a:pPr lvl="0" indent="0" algn="l">
              <a:lnSpc>
                <a:spcPct val="150000"/>
              </a:lnSpc>
              <a:buNone/>
            </a:pPr>
            <a:r>
              <a:rPr lang="zh-CN" altLang="en-US" sz="2400" b="1" dirty="0">
                <a:solidFill>
                  <a:srgbClr val="990000"/>
                </a:solidFill>
              </a:rPr>
              <a:t>任务</a:t>
            </a:r>
            <a:r>
              <a:rPr lang="zh-CN" altLang="en-US" sz="2400" b="1" dirty="0">
                <a:solidFill>
                  <a:srgbClr val="990000"/>
                </a:solidFill>
                <a:sym typeface="+mn-ea"/>
              </a:rPr>
              <a:t>二</a:t>
            </a:r>
            <a:r>
              <a:rPr lang="en-US" altLang="zh-CN" sz="2400" b="1" dirty="0">
                <a:solidFill>
                  <a:srgbClr val="990000"/>
                </a:solidFill>
                <a:sym typeface="+mn-ea"/>
              </a:rPr>
              <a:t>-</a:t>
            </a:r>
            <a:r>
              <a:rPr lang="zh-CN" altLang="en-US" sz="2400" b="1" dirty="0">
                <a:solidFill>
                  <a:srgbClr val="990000"/>
                </a:solidFill>
                <a:sym typeface="+mn-ea"/>
              </a:rPr>
              <a:t>①</a:t>
            </a:r>
            <a:r>
              <a:rPr lang="zh-CN" altLang="en-US" sz="2400" b="1" dirty="0">
                <a:solidFill>
                  <a:srgbClr val="990000"/>
                </a:solidFill>
              </a:rPr>
              <a:t>：</a:t>
            </a:r>
            <a:r>
              <a:rPr lang="zh-CN" altLang="en-US" sz="2400" b="1" dirty="0">
                <a:solidFill>
                  <a:srgbClr val="990000"/>
                </a:solidFill>
                <a:sym typeface="+mn-ea"/>
              </a:rPr>
              <a:t>系统调用信息的打印（</a:t>
            </a:r>
            <a:r>
              <a:rPr lang="en-US" altLang="zh-CN" sz="2400" b="1" dirty="0">
                <a:solidFill>
                  <a:srgbClr val="990000"/>
                </a:solidFill>
                <a:sym typeface="+mn-ea"/>
              </a:rPr>
              <a:t>Trace</a:t>
            </a:r>
            <a:r>
              <a:rPr lang="zh-CN" altLang="en-US" sz="2400" b="1" dirty="0">
                <a:solidFill>
                  <a:srgbClr val="990000"/>
                </a:solidFill>
                <a:sym typeface="+mn-ea"/>
              </a:rPr>
              <a:t>）</a:t>
            </a:r>
            <a:endParaRPr lang="zh-CN" altLang="en-US" sz="2400" b="1" dirty="0">
              <a:solidFill>
                <a:srgbClr val="990000"/>
              </a:solidFill>
              <a:sym typeface="+mn-ea"/>
            </a:endParaRPr>
          </a:p>
          <a:p>
            <a:pPr lvl="1" algn="l">
              <a:lnSpc>
                <a:spcPct val="150000"/>
              </a:lnSpc>
              <a:buFont typeface="Wingdings" panose="05000000000000000000" charset="0"/>
              <a:buChar char="Ø"/>
            </a:pPr>
            <a:r>
              <a:rPr sz="1710" dirty="0"/>
              <a:t>将$U/_trace添加到Makefile的UPROGS中</a:t>
            </a:r>
            <a:endParaRPr sz="1710" dirty="0"/>
          </a:p>
          <a:p>
            <a:pPr lvl="1" algn="l">
              <a:lnSpc>
                <a:spcPct val="150000"/>
              </a:lnSpc>
              <a:buFont typeface="Wingdings" panose="05000000000000000000" charset="0"/>
              <a:buChar char="Ø"/>
            </a:pPr>
            <a:r>
              <a:rPr sz="1710" dirty="0"/>
              <a:t>将系统调用的原型添加到user/user.h，将调钩添加到user/usys.pl中，并将syscall编号添加到kernel/syscall.h。Makefile调用perl脚本user/usys.pl，它生成user/usys.S，即实际的系统调用调钩，它使用RISC-V ecall指令转换到内核。当你修复上述编译问题后，运行trace 32 grep hello README时仍会失败，因为你尚未在内核中实现系统调用</a:t>
            </a:r>
            <a:r>
              <a:rPr lang="zh-CN" sz="1710" dirty="0"/>
              <a:t>。</a:t>
            </a:r>
            <a:endParaRPr sz="1710" dirty="0"/>
          </a:p>
          <a:p>
            <a:pPr lvl="1" algn="l">
              <a:lnSpc>
                <a:spcPct val="150000"/>
              </a:lnSpc>
              <a:buFont typeface="Wingdings" panose="05000000000000000000" charset="0"/>
              <a:buChar char="Ø"/>
            </a:pPr>
            <a:r>
              <a:rPr sz="1710" dirty="0"/>
              <a:t> 在kernel/sysproc.c中添加一个sys_strace( )函数，通过在proc结构的新变量中记住其参数来实现新的系统调用（请参见kernel/proc.h）。从用户空间检索系统调用参数的函数在kernel/syscall.c中，你可以在kernel/sysproc.c中看到它们的使用示例。</a:t>
            </a:r>
            <a:endParaRPr sz="1710" dirty="0"/>
          </a:p>
          <a:p>
            <a:pPr lvl="1" algn="l">
              <a:lnSpc>
                <a:spcPct val="150000"/>
              </a:lnSpc>
              <a:buFont typeface="Wingdings" panose="05000000000000000000" charset="0"/>
              <a:buChar char="Ø"/>
            </a:pPr>
            <a:r>
              <a:rPr sz="1710" dirty="0"/>
              <a:t>修改fork( )（参见kernel/proc.c）将跟踪掩码从父进程复制到子进程。</a:t>
            </a:r>
            <a:endParaRPr sz="1710" dirty="0"/>
          </a:p>
          <a:p>
            <a:pPr lvl="1" algn="l">
              <a:lnSpc>
                <a:spcPct val="150000"/>
              </a:lnSpc>
              <a:buFont typeface="Wingdings" panose="05000000000000000000" charset="0"/>
              <a:buChar char="Ø"/>
            </a:pPr>
            <a:r>
              <a:rPr sz="1710" dirty="0"/>
              <a:t>在kernel/syscall.c中的syscall( )函数中添加一个系统调用名称数组的索引在其中，以输出跟踪结果。</a:t>
            </a:r>
            <a:endParaRPr sz="171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任务二：添加系统调用</a:t>
            </a:r>
            <a:r>
              <a:rPr lang="en-US" altLang="zh-CN" dirty="0">
                <a:solidFill>
                  <a:srgbClr val="002060"/>
                </a:solidFill>
                <a:sym typeface="+mn-ea"/>
              </a:rPr>
              <a:t>——trace</a:t>
            </a:r>
            <a:endParaRPr lang="zh-CN" altLang="en-US" dirty="0">
              <a:solidFill>
                <a:srgbClr val="002060"/>
              </a:solidFill>
            </a:endParaRPr>
          </a:p>
        </p:txBody>
      </p:sp>
      <p:pic>
        <p:nvPicPr>
          <p:cNvPr id="9" name="图片 8"/>
          <p:cNvPicPr>
            <a:picLocks noChangeAspect="1"/>
          </p:cNvPicPr>
          <p:nvPr/>
        </p:nvPicPr>
        <p:blipFill>
          <a:blip r:embed="rId1"/>
          <a:stretch>
            <a:fillRect/>
          </a:stretch>
        </p:blipFill>
        <p:spPr>
          <a:xfrm>
            <a:off x="4743450" y="2007235"/>
            <a:ext cx="3034030" cy="4062730"/>
          </a:xfrm>
          <a:prstGeom prst="rect">
            <a:avLst/>
          </a:prstGeom>
        </p:spPr>
      </p:pic>
      <p:pic>
        <p:nvPicPr>
          <p:cNvPr id="11" name="图片 10"/>
          <p:cNvPicPr>
            <a:picLocks noChangeAspect="1"/>
          </p:cNvPicPr>
          <p:nvPr/>
        </p:nvPicPr>
        <p:blipFill>
          <a:blip r:embed="rId2"/>
          <a:stretch>
            <a:fillRect/>
          </a:stretch>
        </p:blipFill>
        <p:spPr>
          <a:xfrm>
            <a:off x="7595870" y="2849880"/>
            <a:ext cx="4367530" cy="1157605"/>
          </a:xfrm>
          <a:prstGeom prst="rect">
            <a:avLst/>
          </a:prstGeom>
        </p:spPr>
      </p:pic>
      <p:sp>
        <p:nvSpPr>
          <p:cNvPr id="14" name="文本框 13"/>
          <p:cNvSpPr txBox="1"/>
          <p:nvPr/>
        </p:nvSpPr>
        <p:spPr>
          <a:xfrm>
            <a:off x="4743450" y="1268095"/>
            <a:ext cx="4064000" cy="368300"/>
          </a:xfrm>
          <a:prstGeom prst="rect">
            <a:avLst/>
          </a:prstGeom>
          <a:noFill/>
        </p:spPr>
        <p:txBody>
          <a:bodyPr wrap="square" rtlCol="0">
            <a:spAutoFit/>
          </a:bodyPr>
          <a:p>
            <a:r>
              <a:rPr lang="zh-CN" altLang="en-US">
                <a:solidFill>
                  <a:srgbClr val="FF0000"/>
                </a:solidFill>
              </a:rPr>
              <a:t>运行结果：</a:t>
            </a:r>
            <a:endParaRPr lang="zh-CN" altLang="en-US">
              <a:solidFill>
                <a:srgbClr val="FF0000"/>
              </a:solidFill>
            </a:endParaRPr>
          </a:p>
        </p:txBody>
      </p:sp>
      <p:pic>
        <p:nvPicPr>
          <p:cNvPr id="17" name="内容占位符 16"/>
          <p:cNvPicPr>
            <a:picLocks noChangeAspect="1"/>
          </p:cNvPicPr>
          <p:nvPr>
            <p:ph idx="1"/>
          </p:nvPr>
        </p:nvPicPr>
        <p:blipFill>
          <a:blip r:embed="rId3"/>
          <a:stretch>
            <a:fillRect/>
          </a:stretch>
        </p:blipFill>
        <p:spPr>
          <a:xfrm>
            <a:off x="611505" y="932815"/>
            <a:ext cx="4066540" cy="55276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任务二：添加系统调用</a:t>
            </a:r>
            <a:r>
              <a:rPr lang="en-US" altLang="zh-CN" dirty="0">
                <a:solidFill>
                  <a:srgbClr val="002060"/>
                </a:solidFill>
                <a:sym typeface="+mn-ea"/>
              </a:rPr>
              <a:t>——sysinfo</a:t>
            </a:r>
            <a:endParaRPr lang="en-US" altLang="zh-CN" dirty="0">
              <a:solidFill>
                <a:srgbClr val="002060"/>
              </a:solidFill>
              <a:sym typeface="+mn-ea"/>
            </a:endParaRPr>
          </a:p>
        </p:txBody>
      </p:sp>
      <p:sp>
        <p:nvSpPr>
          <p:cNvPr id="4" name="内容占位符 3"/>
          <p:cNvSpPr>
            <a:spLocks noGrp="1"/>
          </p:cNvSpPr>
          <p:nvPr>
            <p:ph idx="1"/>
          </p:nvPr>
        </p:nvSpPr>
        <p:spPr>
          <a:xfrm>
            <a:off x="221615" y="1110615"/>
            <a:ext cx="11315700" cy="5601335"/>
          </a:xfrm>
        </p:spPr>
        <p:txBody>
          <a:bodyPr/>
          <a:lstStyle/>
          <a:p>
            <a:pPr lvl="0" indent="0" algn="l">
              <a:lnSpc>
                <a:spcPct val="150000"/>
              </a:lnSpc>
              <a:buNone/>
            </a:pPr>
            <a:r>
              <a:rPr lang="zh-CN" altLang="en-US" sz="2400" b="1" dirty="0">
                <a:solidFill>
                  <a:srgbClr val="990000"/>
                </a:solidFill>
              </a:rPr>
              <a:t>任务</a:t>
            </a:r>
            <a:r>
              <a:rPr lang="zh-CN" altLang="en-US" sz="2400" b="1" dirty="0">
                <a:solidFill>
                  <a:srgbClr val="990000"/>
                </a:solidFill>
                <a:sym typeface="+mn-ea"/>
              </a:rPr>
              <a:t>二</a:t>
            </a:r>
            <a:r>
              <a:rPr lang="en-US" altLang="zh-CN" sz="2400" b="1" dirty="0">
                <a:solidFill>
                  <a:srgbClr val="990000"/>
                </a:solidFill>
                <a:sym typeface="+mn-ea"/>
              </a:rPr>
              <a:t>-</a:t>
            </a:r>
            <a:r>
              <a:rPr lang="zh-CN" altLang="en-US" sz="2400" b="1" dirty="0">
                <a:solidFill>
                  <a:srgbClr val="990000"/>
                </a:solidFill>
                <a:sym typeface="+mn-ea"/>
              </a:rPr>
              <a:t>②</a:t>
            </a:r>
            <a:r>
              <a:rPr lang="zh-CN" altLang="en-US" sz="2400" b="1" dirty="0">
                <a:solidFill>
                  <a:srgbClr val="990000"/>
                </a:solidFill>
              </a:rPr>
              <a:t>：收集有关运行系统的信息（</a:t>
            </a:r>
            <a:r>
              <a:rPr lang="en-US" altLang="zh-CN" sz="2400" b="1" dirty="0">
                <a:solidFill>
                  <a:srgbClr val="990000"/>
                </a:solidFill>
              </a:rPr>
              <a:t>Sysinfo</a:t>
            </a:r>
            <a:r>
              <a:rPr lang="zh-CN" altLang="en-US" sz="2400" b="1" dirty="0">
                <a:solidFill>
                  <a:srgbClr val="990000"/>
                </a:solidFill>
              </a:rPr>
              <a:t>）</a:t>
            </a:r>
            <a:endParaRPr lang="en-US" altLang="zh-CN" sz="2400" b="1" dirty="0">
              <a:solidFill>
                <a:srgbClr val="990000"/>
              </a:solidFill>
            </a:endParaRPr>
          </a:p>
          <a:p>
            <a:pPr lvl="0" algn="l">
              <a:lnSpc>
                <a:spcPct val="150000"/>
              </a:lnSpc>
              <a:buFont typeface="Wingdings" panose="05000000000000000000" charset="0"/>
              <a:buChar char="q"/>
            </a:pPr>
            <a:r>
              <a:rPr sz="2000"/>
              <a:t>该系统调用有一个参数，即指向结构sysinfo的指针（参见kernel/sysinfo.h）。内核为该结构的各个字段赋值：设置freemem字段为可用内存的字节数，设置nproc字段为状态是非UNUSED的进程数。实验提供了一个测试程序sysinfotest，如果输出“sysinfotest:OK”，则该任务通过。</a:t>
            </a:r>
            <a:endParaRPr sz="2000"/>
          </a:p>
          <a:p>
            <a:pPr lvl="0" algn="l">
              <a:lnSpc>
                <a:spcPct val="150000"/>
              </a:lnSpc>
              <a:buFont typeface="Wingdings" panose="05000000000000000000" charset="0"/>
              <a:buChar char="q"/>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内容占位符 3"/>
          <p:cNvSpPr>
            <a:spLocks noGrp="1"/>
          </p:cNvSpPr>
          <p:nvPr/>
        </p:nvSpPr>
        <p:spPr>
          <a:xfrm>
            <a:off x="221615" y="2994025"/>
            <a:ext cx="11866245" cy="5795010"/>
          </a:xfrm>
          <a:prstGeom prst="rect">
            <a:avLst/>
          </a:prstGeom>
          <a:noFill/>
          <a:ln>
            <a:noFill/>
          </a:ln>
        </p:spPr>
        <p:txBody>
          <a:bodyPr vert="horz" wrap="square" lIns="91440" tIns="45720" rIns="91440" bIns="45720" numCol="1" anchor="t" anchorCtr="0" compatLnSpc="1"/>
          <a:lst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a:lnSpc>
                <a:spcPct val="150000"/>
              </a:lnSpc>
              <a:buFont typeface="Wingdings" panose="05000000000000000000" charset="0"/>
              <a:buChar char="Ø"/>
            </a:pPr>
            <a:r>
              <a:rPr sz="1710" dirty="0"/>
              <a:t>将$U/_sysinfotest添加到Makefile的UPROGS中。</a:t>
            </a:r>
            <a:endParaRPr sz="1710" dirty="0"/>
          </a:p>
          <a:p>
            <a:pPr lvl="1" algn="l">
              <a:lnSpc>
                <a:spcPct val="150000"/>
              </a:lnSpc>
              <a:buFont typeface="Wingdings" panose="05000000000000000000" charset="0"/>
              <a:buChar char="Ø"/>
            </a:pPr>
            <a:r>
              <a:rPr sz="1710" dirty="0"/>
              <a:t>运行make qemu，user/sysinfotest.c将无法编译。添加系统调用sysinfo，步骤与前面的trace系统调用相同。要在user/user.h中声明sysinfo( )的原型</a:t>
            </a:r>
            <a:r>
              <a:rPr lang="zh-CN" sz="1710" dirty="0"/>
              <a:t>。</a:t>
            </a:r>
            <a:endParaRPr lang="zh-CN" sz="1710" dirty="0"/>
          </a:p>
          <a:p>
            <a:pPr lvl="1" algn="l">
              <a:lnSpc>
                <a:spcPct val="150000"/>
              </a:lnSpc>
              <a:buFont typeface="Wingdings" panose="05000000000000000000" charset="0"/>
              <a:buChar char="Ø"/>
            </a:pPr>
            <a:r>
              <a:rPr lang="zh-CN" sz="1710" dirty="0"/>
              <a:t>修改上述编译问题后，运行sysinfotest将会失败，因为你尚未在内核中实现系统调用。</a:t>
            </a:r>
            <a:endParaRPr lang="zh-CN" sz="1710" dirty="0"/>
          </a:p>
          <a:p>
            <a:pPr lvl="1" algn="l">
              <a:lnSpc>
                <a:spcPct val="150000"/>
              </a:lnSpc>
              <a:buFont typeface="Wingdings" panose="05000000000000000000" charset="0"/>
              <a:buChar char="Ø"/>
            </a:pPr>
            <a:r>
              <a:rPr lang="zh-CN" sz="1710" dirty="0"/>
              <a:t>sysinfo需要将struct sysinfo复制到用户空间，请参阅sys_fstat( )(kernel/sysfile.c)和filestat( )(kernel/file.c)以获取如何使用copyout()执行此操作的示例。</a:t>
            </a:r>
            <a:endParaRPr lang="zh-CN" sz="1710" dirty="0"/>
          </a:p>
          <a:p>
            <a:pPr lvl="1" algn="l">
              <a:lnSpc>
                <a:spcPct val="150000"/>
              </a:lnSpc>
              <a:buFont typeface="Wingdings" panose="05000000000000000000" charset="0"/>
              <a:buChar char="Ø"/>
            </a:pPr>
            <a:r>
              <a:rPr lang="zh-CN" sz="1710" dirty="0"/>
              <a:t>请在kernel/kalloc.c中添加一个函数，收集可用内存量。</a:t>
            </a:r>
            <a:endParaRPr lang="zh-CN" sz="1710" dirty="0"/>
          </a:p>
          <a:p>
            <a:pPr lvl="1" algn="l">
              <a:lnSpc>
                <a:spcPct val="150000"/>
              </a:lnSpc>
              <a:buFont typeface="Wingdings" panose="05000000000000000000" charset="0"/>
              <a:buChar char="Ø"/>
            </a:pPr>
            <a:r>
              <a:rPr lang="zh-CN" sz="1710" dirty="0"/>
              <a:t> 请在kernel/proc.c中添加一个函数，收集进程数。</a:t>
            </a:r>
            <a:endParaRPr lang="zh-CN" sz="171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任务二：添加系统调用</a:t>
            </a:r>
            <a:r>
              <a:rPr lang="en-US" altLang="zh-CN" dirty="0">
                <a:solidFill>
                  <a:srgbClr val="002060"/>
                </a:solidFill>
                <a:sym typeface="+mn-ea"/>
              </a:rPr>
              <a:t>——sysinfo</a:t>
            </a:r>
            <a:endParaRPr lang="zh-CN" altLang="en-US" dirty="0">
              <a:solidFill>
                <a:srgbClr val="002060"/>
              </a:solidFill>
              <a:sym typeface="+mn-ea"/>
            </a:endParaRPr>
          </a:p>
        </p:txBody>
      </p:sp>
      <p:sp>
        <p:nvSpPr>
          <p:cNvPr id="4" name="内容占位符 3"/>
          <p:cNvSpPr>
            <a:spLocks noGrp="1"/>
          </p:cNvSpPr>
          <p:nvPr>
            <p:ph idx="1"/>
          </p:nvPr>
        </p:nvSpPr>
        <p:spPr>
          <a:xfrm>
            <a:off x="221615" y="910590"/>
            <a:ext cx="11315700" cy="5601335"/>
          </a:xfrm>
        </p:spPr>
        <p:txBody>
          <a:bodyPr/>
          <a:lstStyle/>
          <a:p>
            <a:pPr lvl="0" indent="0" algn="l">
              <a:lnSpc>
                <a:spcPct val="150000"/>
              </a:lnSpc>
              <a:buNone/>
            </a:pPr>
            <a:r>
              <a:rPr lang="zh-CN" altLang="en-US" sz="2400" b="1" dirty="0">
                <a:solidFill>
                  <a:srgbClr val="990000"/>
                </a:solidFill>
              </a:rPr>
              <a:t>任务二</a:t>
            </a:r>
            <a:r>
              <a:rPr lang="en-US" altLang="zh-CN" sz="2400" b="1" dirty="0">
                <a:solidFill>
                  <a:srgbClr val="990000"/>
                </a:solidFill>
              </a:rPr>
              <a:t>-</a:t>
            </a:r>
            <a:r>
              <a:rPr lang="zh-CN" altLang="en-US" sz="2400" b="1" dirty="0">
                <a:solidFill>
                  <a:srgbClr val="990000"/>
                </a:solidFill>
                <a:sym typeface="+mn-ea"/>
              </a:rPr>
              <a:t>②</a:t>
            </a:r>
            <a:r>
              <a:rPr lang="zh-CN" altLang="en-US" sz="2400" b="1" dirty="0">
                <a:solidFill>
                  <a:srgbClr val="990000"/>
                </a:solidFill>
              </a:rPr>
              <a:t>：收集有关运行系统的信息（</a:t>
            </a:r>
            <a:r>
              <a:rPr lang="en-US" altLang="zh-CN" sz="2400" b="1" dirty="0">
                <a:solidFill>
                  <a:srgbClr val="990000"/>
                </a:solidFill>
              </a:rPr>
              <a:t>Sysinfo</a:t>
            </a:r>
            <a:r>
              <a:rPr lang="zh-CN" altLang="en-US" sz="2400" b="1" dirty="0">
                <a:solidFill>
                  <a:srgbClr val="990000"/>
                </a:solidFill>
              </a:rPr>
              <a:t>）</a:t>
            </a:r>
            <a:endParaRPr lang="en-US" altLang="zh-CN" sz="2400" b="1" dirty="0">
              <a:solidFill>
                <a:srgbClr val="990000"/>
              </a:solidFill>
            </a:endParaRPr>
          </a:p>
          <a:p>
            <a:pPr lvl="0" algn="l">
              <a:lnSpc>
                <a:spcPct val="150000"/>
              </a:lnSpc>
              <a:buFont typeface="Wingdings" panose="05000000000000000000" charset="0"/>
              <a:buChar char="q"/>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内容占位符 3"/>
          <p:cNvSpPr>
            <a:spLocks noGrp="1"/>
          </p:cNvSpPr>
          <p:nvPr/>
        </p:nvSpPr>
        <p:spPr>
          <a:xfrm>
            <a:off x="221615" y="2994025"/>
            <a:ext cx="11866245" cy="5795010"/>
          </a:xfrm>
          <a:prstGeom prst="rect">
            <a:avLst/>
          </a:prstGeom>
          <a:noFill/>
          <a:ln>
            <a:noFill/>
          </a:ln>
        </p:spPr>
        <p:txBody>
          <a:bodyPr vert="horz" wrap="square" lIns="91440" tIns="45720" rIns="91440" bIns="45720" numCol="1" anchor="t" anchorCtr="0" compatLnSpc="1"/>
          <a:lst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a:lnSpc>
                <a:spcPct val="150000"/>
              </a:lnSpc>
              <a:buFont typeface="Wingdings" panose="05000000000000000000" charset="0"/>
              <a:buChar char="Ø"/>
            </a:pPr>
            <a:endParaRPr lang="zh-CN" sz="1710" dirty="0"/>
          </a:p>
        </p:txBody>
      </p:sp>
      <p:pic>
        <p:nvPicPr>
          <p:cNvPr id="3" name="图片 2"/>
          <p:cNvPicPr>
            <a:picLocks noChangeAspect="1"/>
          </p:cNvPicPr>
          <p:nvPr/>
        </p:nvPicPr>
        <p:blipFill>
          <a:blip r:embed="rId1"/>
          <a:stretch>
            <a:fillRect/>
          </a:stretch>
        </p:blipFill>
        <p:spPr>
          <a:xfrm>
            <a:off x="1193800" y="2574925"/>
            <a:ext cx="2329180" cy="1424305"/>
          </a:xfrm>
          <a:prstGeom prst="rect">
            <a:avLst/>
          </a:prstGeom>
        </p:spPr>
      </p:pic>
      <p:pic>
        <p:nvPicPr>
          <p:cNvPr id="5" name="图片 4"/>
          <p:cNvPicPr>
            <a:picLocks noChangeAspect="1"/>
          </p:cNvPicPr>
          <p:nvPr/>
        </p:nvPicPr>
        <p:blipFill>
          <a:blip r:embed="rId2"/>
          <a:stretch>
            <a:fillRect/>
          </a:stretch>
        </p:blipFill>
        <p:spPr>
          <a:xfrm>
            <a:off x="5868670" y="2757170"/>
            <a:ext cx="4758055" cy="776605"/>
          </a:xfrm>
          <a:prstGeom prst="rect">
            <a:avLst/>
          </a:prstGeom>
        </p:spPr>
      </p:pic>
      <p:sp>
        <p:nvSpPr>
          <p:cNvPr id="6" name="文本框 5"/>
          <p:cNvSpPr txBox="1"/>
          <p:nvPr/>
        </p:nvSpPr>
        <p:spPr>
          <a:xfrm>
            <a:off x="1125855" y="4501515"/>
            <a:ext cx="4064000" cy="368300"/>
          </a:xfrm>
          <a:prstGeom prst="rect">
            <a:avLst/>
          </a:prstGeom>
          <a:noFill/>
        </p:spPr>
        <p:txBody>
          <a:bodyPr wrap="square" rtlCol="0">
            <a:spAutoFit/>
          </a:bodyPr>
          <a:p>
            <a:r>
              <a:rPr lang="zh-CN" altLang="en-US">
                <a:solidFill>
                  <a:srgbClr val="FF0000"/>
                </a:solidFill>
              </a:rPr>
              <a:t>运行结果：</a:t>
            </a:r>
            <a:endParaRPr lang="zh-CN" altLang="en-US">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任务三：回答问题</a:t>
            </a:r>
            <a:endParaRPr lang="zh-CN" altLang="en-US" dirty="0">
              <a:solidFill>
                <a:srgbClr val="002060"/>
              </a:solidFill>
              <a:sym typeface="+mn-ea"/>
            </a:endParaRPr>
          </a:p>
        </p:txBody>
      </p:sp>
      <p:sp>
        <p:nvSpPr>
          <p:cNvPr id="4" name="内容占位符 3"/>
          <p:cNvSpPr>
            <a:spLocks noGrp="1"/>
          </p:cNvSpPr>
          <p:nvPr>
            <p:ph idx="1"/>
          </p:nvPr>
        </p:nvSpPr>
        <p:spPr>
          <a:xfrm>
            <a:off x="221615" y="910590"/>
            <a:ext cx="11296015" cy="5601335"/>
          </a:xfrm>
        </p:spPr>
        <p:txBody>
          <a:bodyPr/>
          <a:lstStyle/>
          <a:p>
            <a:pPr lvl="0" algn="l">
              <a:lnSpc>
                <a:spcPct val="200000"/>
              </a:lnSpc>
              <a:buFont typeface="Wingdings" panose="05000000000000000000" charset="0"/>
              <a:buChar char="q"/>
            </a:pPr>
            <a:r>
              <a:rPr sz="2000" dirty="0">
                <a:sym typeface="+mn-ea"/>
              </a:rPr>
              <a:t>(</a:t>
            </a:r>
            <a:r>
              <a:rPr lang="en-US" sz="2000" dirty="0">
                <a:sym typeface="+mn-ea"/>
              </a:rPr>
              <a:t>1</a:t>
            </a:r>
            <a:r>
              <a:rPr sz="2000" dirty="0">
                <a:sym typeface="+mn-ea"/>
              </a:rPr>
              <a:t>) </a:t>
            </a:r>
            <a:r>
              <a:rPr sz="2000" dirty="0">
                <a:sym typeface="+mn-ea"/>
              </a:rPr>
              <a:t>阅读`kernel/syscall.c`，试解释函数 `syscall()` 如何根据系统调用号调用对应的系统调用处理函数（例如`sys_fork`）？`syscall()` 将具体系统调用的返回值存放在哪里？</a:t>
            </a:r>
            <a:endParaRPr sz="2000" dirty="0"/>
          </a:p>
          <a:p>
            <a:pPr lvl="0" algn="l">
              <a:lnSpc>
                <a:spcPct val="200000"/>
              </a:lnSpc>
              <a:buFont typeface="Wingdings" panose="05000000000000000000" charset="0"/>
              <a:buChar char="q"/>
            </a:pPr>
            <a:r>
              <a:rPr sz="2000" dirty="0"/>
              <a:t>(2) 阅读`kernel/syscall.c`，哪些函数用于传递系统调用参数？试解释`argraw()`函数的含义。</a:t>
            </a:r>
            <a:endParaRPr sz="2000" dirty="0"/>
          </a:p>
          <a:p>
            <a:pPr lvl="0" algn="l">
              <a:lnSpc>
                <a:spcPct val="200000"/>
              </a:lnSpc>
              <a:buFont typeface="Wingdings" panose="05000000000000000000" charset="0"/>
              <a:buChar char="q"/>
            </a:pPr>
            <a:r>
              <a:rPr sz="2000" dirty="0"/>
              <a:t>(3) 阅读`kernel/proc.c`和`proc.h`，进程控制块存储在哪个数组中？进程控制块中哪个成员指示了进程的状态？一共有哪些状态？</a:t>
            </a:r>
            <a:endParaRPr sz="2000" dirty="0"/>
          </a:p>
          <a:p>
            <a:pPr lvl="0" algn="l">
              <a:lnSpc>
                <a:spcPct val="200000"/>
              </a:lnSpc>
              <a:buFont typeface="Wingdings" panose="05000000000000000000" charset="0"/>
              <a:buChar char="q"/>
            </a:pPr>
            <a:r>
              <a:rPr sz="2000" dirty="0"/>
              <a:t>(4) 阅读`kernel/kalloc.c`，哪个结构体中的哪个成员可以指示空闲的内存页？</a:t>
            </a:r>
            <a:endParaRPr sz="2000" dirty="0"/>
          </a:p>
          <a:p>
            <a:pPr lvl="0" algn="l">
              <a:lnSpc>
                <a:spcPct val="200000"/>
              </a:lnSpc>
              <a:buFont typeface="Wingdings" panose="05000000000000000000" charset="0"/>
              <a:buChar char="q"/>
            </a:pPr>
            <a:r>
              <a:rPr sz="2000" dirty="0"/>
              <a:t>(5) 阅读`kernel/vm.c`，试解释`copyout()`函数各个参数的含义</a:t>
            </a:r>
            <a:endParaRPr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002060"/>
                </a:solidFill>
                <a:sym typeface="Wingdings" panose="05000000000000000000" pitchFamily="2" charset="2"/>
              </a:rPr>
              <a:t>实验报告</a:t>
            </a:r>
            <a:endParaRPr lang="zh-CN" altLang="en-US" dirty="0">
              <a:solidFill>
                <a:srgbClr val="002060"/>
              </a:solidFill>
            </a:endParaRPr>
          </a:p>
        </p:txBody>
      </p:sp>
      <p:sp>
        <p:nvSpPr>
          <p:cNvPr id="4" name="内容占位符 3"/>
          <p:cNvSpPr>
            <a:spLocks noGrp="1"/>
          </p:cNvSpPr>
          <p:nvPr>
            <p:ph idx="1"/>
          </p:nvPr>
        </p:nvSpPr>
        <p:spPr>
          <a:xfrm>
            <a:off x="325870" y="1330325"/>
            <a:ext cx="11866130" cy="5527675"/>
          </a:xfrm>
        </p:spPr>
        <p:txBody>
          <a:bodyPr/>
          <a:lstStyle/>
          <a:p>
            <a:pPr indent="0">
              <a:lnSpc>
                <a:spcPct val="150000"/>
              </a:lnSpc>
              <a:buNone/>
            </a:pPr>
            <a:r>
              <a:rPr lang="zh-CN" altLang="en-US" sz="2400" dirty="0">
                <a:sym typeface="+mn-ea"/>
              </a:rPr>
              <a:t>实验报告需要：</a:t>
            </a:r>
            <a:endParaRPr lang="en-US" altLang="zh-CN" sz="2400" dirty="0">
              <a:sym typeface="+mn-ea"/>
            </a:endParaRPr>
          </a:p>
          <a:p>
            <a:pPr>
              <a:lnSpc>
                <a:spcPct val="150000"/>
              </a:lnSpc>
            </a:pPr>
            <a:r>
              <a:rPr lang="zh-CN" altLang="en-US" sz="2400" b="1" dirty="0">
                <a:sym typeface="+mn-ea"/>
              </a:rPr>
              <a:t>实现代码解读</a:t>
            </a:r>
            <a:endParaRPr lang="en-US" altLang="zh-CN" sz="2400" dirty="0">
              <a:sym typeface="+mn-ea"/>
            </a:endParaRPr>
          </a:p>
          <a:p>
            <a:pPr>
              <a:lnSpc>
                <a:spcPct val="150000"/>
              </a:lnSpc>
            </a:pPr>
            <a:r>
              <a:rPr lang="zh-CN" altLang="en-US" sz="2400" b="1" u="sng" dirty="0">
                <a:sym typeface="+mn-ea"/>
              </a:rPr>
              <a:t>优化前后</a:t>
            </a:r>
            <a:r>
              <a:rPr lang="zh-CN" altLang="en-US" sz="2400" b="1" dirty="0">
                <a:sym typeface="+mn-ea"/>
              </a:rPr>
              <a:t>测试结果</a:t>
            </a:r>
            <a:endParaRPr lang="en-US" altLang="zh-CN" sz="2400" b="1" dirty="0">
              <a:sym typeface="+mn-ea"/>
            </a:endParaRPr>
          </a:p>
          <a:p>
            <a:pPr>
              <a:lnSpc>
                <a:spcPct val="150000"/>
              </a:lnSpc>
            </a:pPr>
            <a:r>
              <a:rPr lang="zh-CN" altLang="en-US" sz="2400" b="1" dirty="0">
                <a:sym typeface="+mn-ea"/>
              </a:rPr>
              <a:t>实验过程中遇到的问题</a:t>
            </a:r>
            <a:endParaRPr lang="zh-CN" altLang="en-US" sz="2400" b="1" dirty="0">
              <a:sym typeface="+mn-ea"/>
            </a:endParaRPr>
          </a:p>
          <a:p>
            <a:pPr indent="0">
              <a:lnSpc>
                <a:spcPct val="150000"/>
              </a:lnSpc>
              <a:buNone/>
            </a:pPr>
            <a:r>
              <a:rPr lang="zh-CN" altLang="en-US" sz="2400" b="1" dirty="0">
                <a:sym typeface="+mn-ea"/>
              </a:rPr>
              <a:t>  及其解决方案</a:t>
            </a:r>
            <a:endParaRPr lang="en-US" altLang="zh-CN" sz="2400" b="1" dirty="0">
              <a:sym typeface="+mn-ea"/>
            </a:endParaRPr>
          </a:p>
          <a:p>
            <a:pPr>
              <a:lnSpc>
                <a:spcPct val="150000"/>
              </a:lnSpc>
            </a:pPr>
            <a:r>
              <a:rPr lang="zh-CN" altLang="en-US" sz="2400" b="1" dirty="0">
                <a:sym typeface="+mn-ea"/>
              </a:rPr>
              <a:t>实验小结</a:t>
            </a:r>
            <a:endParaRPr lang="zh-CN" altLang="en-US" sz="2400" b="1" dirty="0">
              <a:sym typeface="+mn-ea"/>
            </a:endParaRPr>
          </a:p>
          <a:p>
            <a:pPr>
              <a:lnSpc>
                <a:spcPct val="150000"/>
              </a:lnSpc>
            </a:pPr>
            <a:r>
              <a:rPr lang="zh-CN" altLang="en-US" sz="2400" b="1" dirty="0">
                <a:sym typeface="+mn-ea"/>
              </a:rPr>
              <a:t>回答课后问题</a:t>
            </a:r>
            <a:endParaRPr lang="zh-CN" altLang="en-US" sz="2400" b="1" dirty="0">
              <a:sym typeface="+mn-ea"/>
            </a:endParaRPr>
          </a:p>
        </p:txBody>
      </p:sp>
      <p:pic>
        <p:nvPicPr>
          <p:cNvPr id="11" name="图片 10"/>
          <p:cNvPicPr>
            <a:picLocks noChangeAspect="1"/>
          </p:cNvPicPr>
          <p:nvPr/>
        </p:nvPicPr>
        <p:blipFill rotWithShape="1">
          <a:blip r:embed="rId1"/>
          <a:srcRect r="11283"/>
          <a:stretch>
            <a:fillRect/>
          </a:stretch>
        </p:blipFill>
        <p:spPr>
          <a:xfrm>
            <a:off x="4000281" y="317475"/>
            <a:ext cx="4381835" cy="3997146"/>
          </a:xfrm>
          <a:prstGeom prst="rect">
            <a:avLst/>
          </a:prstGeom>
        </p:spPr>
      </p:pic>
      <p:sp>
        <p:nvSpPr>
          <p:cNvPr id="12" name="文本框 11"/>
          <p:cNvSpPr txBox="1"/>
          <p:nvPr/>
        </p:nvSpPr>
        <p:spPr>
          <a:xfrm>
            <a:off x="8818704" y="2229650"/>
            <a:ext cx="2892931" cy="2584450"/>
          </a:xfrm>
          <a:prstGeom prst="rect">
            <a:avLst/>
          </a:prstGeom>
          <a:noFill/>
        </p:spPr>
        <p:txBody>
          <a:bodyPr wrap="square" rtlCol="0">
            <a:spAutoFit/>
          </a:bodyPr>
          <a:lstStyle/>
          <a:p>
            <a:pPr>
              <a:lnSpc>
                <a:spcPct val="150000"/>
              </a:lnSpc>
            </a:pPr>
            <a:r>
              <a:rPr lang="zh-CN" altLang="en-US" dirty="0"/>
              <a:t>任务一、二完成后需要运行</a:t>
            </a:r>
            <a:r>
              <a:rPr lang="zh-CN" altLang="en-US" b="1" dirty="0" err="1"/>
              <a:t>样例</a:t>
            </a:r>
            <a:r>
              <a:rPr lang="zh-CN" altLang="en-US" dirty="0"/>
              <a:t>通过全部测试，完成后分别运行 </a:t>
            </a:r>
            <a:r>
              <a:rPr lang="en-US" altLang="zh-CN" b="1" dirty="0">
                <a:sym typeface="+mn-ea"/>
              </a:rPr>
              <a:t>./grade-lab-util</a:t>
            </a:r>
            <a:r>
              <a:rPr lang="zh-CN" altLang="en-US" dirty="0">
                <a:sym typeface="+mn-ea"/>
              </a:rPr>
              <a:t>与</a:t>
            </a:r>
            <a:r>
              <a:rPr lang="en-US" altLang="zh-CN" b="1" dirty="0"/>
              <a:t>./grade-lab-syscall</a:t>
            </a:r>
            <a:r>
              <a:rPr lang="zh-CN" altLang="en-US" dirty="0"/>
              <a:t>，并将运行结果附于实验报告。</a:t>
            </a:r>
            <a:endParaRPr lang="zh-CN" altLang="en-US" dirty="0"/>
          </a:p>
        </p:txBody>
      </p:sp>
      <p:pic>
        <p:nvPicPr>
          <p:cNvPr id="15" name="图片 14"/>
          <p:cNvPicPr>
            <a:picLocks noChangeAspect="1"/>
          </p:cNvPicPr>
          <p:nvPr/>
        </p:nvPicPr>
        <p:blipFill>
          <a:blip r:embed="rId2"/>
          <a:stretch>
            <a:fillRect/>
          </a:stretch>
        </p:blipFill>
        <p:spPr>
          <a:xfrm>
            <a:off x="4000281" y="4370211"/>
            <a:ext cx="4381835" cy="226394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4" name="矩形 3"/>
          <p:cNvSpPr>
            <a:spLocks noChangeArrowheads="1"/>
          </p:cNvSpPr>
          <p:nvPr/>
        </p:nvSpPr>
        <p:spPr bwMode="auto">
          <a:xfrm>
            <a:off x="0" y="1840062"/>
            <a:ext cx="12192000" cy="2046288"/>
          </a:xfrm>
          <a:prstGeom prst="rect">
            <a:avLst/>
          </a:prstGeom>
          <a:solidFill>
            <a:srgbClr val="004070">
              <a:alpha val="89803"/>
            </a:srgbClr>
          </a:solidFill>
          <a:ln>
            <a:noFill/>
          </a:ln>
        </p:spPr>
        <p:txBody>
          <a:bodyPr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Thank</a:t>
            </a:r>
            <a:r>
              <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 </a:t>
            </a: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You</a:t>
            </a:r>
            <a:endPar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endParaRPr>
          </a:p>
        </p:txBody>
      </p:sp>
      <p:sp>
        <p:nvSpPr>
          <p:cNvPr id="6147" name="标题 2"/>
          <p:cNvSpPr>
            <a:spLocks noGrp="1" noChangeArrowheads="1"/>
          </p:cNvSpPr>
          <p:nvPr>
            <p:custDataLst>
              <p:tags r:id="rId1"/>
            </p:custDataLst>
          </p:nvPr>
        </p:nvSpPr>
        <p:spPr>
          <a:xfrm>
            <a:off x="807085" y="0"/>
            <a:ext cx="3253105" cy="933450"/>
          </a:xfrm>
          <a:prstGeom prst="rect">
            <a:avLst/>
          </a:prstGeom>
          <a:noFill/>
          <a:ln>
            <a:noFill/>
          </a:ln>
        </p:spPr>
        <p:txBody>
          <a:bodyPr vert="horz" wrap="square" lIns="91440" tIns="45720" rIns="91440" bIns="45720" numCol="1" anchor="ctr" anchorCtr="1" compatLnSpc="1"/>
          <a:lst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a:lstStyle>
          <a:p>
            <a:pPr algn="l" eaLnBrk="1" latinLnBrk="0" hangingPunct="1">
              <a:lnSpc>
                <a:spcPct val="150000"/>
              </a:lnSpc>
            </a:pPr>
            <a:r>
              <a:rPr lang="zh-CN" altLang="en-US" dirty="0">
                <a:latin typeface="Arial" panose="020B0604020202020204" pitchFamily="34" charset="0"/>
                <a:cs typeface="Arial" panose="020B0604020202020204" pitchFamily="34" charset="0"/>
              </a:rPr>
              <a:t>操作系统实验</a:t>
            </a:r>
            <a:endParaRPr lang="zh-CN" altLang="en-US" dirty="0">
              <a:latin typeface="Arial" panose="020B0604020202020204" pitchFamily="34" charset="0"/>
              <a:cs typeface="Arial" panose="020B0604020202020204" pitchFamily="34" charset="0"/>
            </a:endParaRPr>
          </a:p>
        </p:txBody>
      </p:sp>
      <p:pic>
        <p:nvPicPr>
          <p:cNvPr id="3" name="图片 2">
            <a:hlinkClick r:id="rId2" action="ppaction://hlinksldjump"/>
          </p:cNvPr>
          <p:cNvPicPr>
            <a:picLocks noChangeAspect="1"/>
          </p:cNvPicPr>
          <p:nvPr/>
        </p:nvPicPr>
        <p:blipFill>
          <a:blip r:embed="rId3"/>
          <a:stretch>
            <a:fillRect/>
          </a:stretch>
        </p:blipFill>
        <p:spPr>
          <a:xfrm>
            <a:off x="11034821" y="117457"/>
            <a:ext cx="905011" cy="815993"/>
          </a:xfrm>
          <a:prstGeom prst="rect">
            <a:avLst/>
          </a:prstGeom>
        </p:spPr>
      </p:pic>
    </p:spTree>
  </p:cSld>
  <p:clrMapOvr>
    <a:masterClrMapping/>
  </p:clrMapOvr>
  <p:transition spd="slow"/>
</p:sld>
</file>

<file path=ppt/tags/tag1.xml><?xml version="1.0" encoding="utf-8"?>
<p:tagLst xmlns:p="http://schemas.openxmlformats.org/presentationml/2006/main">
  <p:tag name="KSO_WM_BEAUTIFY_FLAG" val=""/>
</p:tagLst>
</file>

<file path=ppt/theme/theme1.xml><?xml version="1.0" encoding="utf-8"?>
<a:theme xmlns:a="http://schemas.openxmlformats.org/drawingml/2006/main" name="主题1">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1">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6276</Words>
  <Application>WPS 演示</Application>
  <PresentationFormat>宽屏</PresentationFormat>
  <Paragraphs>299</Paragraphs>
  <Slides>29</Slides>
  <Notes>28</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29</vt:i4>
      </vt:variant>
    </vt:vector>
  </HeadingPairs>
  <TitlesOfParts>
    <vt:vector size="43" baseType="lpstr">
      <vt:lpstr>Arial</vt:lpstr>
      <vt:lpstr>宋体</vt:lpstr>
      <vt:lpstr>Wingdings</vt:lpstr>
      <vt:lpstr>Calibri</vt:lpstr>
      <vt:lpstr>微软雅黑</vt:lpstr>
      <vt:lpstr>Times New Roman</vt:lpstr>
      <vt:lpstr>Wingdings</vt:lpstr>
      <vt:lpstr>黑体</vt:lpstr>
      <vt:lpstr>Arial Unicode MS</vt:lpstr>
      <vt:lpstr>等线</vt:lpstr>
      <vt:lpstr>Source Code Pro</vt:lpstr>
      <vt:lpstr>Segoe Print</vt:lpstr>
      <vt:lpstr>主题1</vt:lpstr>
      <vt:lpstr>1_主题1</vt:lpstr>
      <vt:lpstr>操作系统实验</vt:lpstr>
      <vt:lpstr>目录</vt:lpstr>
      <vt:lpstr>实验基础知识</vt:lpstr>
      <vt:lpstr>实验基础知识</vt:lpstr>
      <vt:lpstr>实验背景&amp;原理</vt:lpstr>
      <vt:lpstr>实验背景&amp;原理</vt:lpstr>
      <vt:lpstr>实验背景&amp;原理</vt:lpstr>
      <vt:lpstr>实验背景&amp;原理</vt:lpstr>
      <vt:lpstr>实验背景&amp;原理</vt:lpstr>
      <vt:lpstr>实验背景&amp;原理</vt:lpstr>
      <vt:lpstr>实验背景&amp;原理</vt:lpstr>
      <vt:lpstr>实验背景&amp;原理</vt:lpstr>
      <vt:lpstr>任务一：编写系统调用应用程序</vt:lpstr>
      <vt:lpstr>任务一：应用系统调用编写程序——sleep</vt:lpstr>
      <vt:lpstr>任务一：应用系统调用编写程序——pingpong</vt:lpstr>
      <vt:lpstr>任务一：应用系统调用编写程序——primes</vt:lpstr>
      <vt:lpstr>任务一：应用系统调用编写程序——find</vt:lpstr>
      <vt:lpstr>任务一：应用系统调用编写程序——xargs</vt:lpstr>
      <vt:lpstr>任务一：应用系统调用编写程序——xargs</vt:lpstr>
      <vt:lpstr>任务二：添加系统调用</vt:lpstr>
      <vt:lpstr>任务二：添加系统调用</vt:lpstr>
      <vt:lpstr>任务二：添加系统调用——trace</vt:lpstr>
      <vt:lpstr>任务二：添加系统调用——trace</vt:lpstr>
      <vt:lpstr>任务二：添加系统调用——trace</vt:lpstr>
      <vt:lpstr>任务二：添加系统调用——sysinfo</vt:lpstr>
      <vt:lpstr>任务二：添加系统调用——sysinfo</vt:lpstr>
      <vt:lpstr>任务三：回答问题</vt:lpstr>
      <vt:lpstr>实验报告</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LWT</dc:creator>
  <cp:lastModifiedBy>时时.</cp:lastModifiedBy>
  <cp:revision>1923</cp:revision>
  <dcterms:created xsi:type="dcterms:W3CDTF">2024-03-22T09:23:00Z</dcterms:created>
  <dcterms:modified xsi:type="dcterms:W3CDTF">2025-09-29T05:21:47Z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E920F76B14DB45AD8C7B52BE9AAB98F8_13</vt:lpwstr>
  </property>
  <property fmtid="{D5CDD505-2E9C-101B-9397-08002B2CF9AE}" pid="3" name="KSOProductBuildVer">
    <vt:lpwstr>2052-12.1.0.22529</vt:lpwstr>
  </property>
</Properties>
</file>