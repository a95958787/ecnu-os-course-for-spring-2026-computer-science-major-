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9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3F07C-D9D7-489E-94EE-59F569B4A6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797CC-E029-485F-A4DC-69D2F39D8E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797CC-E029-485F-A4DC-69D2F39D8E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7CC48-0F2E-4943-89ED-1EA27FF525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97AE4-9DDE-4927-95E2-A78A83D7BA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80492" y="648677"/>
            <a:ext cx="7979509" cy="33762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操作系统课程实验</a:t>
            </a:r>
            <a:br>
              <a:rPr lang="en-US" altLang="zh-CN" b="1" dirty="0"/>
            </a:br>
            <a:r>
              <a:rPr lang="zh-CN" altLang="en-US" b="1" dirty="0"/>
              <a:t>注意事项说明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1016" y="179754"/>
            <a:ext cx="4220307" cy="773723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4000" b="1" dirty="0"/>
              <a:t>一、实验分支介绍</a:t>
            </a:r>
            <a:endParaRPr lang="zh-CN" altLang="en-US" sz="40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3969" y="1366262"/>
            <a:ext cx="6418504" cy="434440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9527" y="1242646"/>
            <a:ext cx="5254011" cy="5022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使用 </a:t>
            </a:r>
            <a:r>
              <a:rPr lang="en-US" altLang="zh-CN" sz="2400" dirty="0"/>
              <a:t>git branch -a </a:t>
            </a:r>
            <a:r>
              <a:rPr lang="zh-CN" altLang="en-US" sz="2400" dirty="0"/>
              <a:t>查看所有实验分支，其中红色代表本地没有追踪的，绿色代表当前所在的分支，白色代表本地追踪的分支。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使用 </a:t>
            </a:r>
            <a:r>
              <a:rPr lang="en-US" altLang="zh-CN" sz="2400" dirty="0"/>
              <a:t>git checkout </a:t>
            </a:r>
            <a:r>
              <a:rPr lang="zh-CN" altLang="en-US" sz="2400" dirty="0"/>
              <a:t>分支名 </a:t>
            </a:r>
            <a:r>
              <a:rPr lang="en-US" altLang="zh-CN" sz="2400" dirty="0"/>
              <a:t>(</a:t>
            </a:r>
            <a:r>
              <a:rPr lang="zh-CN" altLang="en-US" sz="2400" dirty="0"/>
              <a:t>如 </a:t>
            </a:r>
            <a:r>
              <a:rPr lang="en-US" altLang="zh-CN" sz="2400" dirty="0"/>
              <a:t>util cow fs</a:t>
            </a:r>
            <a:r>
              <a:rPr lang="zh-CN" altLang="en-US" sz="2400" dirty="0"/>
              <a:t>等</a:t>
            </a:r>
            <a:r>
              <a:rPr lang="en-US" altLang="zh-CN" sz="2400" dirty="0"/>
              <a:t>) </a:t>
            </a:r>
            <a:r>
              <a:rPr lang="zh-CN" altLang="en-US" sz="2400" dirty="0"/>
              <a:t>切换当前所在的分支，每次实验前都需要切换到指定分支。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注意：修改代码后不要用 </a:t>
            </a:r>
            <a:r>
              <a:rPr lang="en-US" altLang="zh-CN" sz="2400" dirty="0"/>
              <a:t>git </a:t>
            </a:r>
            <a:r>
              <a:rPr lang="zh-CN" altLang="en-US" sz="2400" dirty="0"/>
              <a:t>提交修改，本地保存即可。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1016" y="179754"/>
            <a:ext cx="4564183" cy="773723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4000" b="1" dirty="0"/>
              <a:t>二、实验计划（暂定）</a:t>
            </a:r>
            <a:endParaRPr lang="zh-CN" altLang="en-US" sz="40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45662" y="1509508"/>
          <a:ext cx="10488245" cy="48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601"/>
                <a:gridCol w="2009825"/>
                <a:gridCol w="3031626"/>
                <a:gridCol w="3479193"/>
              </a:tblGrid>
              <a:tr h="6943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实验次序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实验时间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涉及分支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实验内容</a:t>
                      </a:r>
                      <a:endParaRPr lang="zh-CN" altLang="en-US" sz="2400" dirty="0"/>
                    </a:p>
                  </a:txBody>
                  <a:tcPr anchor="ctr"/>
                </a:tc>
              </a:tr>
              <a:tr h="6943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lab-0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week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不涉及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配置实验环境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6943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lab-1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 week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util + syscall 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用户态编程与系统调用流程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6943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lab-2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 week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pgtbl + cow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页表优化与写时复制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6943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lab-3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 week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traps + lazy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陷阱处理与物理页懒分配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6943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lab-4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 week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thread + lock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多线程与锁机制</a:t>
                      </a:r>
                      <a:endParaRPr lang="zh-CN" altLang="en-US" sz="20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1016" y="179754"/>
            <a:ext cx="4220307" cy="773723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4000" b="1" dirty="0"/>
              <a:t>三、实验作业提交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023813" y="1023815"/>
            <a:ext cx="879231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提交方式：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在超星</a:t>
            </a:r>
            <a:r>
              <a:rPr lang="zh-CN" altLang="en-US" sz="2400" dirty="0"/>
              <a:t>泛雅提交窗口上传文档。可以多次提交，以最后一次为准。在截止日期前提交作业，否则请在群里提前和助教说明情况。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提交内容：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姓名</a:t>
            </a:r>
            <a:r>
              <a:rPr lang="en-US" altLang="zh-CN" sz="2400" dirty="0"/>
              <a:t>-</a:t>
            </a:r>
            <a:r>
              <a:rPr lang="zh-CN" altLang="en-US" sz="2400" dirty="0"/>
              <a:t>实验报告</a:t>
            </a:r>
            <a:r>
              <a:rPr lang="en-US" altLang="zh-CN" sz="2400" dirty="0"/>
              <a:t>.pdf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xv6-</a:t>
            </a:r>
            <a:r>
              <a:rPr lang="zh-CN" altLang="en-US" sz="2400" dirty="0"/>
              <a:t>分支名</a:t>
            </a:r>
            <a:r>
              <a:rPr lang="en-US" altLang="zh-CN" sz="2400" dirty="0"/>
              <a:t>1.zip</a:t>
            </a:r>
            <a:r>
              <a:rPr lang="zh-CN" altLang="en-US" sz="2400" dirty="0"/>
              <a:t>（完整实验代码，如 </a:t>
            </a:r>
            <a:r>
              <a:rPr lang="en-US" altLang="zh-CN" sz="2400" dirty="0"/>
              <a:t>xv6-syscall.zip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xv6-</a:t>
            </a:r>
            <a:r>
              <a:rPr lang="zh-CN" altLang="en-US" sz="2400" dirty="0"/>
              <a:t>分支名</a:t>
            </a:r>
            <a:r>
              <a:rPr lang="en-US" altLang="zh-CN" sz="2400" dirty="0"/>
              <a:t>2.zip</a:t>
            </a:r>
            <a:r>
              <a:rPr lang="zh-CN" altLang="en-US" sz="2400" dirty="0"/>
              <a:t>（一次实验涉及</a:t>
            </a:r>
            <a:r>
              <a:rPr lang="en-US" altLang="zh-CN" sz="2400" dirty="0"/>
              <a:t>2</a:t>
            </a:r>
            <a:r>
              <a:rPr lang="zh-CN" altLang="en-US" sz="2400" dirty="0"/>
              <a:t>个分支，分别提交）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注意事项</a:t>
            </a:r>
            <a:r>
              <a:rPr lang="zh-CN" altLang="en-US" sz="2400" b="1" dirty="0">
                <a:sym typeface="Wingdings" panose="05000000000000000000" pitchFamily="2" charset="2"/>
              </a:rPr>
              <a:t>：</a:t>
            </a:r>
            <a:r>
              <a:rPr lang="zh-CN" altLang="en-US" sz="2400" dirty="0">
                <a:sym typeface="Wingdings" panose="05000000000000000000" pitchFamily="2" charset="2"/>
              </a:rPr>
              <a:t>不要把上面三个文件打包，要分开提交；</a:t>
            </a:r>
            <a:r>
              <a:rPr lang="en-US" altLang="zh-CN" sz="2400" dirty="0">
                <a:sym typeface="Wingdings" panose="05000000000000000000" pitchFamily="2" charset="2"/>
              </a:rPr>
              <a:t>xv6</a:t>
            </a:r>
            <a:r>
              <a:rPr lang="zh-CN" altLang="en-US" sz="2400" dirty="0">
                <a:sym typeface="Wingdings" panose="05000000000000000000" pitchFamily="2" charset="2"/>
              </a:rPr>
              <a:t>分支代码使用常见的压缩格式（不一定非要是</a:t>
            </a:r>
            <a:r>
              <a:rPr lang="en-US" altLang="zh-CN" sz="2400" dirty="0">
                <a:sym typeface="Wingdings" panose="05000000000000000000" pitchFamily="2" charset="2"/>
              </a:rPr>
              <a:t>zip)</a:t>
            </a:r>
            <a:r>
              <a:rPr lang="zh-CN" altLang="en-US" sz="2400" dirty="0">
                <a:sym typeface="Wingdings" panose="05000000000000000000" pitchFamily="2" charset="2"/>
              </a:rPr>
              <a:t>；文件命名方式请严格遵守要求，实验报告只接受</a:t>
            </a:r>
            <a:r>
              <a:rPr lang="en-US" altLang="zh-CN" sz="2400" dirty="0">
                <a:sym typeface="Wingdings" panose="05000000000000000000" pitchFamily="2" charset="2"/>
              </a:rPr>
              <a:t>PDF</a:t>
            </a:r>
            <a:r>
              <a:rPr lang="zh-CN" altLang="en-US" sz="2400" dirty="0">
                <a:sym typeface="Wingdings" panose="05000000000000000000" pitchFamily="2" charset="2"/>
              </a:rPr>
              <a:t>版本。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1016" y="179754"/>
            <a:ext cx="4220307" cy="773723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4000" b="1" dirty="0"/>
              <a:t>四、实验报告要求</a:t>
            </a:r>
            <a:endParaRPr lang="zh-CN" altLang="en-US" sz="4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20616" y="1148863"/>
            <a:ext cx="3915508" cy="5576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实验报告章节分布：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一、实验目标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二、实验原理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三、实现思路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四、关键代码解读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五、实验结果截图与分析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六、总结与思考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提示：</a:t>
            </a:r>
            <a:r>
              <a:rPr lang="zh-CN" altLang="en-US" sz="2400" dirty="0"/>
              <a:t>由于每次实验都包括两个分支，所以建议每一章都分为两部分分别讨论。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5330093" y="652585"/>
            <a:ext cx="6400799" cy="6130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特别提醒：</a:t>
            </a:r>
            <a:endParaRPr lang="en-US" altLang="zh-CN" sz="2400" b="1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实验报告不少于</a:t>
            </a:r>
            <a:r>
              <a:rPr lang="en-US" altLang="zh-CN" sz="2400" dirty="0"/>
              <a:t>10</a:t>
            </a:r>
            <a:r>
              <a:rPr lang="zh-CN" altLang="en-US" sz="2400" dirty="0"/>
              <a:t>页，不多于</a:t>
            </a:r>
            <a:r>
              <a:rPr lang="en-US" altLang="zh-CN" sz="2400" dirty="0"/>
              <a:t>20</a:t>
            </a:r>
            <a:r>
              <a:rPr lang="zh-CN" altLang="en-US" sz="2400" dirty="0"/>
              <a:t>页；特别复杂的实验不多于</a:t>
            </a:r>
            <a:r>
              <a:rPr lang="en-US" altLang="zh-CN" sz="2400" dirty="0"/>
              <a:t>25</a:t>
            </a:r>
            <a:r>
              <a:rPr lang="zh-CN" altLang="en-US" sz="2400" dirty="0"/>
              <a:t>页。</a:t>
            </a:r>
            <a:r>
              <a:rPr lang="en-US" altLang="zh-CN" sz="2400" dirty="0"/>
              <a:t>(</a:t>
            </a:r>
            <a:r>
              <a:rPr lang="zh-CN" altLang="en-US" sz="2400" dirty="0"/>
              <a:t>小四、</a:t>
            </a:r>
            <a:r>
              <a:rPr lang="en-US" altLang="zh-CN" sz="2400" dirty="0"/>
              <a:t>1.5</a:t>
            </a:r>
            <a:r>
              <a:rPr lang="zh-CN" altLang="en-US" sz="2400" dirty="0"/>
              <a:t>倍行距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实验报告要体现思考过程 </a:t>
            </a:r>
            <a:r>
              <a:rPr lang="en-US" altLang="zh-CN" sz="2400" dirty="0"/>
              <a:t>(</a:t>
            </a:r>
            <a:r>
              <a:rPr lang="zh-CN" altLang="en-US" sz="2400" dirty="0"/>
              <a:t>可以包括失败的尝试</a:t>
            </a:r>
            <a:r>
              <a:rPr lang="en-US" altLang="zh-CN" sz="2400" dirty="0"/>
              <a:t>)</a:t>
            </a:r>
            <a:r>
              <a:rPr lang="zh-CN" altLang="en-US" sz="2400" dirty="0"/>
              <a:t>，不建议通篇都是代码截图，保留必要部分即可。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实验报告要做到格式统一美观，行文逻辑清晰，易于阅读理解。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/>
              <a:t>提交的实验报告和实现代码</a:t>
            </a:r>
            <a:r>
              <a:rPr lang="zh-CN" altLang="en-US" sz="2400" b="1" dirty="0"/>
              <a:t>不得抄袭网上资料或同学作业，不得由</a:t>
            </a:r>
            <a:r>
              <a:rPr lang="en-US" altLang="zh-CN" sz="2400" b="1" dirty="0"/>
              <a:t>AI</a:t>
            </a:r>
            <a:r>
              <a:rPr lang="zh-CN" altLang="en-US" sz="2400" b="1" dirty="0"/>
              <a:t>代写</a:t>
            </a:r>
            <a:r>
              <a:rPr lang="zh-CN" altLang="en-US" sz="2400" dirty="0"/>
              <a:t>。若被发现，本次实验成绩判为</a:t>
            </a:r>
            <a:r>
              <a:rPr lang="zh-CN" altLang="en-US" sz="2400" b="1" dirty="0"/>
              <a:t>不及格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</Words>
  <Application>WPS 演示</Application>
  <PresentationFormat>宽屏</PresentationFormat>
  <Paragraphs>85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等线 Light</vt:lpstr>
      <vt:lpstr>微软雅黑</vt:lpstr>
      <vt:lpstr>Arial Unicode MS</vt:lpstr>
      <vt:lpstr>等线</vt:lpstr>
      <vt:lpstr>Office 主题​​</vt:lpstr>
      <vt:lpstr>操作系统课程实验 注意事项说明</vt:lpstr>
      <vt:lpstr>一、实验分支介绍</vt:lpstr>
      <vt:lpstr>二、实验计划（暂定）</vt:lpstr>
      <vt:lpstr>三、实验作业提交</vt:lpstr>
      <vt:lpstr>四、实验报告要求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夏浩东 行休</dc:creator>
  <cp:lastModifiedBy>时时.</cp:lastModifiedBy>
  <cp:revision>23</cp:revision>
  <dcterms:created xsi:type="dcterms:W3CDTF">2025-02-24T04:15:00Z</dcterms:created>
  <dcterms:modified xsi:type="dcterms:W3CDTF">2025-09-21T08:55:00Z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1B07202B16F140468D88EF41932C742C_13</vt:lpwstr>
  </property>
  <property fmtid="{D5CDD505-2E9C-101B-9397-08002B2CF9AE}" pid="3" name="KSOProductBuildVer">
    <vt:lpwstr>2052-12.1.0.22529</vt:lpwstr>
  </property>
</Properties>
</file>